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4630400" cy="8229600"/>
  <p:notesSz cx="8229600" cy="14630400"/>
  <p:embeddedFontLst>
    <p:embeddedFont>
      <p:font typeface="Inter" panose="02000503000000020004" pitchFamily="2"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10"/>
  </p:normalViewPr>
  <p:slideViewPr>
    <p:cSldViewPr snapToGrid="0" snapToObjects="1">
      <p:cViewPr varScale="1">
        <p:scale>
          <a:sx n="102" d="100"/>
          <a:sy n="102" d="100"/>
        </p:scale>
        <p:origin x="192"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4424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897523" y="841534"/>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000000"/>
                </a:solidFill>
                <a:latin typeface="Inter Bold" pitchFamily="34" charset="0"/>
                <a:ea typeface="Inter Bold" pitchFamily="34" charset="-122"/>
                <a:cs typeface="Inter Bold" pitchFamily="34" charset="-120"/>
              </a:rPr>
              <a:t>BRIDGE</a:t>
            </a:r>
            <a:endParaRPr lang="en-US" sz="2200" dirty="0"/>
          </a:p>
        </p:txBody>
      </p:sp>
      <p:sp>
        <p:nvSpPr>
          <p:cNvPr id="3" name="Text 1"/>
          <p:cNvSpPr/>
          <p:nvPr/>
        </p:nvSpPr>
        <p:spPr>
          <a:xfrm>
            <a:off x="793790" y="1536025"/>
            <a:ext cx="13042821" cy="3912870"/>
          </a:xfrm>
          <a:prstGeom prst="rect">
            <a:avLst/>
          </a:prstGeom>
          <a:noFill/>
          <a:ln/>
        </p:spPr>
        <p:txBody>
          <a:bodyPr wrap="square" lIns="0" tIns="0" rIns="0" bIns="0" rtlCol="0" anchor="t"/>
          <a:lstStyle/>
          <a:p>
            <a:pPr marL="0" indent="0" algn="ctr">
              <a:lnSpc>
                <a:spcPts val="7700"/>
              </a:lnSpc>
              <a:buNone/>
            </a:pPr>
            <a:r>
              <a:rPr lang="en-US" sz="6150" b="1" dirty="0">
                <a:solidFill>
                  <a:srgbClr val="000000"/>
                </a:solidFill>
                <a:latin typeface="Inter Bold" pitchFamily="34" charset="0"/>
                <a:ea typeface="Inter Bold" pitchFamily="34" charset="-122"/>
                <a:cs typeface="Inter Bold" pitchFamily="34" charset="-120"/>
              </a:rPr>
              <a:t>Bridging Roles and Responsibilities through Interdisciplinary Dialogue and Agent Engagement</a:t>
            </a:r>
            <a:endParaRPr lang="en-US" sz="6150" dirty="0"/>
          </a:p>
        </p:txBody>
      </p:sp>
      <p:sp>
        <p:nvSpPr>
          <p:cNvPr id="4" name="Text 2"/>
          <p:cNvSpPr/>
          <p:nvPr/>
        </p:nvSpPr>
        <p:spPr>
          <a:xfrm>
            <a:off x="793790" y="5789057"/>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272525"/>
                </a:solidFill>
                <a:latin typeface="Inter" pitchFamily="34" charset="0"/>
                <a:ea typeface="Inter" pitchFamily="34" charset="-122"/>
                <a:cs typeface="Inter" pitchFamily="34" charset="-120"/>
              </a:rPr>
              <a:t>A Multi-Agent Retrieval-Augmented System for Interprofessional Healthcare Education</a:t>
            </a:r>
            <a:endParaRPr lang="en-US" sz="1750" dirty="0"/>
          </a:p>
        </p:txBody>
      </p:sp>
      <p:sp>
        <p:nvSpPr>
          <p:cNvPr id="5" name="Text 3"/>
          <p:cNvSpPr/>
          <p:nvPr/>
        </p:nvSpPr>
        <p:spPr>
          <a:xfrm>
            <a:off x="793790" y="6407110"/>
            <a:ext cx="13042821" cy="362903"/>
          </a:xfrm>
          <a:prstGeom prst="rect">
            <a:avLst/>
          </a:prstGeom>
          <a:noFill/>
          <a:ln/>
        </p:spPr>
        <p:txBody>
          <a:bodyPr wrap="none" lIns="0" tIns="0" rIns="0" bIns="0" rtlCol="0" anchor="t"/>
          <a:lstStyle/>
          <a:p>
            <a:pPr marL="0" indent="0" algn="ctr">
              <a:lnSpc>
                <a:spcPts val="2850"/>
              </a:lnSpc>
              <a:buNone/>
            </a:pPr>
            <a:r>
              <a:rPr lang="en-US" sz="1750" b="1" dirty="0">
                <a:solidFill>
                  <a:srgbClr val="272525"/>
                </a:solidFill>
                <a:latin typeface="Inter" pitchFamily="34" charset="0"/>
                <a:ea typeface="Inter" pitchFamily="34" charset="-122"/>
                <a:cs typeface="Inter" pitchFamily="34" charset="-120"/>
              </a:rPr>
              <a:t>Anusha Umashankar</a:t>
            </a:r>
            <a:r>
              <a:rPr lang="en-US" sz="1750" dirty="0">
                <a:solidFill>
                  <a:srgbClr val="272525"/>
                </a:solidFill>
                <a:latin typeface="Inter" pitchFamily="34" charset="0"/>
                <a:ea typeface="Inter" pitchFamily="34" charset="-122"/>
                <a:cs typeface="Inter" pitchFamily="34" charset="-120"/>
              </a:rPr>
              <a:t> · </a:t>
            </a:r>
            <a:r>
              <a:rPr lang="en-US" sz="1750" b="1" dirty="0">
                <a:solidFill>
                  <a:srgbClr val="272525"/>
                </a:solidFill>
                <a:latin typeface="Inter" pitchFamily="34" charset="0"/>
                <a:ea typeface="Inter" pitchFamily="34" charset="-122"/>
                <a:cs typeface="Inter" pitchFamily="34" charset="-120"/>
              </a:rPr>
              <a:t>Hari Prasannaa Thangavel Ravi</a:t>
            </a:r>
            <a:endParaRPr lang="en-US" sz="1750" dirty="0"/>
          </a:p>
        </p:txBody>
      </p:sp>
      <p:sp>
        <p:nvSpPr>
          <p:cNvPr id="6" name="Text 4"/>
          <p:cNvSpPr/>
          <p:nvPr/>
        </p:nvSpPr>
        <p:spPr>
          <a:xfrm>
            <a:off x="793790" y="7025164"/>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272525"/>
                </a:solidFill>
                <a:latin typeface="Inter" pitchFamily="34" charset="0"/>
                <a:ea typeface="Inter" pitchFamily="34" charset="-122"/>
                <a:cs typeface="Inter" pitchFamily="34" charset="-120"/>
              </a:rPr>
              <a:t>Data Science Program, George Washington University</a:t>
            </a:r>
            <a:endParaRPr lang="en-US" sz="1750" dirty="0"/>
          </a:p>
        </p:txBody>
      </p:sp>
      <p:sp>
        <p:nvSpPr>
          <p:cNvPr id="7" name="Rectangle 6">
            <a:extLst>
              <a:ext uri="{FF2B5EF4-FFF2-40B4-BE49-F238E27FC236}">
                <a16:creationId xmlns:a16="http://schemas.microsoft.com/office/drawing/2014/main" id="{E6162235-EFD5-13AB-388D-2DD59C2C995C}"/>
              </a:ext>
            </a:extLst>
          </p:cNvPr>
          <p:cNvSpPr/>
          <p:nvPr/>
        </p:nvSpPr>
        <p:spPr>
          <a:xfrm>
            <a:off x="12826652" y="7703507"/>
            <a:ext cx="1716066" cy="52609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323737" y="545663"/>
            <a:ext cx="4341614" cy="542687"/>
          </a:xfrm>
          <a:prstGeom prst="rect">
            <a:avLst/>
          </a:prstGeom>
          <a:noFill/>
          <a:ln/>
        </p:spPr>
        <p:txBody>
          <a:bodyPr wrap="none" lIns="0" tIns="0" rIns="0" bIns="0" rtlCol="0" anchor="t"/>
          <a:lstStyle/>
          <a:p>
            <a:pPr marL="0" indent="0" algn="l">
              <a:lnSpc>
                <a:spcPts val="4250"/>
              </a:lnSpc>
              <a:buNone/>
            </a:pPr>
            <a:r>
              <a:rPr lang="en-US" sz="3400" b="1" dirty="0">
                <a:solidFill>
                  <a:srgbClr val="000000"/>
                </a:solidFill>
                <a:latin typeface="Inter Bold" pitchFamily="34" charset="0"/>
                <a:ea typeface="Inter Bold" pitchFamily="34" charset="-122"/>
                <a:cs typeface="Inter Bold" pitchFamily="34" charset="-120"/>
              </a:rPr>
              <a:t>Problem Statement</a:t>
            </a:r>
            <a:endParaRPr lang="en-US" sz="3400" dirty="0"/>
          </a:p>
        </p:txBody>
      </p:sp>
      <p:sp>
        <p:nvSpPr>
          <p:cNvPr id="3" name="Text 1"/>
          <p:cNvSpPr/>
          <p:nvPr/>
        </p:nvSpPr>
        <p:spPr>
          <a:xfrm>
            <a:off x="1323737" y="1354217"/>
            <a:ext cx="11982807" cy="245269"/>
          </a:xfrm>
          <a:prstGeom prst="rect">
            <a:avLst/>
          </a:prstGeom>
          <a:noFill/>
          <a:ln/>
        </p:spPr>
        <p:txBody>
          <a:bodyPr wrap="none" lIns="0" tIns="0" rIns="0" bIns="0" rtlCol="0" anchor="t"/>
          <a:lstStyle/>
          <a:p>
            <a:pPr marL="0" indent="0" algn="l">
              <a:lnSpc>
                <a:spcPts val="1900"/>
              </a:lnSpc>
              <a:buNone/>
            </a:pPr>
            <a:r>
              <a:rPr lang="en-US" sz="1350" b="1" dirty="0">
                <a:solidFill>
                  <a:srgbClr val="272525"/>
                </a:solidFill>
                <a:latin typeface="Inter" pitchFamily="34" charset="0"/>
                <a:ea typeface="Inter" pitchFamily="34" charset="-122"/>
                <a:cs typeface="Inter" pitchFamily="34" charset="-120"/>
              </a:rPr>
              <a:t>Healthcare is a team sport. Training for it usually is not.</a:t>
            </a:r>
            <a:endParaRPr lang="en-US" sz="1350" dirty="0"/>
          </a:p>
        </p:txBody>
      </p:sp>
      <p:sp>
        <p:nvSpPr>
          <p:cNvPr id="4" name="Shape 2"/>
          <p:cNvSpPr/>
          <p:nvPr/>
        </p:nvSpPr>
        <p:spPr>
          <a:xfrm>
            <a:off x="1323737" y="1792367"/>
            <a:ext cx="11982807" cy="12978"/>
          </a:xfrm>
          <a:prstGeom prst="rect">
            <a:avLst/>
          </a:prstGeom>
          <a:solidFill>
            <a:srgbClr val="272525">
              <a:alpha val="50000"/>
            </a:srgbClr>
          </a:solidFill>
          <a:ln/>
        </p:spPr>
        <p:txBody>
          <a:bodyPr/>
          <a:lstStyle/>
          <a:p>
            <a:endParaRPr lang="en-US"/>
          </a:p>
        </p:txBody>
      </p:sp>
      <p:sp>
        <p:nvSpPr>
          <p:cNvPr id="5" name="Text 3"/>
          <p:cNvSpPr/>
          <p:nvPr/>
        </p:nvSpPr>
        <p:spPr>
          <a:xfrm>
            <a:off x="1323737" y="2048113"/>
            <a:ext cx="4048839"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Interprofessional Education Challenge</a:t>
            </a:r>
            <a:endParaRPr lang="en-US" sz="1700" dirty="0"/>
          </a:p>
        </p:txBody>
      </p:sp>
      <p:sp>
        <p:nvSpPr>
          <p:cNvPr id="6" name="Text 4"/>
          <p:cNvSpPr/>
          <p:nvPr/>
        </p:nvSpPr>
        <p:spPr>
          <a:xfrm>
            <a:off x="1323737" y="2518767"/>
            <a:ext cx="11982807" cy="490538"/>
          </a:xfrm>
          <a:prstGeom prst="rect">
            <a:avLst/>
          </a:prstGeom>
          <a:noFill/>
          <a:ln/>
        </p:spPr>
        <p:txBody>
          <a:bodyPr wrap="square" lIns="0" tIns="0" rIns="0" bIns="0" rtlCol="0" anchor="t"/>
          <a:lstStyle/>
          <a:p>
            <a:pPr marL="0" indent="0" algn="l">
              <a:lnSpc>
                <a:spcPts val="1900"/>
              </a:lnSpc>
              <a:buNone/>
            </a:pPr>
            <a:r>
              <a:rPr lang="en-US" sz="1350" dirty="0">
                <a:solidFill>
                  <a:srgbClr val="272525"/>
                </a:solidFill>
                <a:latin typeface="Inter" pitchFamily="34" charset="0"/>
                <a:ea typeface="Inter" pitchFamily="34" charset="-122"/>
                <a:cs typeface="Inter" pitchFamily="34" charset="-120"/>
              </a:rPr>
              <a:t>Interprofessional Education (IPE) requires students from nursing, medicine, social work, public health, and allied fields to learn together, but coordinating schedules, standardized patients, and facilitators across schools is expensive and rarely happens at scale.</a:t>
            </a:r>
            <a:endParaRPr lang="en-US" sz="1350" dirty="0"/>
          </a:p>
        </p:txBody>
      </p:sp>
      <p:sp>
        <p:nvSpPr>
          <p:cNvPr id="7" name="Shape 5"/>
          <p:cNvSpPr/>
          <p:nvPr/>
        </p:nvSpPr>
        <p:spPr>
          <a:xfrm>
            <a:off x="1323737" y="3202186"/>
            <a:ext cx="11982807" cy="12978"/>
          </a:xfrm>
          <a:prstGeom prst="rect">
            <a:avLst/>
          </a:prstGeom>
          <a:solidFill>
            <a:srgbClr val="272525">
              <a:alpha val="50000"/>
            </a:srgbClr>
          </a:solidFill>
          <a:ln/>
        </p:spPr>
        <p:txBody>
          <a:bodyPr/>
          <a:lstStyle/>
          <a:p>
            <a:endParaRPr lang="en-US"/>
          </a:p>
        </p:txBody>
      </p:sp>
      <p:sp>
        <p:nvSpPr>
          <p:cNvPr id="8" name="Text 6"/>
          <p:cNvSpPr/>
          <p:nvPr/>
        </p:nvSpPr>
        <p:spPr>
          <a:xfrm>
            <a:off x="1323737" y="3457932"/>
            <a:ext cx="2432328"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LLM-Based Alternative</a:t>
            </a:r>
            <a:endParaRPr lang="en-US" sz="1700" dirty="0"/>
          </a:p>
        </p:txBody>
      </p:sp>
      <p:sp>
        <p:nvSpPr>
          <p:cNvPr id="9" name="Text 7"/>
          <p:cNvSpPr/>
          <p:nvPr/>
        </p:nvSpPr>
        <p:spPr>
          <a:xfrm>
            <a:off x="1323737" y="3928586"/>
            <a:ext cx="11982807" cy="245269"/>
          </a:xfrm>
          <a:prstGeom prst="rect">
            <a:avLst/>
          </a:prstGeom>
          <a:noFill/>
          <a:ln/>
        </p:spPr>
        <p:txBody>
          <a:bodyPr wrap="none" lIns="0" tIns="0" rIns="0" bIns="0" rtlCol="0" anchor="t"/>
          <a:lstStyle/>
          <a:p>
            <a:pPr marL="0" indent="0" algn="l">
              <a:lnSpc>
                <a:spcPts val="1900"/>
              </a:lnSpc>
              <a:buNone/>
            </a:pPr>
            <a:r>
              <a:rPr lang="en-US" sz="1350" dirty="0">
                <a:solidFill>
                  <a:srgbClr val="272525"/>
                </a:solidFill>
                <a:latin typeface="Inter" pitchFamily="34" charset="0"/>
                <a:ea typeface="Inter" pitchFamily="34" charset="-122"/>
                <a:cs typeface="Inter" pitchFamily="34" charset="-120"/>
              </a:rPr>
              <a:t>LLM-based tutors are an obvious alternative: always available, infinitely patient, tunable by system prompt.</a:t>
            </a:r>
            <a:endParaRPr lang="en-US" sz="1350" dirty="0"/>
          </a:p>
        </p:txBody>
      </p:sp>
      <p:sp>
        <p:nvSpPr>
          <p:cNvPr id="10" name="Shape 8"/>
          <p:cNvSpPr/>
          <p:nvPr/>
        </p:nvSpPr>
        <p:spPr>
          <a:xfrm>
            <a:off x="1323737" y="4366736"/>
            <a:ext cx="11982807" cy="12978"/>
          </a:xfrm>
          <a:prstGeom prst="rect">
            <a:avLst/>
          </a:prstGeom>
          <a:solidFill>
            <a:srgbClr val="272525">
              <a:alpha val="50000"/>
            </a:srgbClr>
          </a:solidFill>
          <a:ln/>
        </p:spPr>
        <p:txBody>
          <a:bodyPr/>
          <a:lstStyle/>
          <a:p>
            <a:endParaRPr lang="en-US"/>
          </a:p>
        </p:txBody>
      </p:sp>
      <p:sp>
        <p:nvSpPr>
          <p:cNvPr id="11" name="Text 9"/>
          <p:cNvSpPr/>
          <p:nvPr/>
        </p:nvSpPr>
        <p:spPr>
          <a:xfrm>
            <a:off x="1323737" y="4622483"/>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Two Critical Risks</a:t>
            </a:r>
            <a:endParaRPr lang="en-US" sz="1700" dirty="0"/>
          </a:p>
        </p:txBody>
      </p:sp>
      <p:sp>
        <p:nvSpPr>
          <p:cNvPr id="12" name="Text 10"/>
          <p:cNvSpPr/>
          <p:nvPr/>
        </p:nvSpPr>
        <p:spPr>
          <a:xfrm>
            <a:off x="1323737" y="5093137"/>
            <a:ext cx="11982807" cy="536972"/>
          </a:xfrm>
          <a:prstGeom prst="rect">
            <a:avLst/>
          </a:prstGeom>
          <a:noFill/>
          <a:ln/>
        </p:spPr>
        <p:txBody>
          <a:bodyPr wrap="square" lIns="0" tIns="0" rIns="0" bIns="0" rtlCol="0" anchor="t"/>
          <a:lstStyle/>
          <a:p>
            <a:pPr marL="342900" indent="-342900" algn="l">
              <a:lnSpc>
                <a:spcPts val="1900"/>
              </a:lnSpc>
              <a:buSzPct val="100000"/>
              <a:buChar char="•"/>
            </a:pPr>
            <a:r>
              <a:rPr lang="en-US" sz="1350" dirty="0">
                <a:solidFill>
                  <a:srgbClr val="272525"/>
                </a:solidFill>
                <a:latin typeface="Inter" pitchFamily="34" charset="0"/>
                <a:ea typeface="Inter" pitchFamily="34" charset="-122"/>
                <a:cs typeface="Inter" pitchFamily="34" charset="-120"/>
              </a:rPr>
              <a:t>Knowledge drift — clinical guidelines change faster than model training cycles.</a:t>
            </a:r>
            <a:endParaRPr lang="en-US" sz="1350" dirty="0"/>
          </a:p>
          <a:p>
            <a:pPr marL="342900" indent="-342900" algn="l">
              <a:lnSpc>
                <a:spcPts val="1900"/>
              </a:lnSpc>
              <a:buSzPct val="100000"/>
              <a:buChar char="•"/>
            </a:pPr>
            <a:r>
              <a:rPr lang="en-US" sz="1350" dirty="0">
                <a:solidFill>
                  <a:srgbClr val="272525"/>
                </a:solidFill>
                <a:latin typeface="Inter" pitchFamily="34" charset="0"/>
                <a:ea typeface="Inter" pitchFamily="34" charset="-122"/>
                <a:cs typeface="Inter" pitchFamily="34" charset="-120"/>
              </a:rPr>
              <a:t>Confident hallucination — LLMs state wrong doses with fluent certainty.</a:t>
            </a:r>
            <a:endParaRPr lang="en-US" sz="1350" dirty="0"/>
          </a:p>
        </p:txBody>
      </p:sp>
      <p:sp>
        <p:nvSpPr>
          <p:cNvPr id="13" name="Shape 11"/>
          <p:cNvSpPr/>
          <p:nvPr/>
        </p:nvSpPr>
        <p:spPr>
          <a:xfrm>
            <a:off x="1323737" y="5822990"/>
            <a:ext cx="11982807" cy="12978"/>
          </a:xfrm>
          <a:prstGeom prst="rect">
            <a:avLst/>
          </a:prstGeom>
          <a:solidFill>
            <a:srgbClr val="272525">
              <a:alpha val="50000"/>
            </a:srgbClr>
          </a:solidFill>
          <a:ln/>
        </p:spPr>
        <p:txBody>
          <a:bodyPr/>
          <a:lstStyle/>
          <a:p>
            <a:endParaRPr lang="en-US"/>
          </a:p>
        </p:txBody>
      </p:sp>
      <p:sp>
        <p:nvSpPr>
          <p:cNvPr id="14" name="Text 12"/>
          <p:cNvSpPr/>
          <p:nvPr/>
        </p:nvSpPr>
        <p:spPr>
          <a:xfrm>
            <a:off x="1323737" y="6028849"/>
            <a:ext cx="11982807" cy="245269"/>
          </a:xfrm>
          <a:prstGeom prst="rect">
            <a:avLst/>
          </a:prstGeom>
          <a:noFill/>
          <a:ln/>
        </p:spPr>
        <p:txBody>
          <a:bodyPr wrap="none" lIns="0" tIns="0" rIns="0" bIns="0" rtlCol="0" anchor="t"/>
          <a:lstStyle/>
          <a:p>
            <a:pPr marL="0" indent="0" algn="l">
              <a:lnSpc>
                <a:spcPts val="1900"/>
              </a:lnSpc>
              <a:buNone/>
            </a:pPr>
            <a:r>
              <a:rPr lang="en-US" sz="1350" b="1" dirty="0">
                <a:solidFill>
                  <a:srgbClr val="272525"/>
                </a:solidFill>
                <a:latin typeface="Inter" pitchFamily="34" charset="0"/>
                <a:ea typeface="Inter" pitchFamily="34" charset="-122"/>
                <a:cs typeface="Inter" pitchFamily="34" charset="-120"/>
              </a:rPr>
              <a:t>Imagine a student asks "What's the naloxone dose for Julia?" and the AI confidently answers wrong.</a:t>
            </a:r>
            <a:endParaRPr lang="en-US" sz="1350" dirty="0"/>
          </a:p>
        </p:txBody>
      </p:sp>
      <p:sp>
        <p:nvSpPr>
          <p:cNvPr id="15" name="Shape 13"/>
          <p:cNvSpPr/>
          <p:nvPr/>
        </p:nvSpPr>
        <p:spPr>
          <a:xfrm>
            <a:off x="1323737" y="6466999"/>
            <a:ext cx="11982807" cy="12978"/>
          </a:xfrm>
          <a:prstGeom prst="rect">
            <a:avLst/>
          </a:prstGeom>
          <a:solidFill>
            <a:srgbClr val="272525">
              <a:alpha val="50000"/>
            </a:srgbClr>
          </a:solidFill>
          <a:ln/>
        </p:spPr>
        <p:txBody>
          <a:bodyPr/>
          <a:lstStyle/>
          <a:p>
            <a:endParaRPr lang="en-US"/>
          </a:p>
        </p:txBody>
      </p:sp>
      <p:sp>
        <p:nvSpPr>
          <p:cNvPr id="16" name="Text 14"/>
          <p:cNvSpPr/>
          <p:nvPr/>
        </p:nvSpPr>
        <p:spPr>
          <a:xfrm>
            <a:off x="1323737" y="6722745"/>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Research Gap</a:t>
            </a:r>
            <a:endParaRPr lang="en-US" sz="1700" dirty="0"/>
          </a:p>
        </p:txBody>
      </p:sp>
      <p:sp>
        <p:nvSpPr>
          <p:cNvPr id="17" name="Text 15"/>
          <p:cNvSpPr/>
          <p:nvPr/>
        </p:nvSpPr>
        <p:spPr>
          <a:xfrm>
            <a:off x="1323737" y="7193399"/>
            <a:ext cx="11982807" cy="490538"/>
          </a:xfrm>
          <a:prstGeom prst="rect">
            <a:avLst/>
          </a:prstGeom>
          <a:noFill/>
          <a:ln/>
        </p:spPr>
        <p:txBody>
          <a:bodyPr wrap="square" lIns="0" tIns="0" rIns="0" bIns="0" rtlCol="0" anchor="t"/>
          <a:lstStyle/>
          <a:p>
            <a:pPr marL="0" indent="0" algn="l">
              <a:lnSpc>
                <a:spcPts val="1900"/>
              </a:lnSpc>
              <a:buNone/>
            </a:pPr>
            <a:r>
              <a:rPr lang="en-US" sz="1350" dirty="0">
                <a:solidFill>
                  <a:srgbClr val="272525"/>
                </a:solidFill>
                <a:latin typeface="Inter" pitchFamily="34" charset="0"/>
                <a:ea typeface="Inter" pitchFamily="34" charset="-122"/>
                <a:cs typeface="Inter" pitchFamily="34" charset="-120"/>
              </a:rPr>
              <a:t>No published system combines multi-agent role simulation with evidence-grounded retrieval for IPE and no one has measured the retrieval-layer design choices that matter for this setting.</a:t>
            </a:r>
            <a:endParaRPr lang="en-US" sz="1350" dirty="0"/>
          </a:p>
        </p:txBody>
      </p:sp>
      <p:sp>
        <p:nvSpPr>
          <p:cNvPr id="18" name="Rectangle 17">
            <a:extLst>
              <a:ext uri="{FF2B5EF4-FFF2-40B4-BE49-F238E27FC236}">
                <a16:creationId xmlns:a16="http://schemas.microsoft.com/office/drawing/2014/main" id="{9FADFBE8-6442-5D86-D7E3-00707985A524}"/>
              </a:ext>
            </a:extLst>
          </p:cNvPr>
          <p:cNvSpPr/>
          <p:nvPr/>
        </p:nvSpPr>
        <p:spPr>
          <a:xfrm>
            <a:off x="12864230" y="7683937"/>
            <a:ext cx="1665962" cy="45798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10164366" y="90368"/>
            <a:ext cx="3445550" cy="8048863"/>
          </a:xfrm>
          <a:prstGeom prst="rect">
            <a:avLst/>
          </a:prstGeom>
        </p:spPr>
      </p:pic>
      <p:sp>
        <p:nvSpPr>
          <p:cNvPr id="4" name="Text 0"/>
          <p:cNvSpPr/>
          <p:nvPr/>
        </p:nvSpPr>
        <p:spPr>
          <a:xfrm>
            <a:off x="632579" y="576858"/>
            <a:ext cx="6190774" cy="564713"/>
          </a:xfrm>
          <a:prstGeom prst="rect">
            <a:avLst/>
          </a:prstGeom>
          <a:noFill/>
          <a:ln/>
        </p:spPr>
        <p:txBody>
          <a:bodyPr wrap="none" lIns="0" tIns="0" rIns="0" bIns="0" rtlCol="0" anchor="t"/>
          <a:lstStyle/>
          <a:p>
            <a:pPr marL="0" indent="0" algn="l">
              <a:lnSpc>
                <a:spcPts val="4400"/>
              </a:lnSpc>
              <a:buNone/>
            </a:pPr>
            <a:r>
              <a:rPr lang="en-US" sz="3550" b="1" dirty="0">
                <a:solidFill>
                  <a:srgbClr val="000000"/>
                </a:solidFill>
                <a:latin typeface="Inter Bold" pitchFamily="34" charset="0"/>
                <a:ea typeface="Inter Bold" pitchFamily="34" charset="-122"/>
                <a:cs typeface="Inter Bold" pitchFamily="34" charset="-120"/>
              </a:rPr>
              <a:t>The Current BRIDGE System</a:t>
            </a:r>
            <a:endParaRPr lang="en-US" sz="3550" dirty="0"/>
          </a:p>
        </p:txBody>
      </p:sp>
      <p:sp>
        <p:nvSpPr>
          <p:cNvPr id="5" name="Text 1"/>
          <p:cNvSpPr/>
          <p:nvPr/>
        </p:nvSpPr>
        <p:spPr>
          <a:xfrm>
            <a:off x="632579" y="1357551"/>
            <a:ext cx="7878842" cy="519589"/>
          </a:xfrm>
          <a:prstGeom prst="rect">
            <a:avLst/>
          </a:prstGeom>
          <a:noFill/>
          <a:ln/>
        </p:spPr>
        <p:txBody>
          <a:bodyPr wrap="squar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Six specialized agents respond in parallel to every student question, each bringing their profession's perspective.</a:t>
            </a:r>
            <a:endParaRPr lang="en-US" sz="1400" dirty="0"/>
          </a:p>
        </p:txBody>
      </p:sp>
      <p:sp>
        <p:nvSpPr>
          <p:cNvPr id="6" name="Text 2"/>
          <p:cNvSpPr/>
          <p:nvPr/>
        </p:nvSpPr>
        <p:spPr>
          <a:xfrm>
            <a:off x="632579" y="2093119"/>
            <a:ext cx="3272433" cy="338852"/>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Inter Bold" pitchFamily="34" charset="0"/>
                <a:ea typeface="Inter Bold" pitchFamily="34" charset="-122"/>
                <a:cs typeface="Inter Bold" pitchFamily="34" charset="-120"/>
              </a:rPr>
              <a:t>Six Role-Specific Agents</a:t>
            </a:r>
            <a:endParaRPr lang="en-US" sz="2100" dirty="0"/>
          </a:p>
        </p:txBody>
      </p:sp>
      <p:sp>
        <p:nvSpPr>
          <p:cNvPr id="7" name="Shape 3"/>
          <p:cNvSpPr/>
          <p:nvPr/>
        </p:nvSpPr>
        <p:spPr>
          <a:xfrm>
            <a:off x="632579" y="2647950"/>
            <a:ext cx="7878842" cy="3194685"/>
          </a:xfrm>
          <a:prstGeom prst="roundRect">
            <a:avLst>
              <a:gd name="adj" fmla="val 2376"/>
            </a:avLst>
          </a:prstGeom>
          <a:noFill/>
          <a:ln w="7620">
            <a:solidFill>
              <a:srgbClr val="000000">
                <a:alpha val="8000"/>
              </a:srgbClr>
            </a:solidFill>
            <a:prstDash val="solid"/>
          </a:ln>
        </p:spPr>
        <p:txBody>
          <a:bodyPr/>
          <a:lstStyle/>
          <a:p>
            <a:endParaRPr lang="en-US"/>
          </a:p>
        </p:txBody>
      </p:sp>
      <p:sp>
        <p:nvSpPr>
          <p:cNvPr id="8" name="Text 4"/>
          <p:cNvSpPr/>
          <p:nvPr/>
        </p:nvSpPr>
        <p:spPr>
          <a:xfrm>
            <a:off x="821055" y="2749510"/>
            <a:ext cx="2780109"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Agent Role</a:t>
            </a:r>
            <a:endParaRPr lang="en-US" sz="1400" dirty="0"/>
          </a:p>
        </p:txBody>
      </p:sp>
      <p:sp>
        <p:nvSpPr>
          <p:cNvPr id="9" name="Text 5"/>
          <p:cNvSpPr/>
          <p:nvPr/>
        </p:nvSpPr>
        <p:spPr>
          <a:xfrm>
            <a:off x="3970258" y="2749510"/>
            <a:ext cx="4352806"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Focus Area</a:t>
            </a:r>
            <a:endParaRPr lang="en-US" sz="1400" dirty="0"/>
          </a:p>
        </p:txBody>
      </p:sp>
      <p:sp>
        <p:nvSpPr>
          <p:cNvPr id="10" name="Text 6"/>
          <p:cNvSpPr/>
          <p:nvPr/>
        </p:nvSpPr>
        <p:spPr>
          <a:xfrm>
            <a:off x="821055" y="3204805"/>
            <a:ext cx="2780109"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Nurse</a:t>
            </a:r>
            <a:endParaRPr lang="en-US" sz="1400" dirty="0"/>
          </a:p>
        </p:txBody>
      </p:sp>
      <p:sp>
        <p:nvSpPr>
          <p:cNvPr id="11" name="Text 7"/>
          <p:cNvSpPr/>
          <p:nvPr/>
        </p:nvSpPr>
        <p:spPr>
          <a:xfrm>
            <a:off x="3970258" y="3204805"/>
            <a:ext cx="4352806"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Patient care, nursing observations</a:t>
            </a:r>
            <a:endParaRPr lang="en-US" sz="1400" dirty="0"/>
          </a:p>
        </p:txBody>
      </p:sp>
      <p:sp>
        <p:nvSpPr>
          <p:cNvPr id="12" name="Text 8"/>
          <p:cNvSpPr/>
          <p:nvPr/>
        </p:nvSpPr>
        <p:spPr>
          <a:xfrm>
            <a:off x="821055" y="3660100"/>
            <a:ext cx="2780109"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Physician Assistant</a:t>
            </a:r>
            <a:endParaRPr lang="en-US" sz="1400" dirty="0"/>
          </a:p>
        </p:txBody>
      </p:sp>
      <p:sp>
        <p:nvSpPr>
          <p:cNvPr id="13" name="Text 9"/>
          <p:cNvSpPr/>
          <p:nvPr/>
        </p:nvSpPr>
        <p:spPr>
          <a:xfrm>
            <a:off x="3970258" y="3660100"/>
            <a:ext cx="4352806"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Diagnostics, treatment planning</a:t>
            </a:r>
            <a:endParaRPr lang="en-US" sz="1400" dirty="0"/>
          </a:p>
        </p:txBody>
      </p:sp>
      <p:sp>
        <p:nvSpPr>
          <p:cNvPr id="14" name="Text 10"/>
          <p:cNvSpPr/>
          <p:nvPr/>
        </p:nvSpPr>
        <p:spPr>
          <a:xfrm>
            <a:off x="821055" y="4115395"/>
            <a:ext cx="2780109"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Medical Social Worker</a:t>
            </a:r>
            <a:endParaRPr lang="en-US" sz="1400" dirty="0"/>
          </a:p>
        </p:txBody>
      </p:sp>
      <p:sp>
        <p:nvSpPr>
          <p:cNvPr id="15" name="Text 11"/>
          <p:cNvSpPr/>
          <p:nvPr/>
        </p:nvSpPr>
        <p:spPr>
          <a:xfrm>
            <a:off x="3970258" y="4115395"/>
            <a:ext cx="4352806"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Social care, community resources</a:t>
            </a:r>
            <a:endParaRPr lang="en-US" sz="1400" dirty="0"/>
          </a:p>
        </p:txBody>
      </p:sp>
      <p:sp>
        <p:nvSpPr>
          <p:cNvPr id="16" name="Text 12"/>
          <p:cNvSpPr/>
          <p:nvPr/>
        </p:nvSpPr>
        <p:spPr>
          <a:xfrm>
            <a:off x="821055" y="4570690"/>
            <a:ext cx="2780109"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Physical Therapist</a:t>
            </a:r>
            <a:endParaRPr lang="en-US" sz="1400" dirty="0"/>
          </a:p>
        </p:txBody>
      </p:sp>
      <p:sp>
        <p:nvSpPr>
          <p:cNvPr id="17" name="Text 13"/>
          <p:cNvSpPr/>
          <p:nvPr/>
        </p:nvSpPr>
        <p:spPr>
          <a:xfrm>
            <a:off x="3970258" y="4570690"/>
            <a:ext cx="4352806"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Rehabilitation, recovery</a:t>
            </a:r>
            <a:endParaRPr lang="en-US" sz="1400" dirty="0"/>
          </a:p>
        </p:txBody>
      </p:sp>
      <p:sp>
        <p:nvSpPr>
          <p:cNvPr id="18" name="Text 14"/>
          <p:cNvSpPr/>
          <p:nvPr/>
        </p:nvSpPr>
        <p:spPr>
          <a:xfrm>
            <a:off x="821055" y="5025985"/>
            <a:ext cx="2780109"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Public Health Professional</a:t>
            </a:r>
            <a:endParaRPr lang="en-US" sz="1400" dirty="0"/>
          </a:p>
        </p:txBody>
      </p:sp>
      <p:sp>
        <p:nvSpPr>
          <p:cNvPr id="19" name="Text 15"/>
          <p:cNvSpPr/>
          <p:nvPr/>
        </p:nvSpPr>
        <p:spPr>
          <a:xfrm>
            <a:off x="3970258" y="5025985"/>
            <a:ext cx="4352806"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Prevention, population health</a:t>
            </a:r>
            <a:endParaRPr lang="en-US" sz="1400" dirty="0"/>
          </a:p>
        </p:txBody>
      </p:sp>
      <p:sp>
        <p:nvSpPr>
          <p:cNvPr id="20" name="Text 16"/>
          <p:cNvSpPr/>
          <p:nvPr/>
        </p:nvSpPr>
        <p:spPr>
          <a:xfrm>
            <a:off x="821055" y="5481280"/>
            <a:ext cx="2780109"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Health Administrator</a:t>
            </a:r>
            <a:endParaRPr lang="en-US" sz="1400" dirty="0"/>
          </a:p>
        </p:txBody>
      </p:sp>
      <p:sp>
        <p:nvSpPr>
          <p:cNvPr id="21" name="Text 17"/>
          <p:cNvSpPr/>
          <p:nvPr/>
        </p:nvSpPr>
        <p:spPr>
          <a:xfrm>
            <a:off x="3970258" y="5481280"/>
            <a:ext cx="4352806"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Policy, resource coordination</a:t>
            </a:r>
            <a:endParaRPr lang="en-US" sz="1400" dirty="0"/>
          </a:p>
        </p:txBody>
      </p:sp>
      <p:sp>
        <p:nvSpPr>
          <p:cNvPr id="22" name="Text 18"/>
          <p:cNvSpPr/>
          <p:nvPr/>
        </p:nvSpPr>
        <p:spPr>
          <a:xfrm>
            <a:off x="632579" y="6058614"/>
            <a:ext cx="2711291" cy="338852"/>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Inter Bold" pitchFamily="34" charset="0"/>
                <a:ea typeface="Inter Bold" pitchFamily="34" charset="-122"/>
                <a:cs typeface="Inter Bold" pitchFamily="34" charset="-120"/>
              </a:rPr>
              <a:t>Personalization</a:t>
            </a:r>
            <a:endParaRPr lang="en-US" sz="2100" dirty="0"/>
          </a:p>
        </p:txBody>
      </p:sp>
      <p:sp>
        <p:nvSpPr>
          <p:cNvPr id="23" name="Text 19"/>
          <p:cNvSpPr/>
          <p:nvPr/>
        </p:nvSpPr>
        <p:spPr>
          <a:xfrm>
            <a:off x="632579" y="6613446"/>
            <a:ext cx="7878842" cy="1039178"/>
          </a:xfrm>
          <a:prstGeom prst="rect">
            <a:avLst/>
          </a:prstGeom>
          <a:noFill/>
          <a:ln/>
        </p:spPr>
        <p:txBody>
          <a:bodyPr wrap="squar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A student intake form (role, years of experience, academic credentials, opioid-related clinical exposure) is injected into every agent's system prompt. A nursing student with one year of experience gets explanations framed differently than a practicing public-health professional asking the same question.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811417"/>
            <a:ext cx="9417487"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What's Broken in Baseline BRIDGE</a:t>
            </a:r>
            <a:endParaRPr lang="en-US" sz="4450" dirty="0"/>
          </a:p>
        </p:txBody>
      </p:sp>
      <p:sp>
        <p:nvSpPr>
          <p:cNvPr id="3" name="Text 1"/>
          <p:cNvSpPr/>
          <p:nvPr/>
        </p:nvSpPr>
        <p:spPr>
          <a:xfrm>
            <a:off x="793790" y="2610922"/>
            <a:ext cx="5721310"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Four limitations motivate this work</a:t>
            </a:r>
            <a:endParaRPr lang="en-US" sz="2650" dirty="0"/>
          </a:p>
        </p:txBody>
      </p:sp>
      <p:sp>
        <p:nvSpPr>
          <p:cNvPr id="4" name="Shape 2"/>
          <p:cNvSpPr/>
          <p:nvPr/>
        </p:nvSpPr>
        <p:spPr>
          <a:xfrm>
            <a:off x="793790" y="3376374"/>
            <a:ext cx="510302" cy="510302"/>
          </a:xfrm>
          <a:prstGeom prst="roundRect">
            <a:avLst>
              <a:gd name="adj" fmla="val 18669"/>
            </a:avLst>
          </a:prstGeom>
          <a:solidFill>
            <a:srgbClr val="DADBF1"/>
          </a:solidFill>
          <a:ln w="7620">
            <a:solidFill>
              <a:srgbClr val="C0C1D7"/>
            </a:solidFill>
            <a:prstDash val="solid"/>
          </a:ln>
        </p:spPr>
        <p:txBody>
          <a:bodyPr/>
          <a:lstStyle/>
          <a:p>
            <a:endParaRPr lang="en-US"/>
          </a:p>
        </p:txBody>
      </p:sp>
      <p:sp>
        <p:nvSpPr>
          <p:cNvPr id="5" name="Text 3"/>
          <p:cNvSpPr/>
          <p:nvPr/>
        </p:nvSpPr>
        <p:spPr>
          <a:xfrm>
            <a:off x="878860" y="3418880"/>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1</a:t>
            </a:r>
            <a:endParaRPr lang="en-US" sz="2650" dirty="0"/>
          </a:p>
        </p:txBody>
      </p:sp>
      <p:sp>
        <p:nvSpPr>
          <p:cNvPr id="6" name="Text 4"/>
          <p:cNvSpPr/>
          <p:nvPr/>
        </p:nvSpPr>
        <p:spPr>
          <a:xfrm>
            <a:off x="1530906" y="3454241"/>
            <a:ext cx="3128129"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No External Grounding</a:t>
            </a:r>
            <a:endParaRPr lang="en-US" sz="2200" dirty="0"/>
          </a:p>
        </p:txBody>
      </p:sp>
      <p:sp>
        <p:nvSpPr>
          <p:cNvPr id="7" name="Text 5"/>
          <p:cNvSpPr/>
          <p:nvPr/>
        </p:nvSpPr>
        <p:spPr>
          <a:xfrm>
            <a:off x="1530906" y="3944660"/>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Responses come from model memory, not current clinical guidelines.</a:t>
            </a:r>
            <a:endParaRPr lang="en-US" sz="1750" dirty="0"/>
          </a:p>
        </p:txBody>
      </p:sp>
      <p:sp>
        <p:nvSpPr>
          <p:cNvPr id="8" name="Shape 6"/>
          <p:cNvSpPr/>
          <p:nvPr/>
        </p:nvSpPr>
        <p:spPr>
          <a:xfrm>
            <a:off x="7456884" y="3376374"/>
            <a:ext cx="510302" cy="510302"/>
          </a:xfrm>
          <a:prstGeom prst="roundRect">
            <a:avLst>
              <a:gd name="adj" fmla="val 18669"/>
            </a:avLst>
          </a:prstGeom>
          <a:solidFill>
            <a:srgbClr val="DADBF1"/>
          </a:solidFill>
          <a:ln w="7620">
            <a:solidFill>
              <a:srgbClr val="C0C1D7"/>
            </a:solidFill>
            <a:prstDash val="solid"/>
          </a:ln>
        </p:spPr>
        <p:txBody>
          <a:bodyPr/>
          <a:lstStyle/>
          <a:p>
            <a:endParaRPr lang="en-US"/>
          </a:p>
        </p:txBody>
      </p:sp>
      <p:sp>
        <p:nvSpPr>
          <p:cNvPr id="9" name="Text 7"/>
          <p:cNvSpPr/>
          <p:nvPr/>
        </p:nvSpPr>
        <p:spPr>
          <a:xfrm>
            <a:off x="7541955" y="3418880"/>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2</a:t>
            </a:r>
            <a:endParaRPr lang="en-US" sz="2650" dirty="0"/>
          </a:p>
        </p:txBody>
      </p:sp>
      <p:sp>
        <p:nvSpPr>
          <p:cNvPr id="10" name="Text 8"/>
          <p:cNvSpPr/>
          <p:nvPr/>
        </p:nvSpPr>
        <p:spPr>
          <a:xfrm>
            <a:off x="8194000" y="3454241"/>
            <a:ext cx="3404592"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Single Hard-Coded Case</a:t>
            </a:r>
            <a:endParaRPr lang="en-US" sz="2200" dirty="0"/>
          </a:p>
        </p:txBody>
      </p:sp>
      <p:sp>
        <p:nvSpPr>
          <p:cNvPr id="11" name="Text 9"/>
          <p:cNvSpPr/>
          <p:nvPr/>
        </p:nvSpPr>
        <p:spPr>
          <a:xfrm>
            <a:off x="8194000" y="3944660"/>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Only one opioid scenario; adding new cases requires a developer.</a:t>
            </a:r>
            <a:endParaRPr lang="en-US" sz="1750" dirty="0"/>
          </a:p>
        </p:txBody>
      </p:sp>
      <p:sp>
        <p:nvSpPr>
          <p:cNvPr id="12" name="Shape 10"/>
          <p:cNvSpPr/>
          <p:nvPr/>
        </p:nvSpPr>
        <p:spPr>
          <a:xfrm>
            <a:off x="793790" y="5124093"/>
            <a:ext cx="510302" cy="510302"/>
          </a:xfrm>
          <a:prstGeom prst="roundRect">
            <a:avLst>
              <a:gd name="adj" fmla="val 18669"/>
            </a:avLst>
          </a:prstGeom>
          <a:solidFill>
            <a:srgbClr val="DADBF1"/>
          </a:solidFill>
          <a:ln w="7620">
            <a:solidFill>
              <a:srgbClr val="C0C1D7"/>
            </a:solidFill>
            <a:prstDash val="solid"/>
          </a:ln>
        </p:spPr>
        <p:txBody>
          <a:bodyPr/>
          <a:lstStyle/>
          <a:p>
            <a:endParaRPr lang="en-US"/>
          </a:p>
        </p:txBody>
      </p:sp>
      <p:sp>
        <p:nvSpPr>
          <p:cNvPr id="13" name="Text 11"/>
          <p:cNvSpPr/>
          <p:nvPr/>
        </p:nvSpPr>
        <p:spPr>
          <a:xfrm>
            <a:off x="878860" y="5166598"/>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3</a:t>
            </a:r>
            <a:endParaRPr lang="en-US" sz="2650" dirty="0"/>
          </a:p>
        </p:txBody>
      </p:sp>
      <p:sp>
        <p:nvSpPr>
          <p:cNvPr id="14" name="Text 12"/>
          <p:cNvSpPr/>
          <p:nvPr/>
        </p:nvSpPr>
        <p:spPr>
          <a:xfrm>
            <a:off x="1530906" y="5201960"/>
            <a:ext cx="3863221"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Unreliable Referral Behavior</a:t>
            </a:r>
            <a:endParaRPr lang="en-US" sz="2200" dirty="0"/>
          </a:p>
        </p:txBody>
      </p:sp>
      <p:sp>
        <p:nvSpPr>
          <p:cNvPr id="15" name="Text 13"/>
          <p:cNvSpPr/>
          <p:nvPr/>
        </p:nvSpPr>
        <p:spPr>
          <a:xfrm>
            <a:off x="1530906" y="5692378"/>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Inter-agent handoffs break because text parsing is fragile.</a:t>
            </a:r>
            <a:endParaRPr lang="en-US" sz="1750" dirty="0"/>
          </a:p>
        </p:txBody>
      </p:sp>
      <p:sp>
        <p:nvSpPr>
          <p:cNvPr id="16" name="Shape 14"/>
          <p:cNvSpPr/>
          <p:nvPr/>
        </p:nvSpPr>
        <p:spPr>
          <a:xfrm>
            <a:off x="7456884" y="5124093"/>
            <a:ext cx="510302" cy="510302"/>
          </a:xfrm>
          <a:prstGeom prst="roundRect">
            <a:avLst>
              <a:gd name="adj" fmla="val 18669"/>
            </a:avLst>
          </a:prstGeom>
          <a:solidFill>
            <a:srgbClr val="DADBF1"/>
          </a:solidFill>
          <a:ln w="7620">
            <a:solidFill>
              <a:srgbClr val="C0C1D7"/>
            </a:solidFill>
            <a:prstDash val="solid"/>
          </a:ln>
        </p:spPr>
        <p:txBody>
          <a:bodyPr/>
          <a:lstStyle/>
          <a:p>
            <a:endParaRPr lang="en-US"/>
          </a:p>
        </p:txBody>
      </p:sp>
      <p:sp>
        <p:nvSpPr>
          <p:cNvPr id="17" name="Text 15"/>
          <p:cNvSpPr/>
          <p:nvPr/>
        </p:nvSpPr>
        <p:spPr>
          <a:xfrm>
            <a:off x="7541955" y="5166598"/>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4</a:t>
            </a:r>
            <a:endParaRPr lang="en-US" sz="2650" dirty="0"/>
          </a:p>
        </p:txBody>
      </p:sp>
      <p:sp>
        <p:nvSpPr>
          <p:cNvPr id="18" name="Text 16"/>
          <p:cNvSpPr/>
          <p:nvPr/>
        </p:nvSpPr>
        <p:spPr>
          <a:xfrm>
            <a:off x="8194000" y="5201960"/>
            <a:ext cx="3531632"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No Evaluation Framework</a:t>
            </a:r>
            <a:endParaRPr lang="en-US" sz="2200" dirty="0"/>
          </a:p>
        </p:txBody>
      </p:sp>
      <p:sp>
        <p:nvSpPr>
          <p:cNvPr id="19" name="Text 17"/>
          <p:cNvSpPr/>
          <p:nvPr/>
        </p:nvSpPr>
        <p:spPr>
          <a:xfrm>
            <a:off x="8194000" y="5692378"/>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No measurement of response quality or learning outcomes.</a:t>
            </a:r>
            <a:endParaRPr lang="en-US" sz="1750" dirty="0"/>
          </a:p>
        </p:txBody>
      </p:sp>
      <p:sp>
        <p:nvSpPr>
          <p:cNvPr id="20" name="Rectangle 19">
            <a:extLst>
              <a:ext uri="{FF2B5EF4-FFF2-40B4-BE49-F238E27FC236}">
                <a16:creationId xmlns:a16="http://schemas.microsoft.com/office/drawing/2014/main" id="{111E65DE-AC0B-28E9-FF10-4270B761BB4E}"/>
              </a:ext>
            </a:extLst>
          </p:cNvPr>
          <p:cNvSpPr/>
          <p:nvPr/>
        </p:nvSpPr>
        <p:spPr>
          <a:xfrm>
            <a:off x="12839178" y="7640877"/>
            <a:ext cx="1791222" cy="58872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2351" y="748189"/>
            <a:ext cx="13051631" cy="598051"/>
          </a:xfrm>
          <a:prstGeom prst="rect">
            <a:avLst/>
          </a:prstGeom>
          <a:noFill/>
          <a:ln/>
        </p:spPr>
        <p:txBody>
          <a:bodyPr wrap="none" lIns="0" tIns="0" rIns="0" bIns="0" rtlCol="0" anchor="t"/>
          <a:lstStyle/>
          <a:p>
            <a:pPr marL="0" indent="0" algn="l">
              <a:lnSpc>
                <a:spcPts val="4700"/>
              </a:lnSpc>
              <a:buNone/>
            </a:pPr>
            <a:r>
              <a:rPr lang="en-US" sz="3750" b="1" dirty="0">
                <a:solidFill>
                  <a:srgbClr val="000000"/>
                </a:solidFill>
                <a:latin typeface="Inter Bold" pitchFamily="34" charset="0"/>
                <a:ea typeface="Inter Bold" pitchFamily="34" charset="-122"/>
                <a:cs typeface="Inter Bold" pitchFamily="34" charset="-120"/>
              </a:rPr>
              <a:t>From Generic Answers to Evidence-Grounded Guidance</a:t>
            </a:r>
            <a:endParaRPr lang="en-US" sz="3750" dirty="0"/>
          </a:p>
        </p:txBody>
      </p:sp>
      <p:sp>
        <p:nvSpPr>
          <p:cNvPr id="3" name="Text 1"/>
          <p:cNvSpPr/>
          <p:nvPr/>
        </p:nvSpPr>
        <p:spPr>
          <a:xfrm>
            <a:off x="712351" y="1410772"/>
            <a:ext cx="6068378" cy="358735"/>
          </a:xfrm>
          <a:prstGeom prst="rect">
            <a:avLst/>
          </a:prstGeom>
          <a:noFill/>
          <a:ln/>
        </p:spPr>
        <p:txBody>
          <a:bodyPr wrap="none" lIns="0" tIns="0" rIns="0" bIns="0" rtlCol="0" anchor="t"/>
          <a:lstStyle/>
          <a:p>
            <a:pPr marL="0" indent="0" algn="l">
              <a:lnSpc>
                <a:spcPts val="2800"/>
              </a:lnSpc>
              <a:buNone/>
            </a:pPr>
            <a:r>
              <a:rPr lang="en-US" sz="2250" b="1" dirty="0">
                <a:solidFill>
                  <a:srgbClr val="000000"/>
                </a:solidFill>
                <a:latin typeface="Inter Bold" pitchFamily="34" charset="0"/>
                <a:ea typeface="Inter Bold" pitchFamily="34" charset="-122"/>
                <a:cs typeface="Inter Bold" pitchFamily="34" charset="-120"/>
              </a:rPr>
              <a:t>A demo of the quality jump BRIDGE delivers</a:t>
            </a:r>
            <a:endParaRPr lang="en-US" sz="2250" dirty="0"/>
          </a:p>
        </p:txBody>
      </p:sp>
      <p:sp>
        <p:nvSpPr>
          <p:cNvPr id="4" name="Shape 2"/>
          <p:cNvSpPr/>
          <p:nvPr/>
        </p:nvSpPr>
        <p:spPr>
          <a:xfrm>
            <a:off x="712351" y="2059424"/>
            <a:ext cx="13205579" cy="14288"/>
          </a:xfrm>
          <a:prstGeom prst="rect">
            <a:avLst/>
          </a:prstGeom>
          <a:solidFill>
            <a:srgbClr val="272525">
              <a:alpha val="50000"/>
            </a:srgbClr>
          </a:solidFill>
          <a:ln/>
        </p:spPr>
        <p:txBody>
          <a:bodyPr/>
          <a:lstStyle/>
          <a:p>
            <a:endParaRPr lang="en-US"/>
          </a:p>
        </p:txBody>
      </p:sp>
      <p:sp>
        <p:nvSpPr>
          <p:cNvPr id="5" name="Shape 3"/>
          <p:cNvSpPr/>
          <p:nvPr/>
        </p:nvSpPr>
        <p:spPr>
          <a:xfrm>
            <a:off x="712351" y="2484596"/>
            <a:ext cx="6369248" cy="3176230"/>
          </a:xfrm>
          <a:prstGeom prst="roundRect">
            <a:avLst>
              <a:gd name="adj" fmla="val 2531"/>
            </a:avLst>
          </a:prstGeom>
          <a:solidFill>
            <a:srgbClr val="FCF2B5"/>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03684" y="2713077"/>
            <a:ext cx="298966" cy="239197"/>
          </a:xfrm>
          <a:prstGeom prst="rect">
            <a:avLst/>
          </a:prstGeom>
        </p:spPr>
      </p:pic>
      <p:sp>
        <p:nvSpPr>
          <p:cNvPr id="7" name="Text 4"/>
          <p:cNvSpPr/>
          <p:nvPr/>
        </p:nvSpPr>
        <p:spPr>
          <a:xfrm>
            <a:off x="1393984" y="2693789"/>
            <a:ext cx="2564963" cy="298966"/>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Inter Bold" pitchFamily="34" charset="0"/>
                <a:ea typeface="Inter Bold" pitchFamily="34" charset="-122"/>
                <a:cs typeface="Inter Bold" pitchFamily="34" charset="-120"/>
              </a:rPr>
              <a:t>Before RAG (Baseline)</a:t>
            </a:r>
            <a:endParaRPr lang="en-US" sz="1850" dirty="0"/>
          </a:p>
        </p:txBody>
      </p:sp>
      <p:sp>
        <p:nvSpPr>
          <p:cNvPr id="8" name="Text 5"/>
          <p:cNvSpPr/>
          <p:nvPr/>
        </p:nvSpPr>
        <p:spPr>
          <a:xfrm>
            <a:off x="1393984" y="3154204"/>
            <a:ext cx="5496282" cy="564356"/>
          </a:xfrm>
          <a:prstGeom prst="rect">
            <a:avLst/>
          </a:prstGeom>
          <a:noFill/>
          <a:ln/>
        </p:spPr>
        <p:txBody>
          <a:bodyPr wrap="square" lIns="0" tIns="0" rIns="0" bIns="0" rtlCol="0" anchor="t"/>
          <a:lstStyle/>
          <a:p>
            <a:pPr marL="0" indent="0" algn="l">
              <a:lnSpc>
                <a:spcPts val="2200"/>
              </a:lnSpc>
              <a:buNone/>
            </a:pPr>
            <a:r>
              <a:rPr lang="en-US" sz="1500" b="1" dirty="0">
                <a:solidFill>
                  <a:srgbClr val="000000"/>
                </a:solidFill>
                <a:latin typeface="Inter" pitchFamily="34" charset="0"/>
                <a:ea typeface="Inter" pitchFamily="34" charset="-122"/>
                <a:cs typeface="Inter" pitchFamily="34" charset="-120"/>
              </a:rPr>
              <a:t>Student question:</a:t>
            </a:r>
            <a:r>
              <a:rPr lang="en-US" sz="1500" dirty="0">
                <a:solidFill>
                  <a:srgbClr val="000000"/>
                </a:solidFill>
                <a:latin typeface="Inter" pitchFamily="34" charset="0"/>
                <a:ea typeface="Inter" pitchFamily="34" charset="-122"/>
                <a:cs typeface="Inter" pitchFamily="34" charset="-120"/>
              </a:rPr>
              <a:t> “What medications are used for opioid use disorder?”</a:t>
            </a:r>
            <a:endParaRPr lang="en-US" sz="1500" dirty="0"/>
          </a:p>
        </p:txBody>
      </p:sp>
      <p:sp>
        <p:nvSpPr>
          <p:cNvPr id="9" name="Text 6"/>
          <p:cNvSpPr/>
          <p:nvPr/>
        </p:nvSpPr>
        <p:spPr>
          <a:xfrm>
            <a:off x="1393984" y="3863816"/>
            <a:ext cx="5496282" cy="1128713"/>
          </a:xfrm>
          <a:prstGeom prst="rect">
            <a:avLst/>
          </a:prstGeom>
          <a:noFill/>
          <a:ln/>
        </p:spPr>
        <p:txBody>
          <a:bodyPr wrap="square" lIns="0" tIns="0" rIns="0" bIns="0" rtlCol="0" anchor="t"/>
          <a:lstStyle/>
          <a:p>
            <a:pPr marL="0" indent="0" algn="l">
              <a:lnSpc>
                <a:spcPts val="2200"/>
              </a:lnSpc>
              <a:buNone/>
            </a:pPr>
            <a:r>
              <a:rPr lang="en-US" sz="1500" b="1" dirty="0">
                <a:solidFill>
                  <a:srgbClr val="000000"/>
                </a:solidFill>
                <a:latin typeface="Inter" pitchFamily="34" charset="0"/>
                <a:ea typeface="Inter" pitchFamily="34" charset="-122"/>
                <a:cs typeface="Inter" pitchFamily="34" charset="-120"/>
              </a:rPr>
              <a:t>Agent response:</a:t>
            </a:r>
            <a:r>
              <a:rPr lang="en-US" sz="1500" dirty="0">
                <a:solidFill>
                  <a:srgbClr val="000000"/>
                </a:solidFill>
                <a:latin typeface="Inter" pitchFamily="34" charset="0"/>
                <a:ea typeface="Inter" pitchFamily="34" charset="-122"/>
                <a:cs typeface="Inter" pitchFamily="34" charset="-120"/>
              </a:rPr>
              <a:t> “There are several medications that can help with opioid use disorder, including methadone and buprenorphine. These are commonly used in treatment programs.”</a:t>
            </a:r>
            <a:endParaRPr lang="en-US" sz="1500" dirty="0"/>
          </a:p>
        </p:txBody>
      </p:sp>
      <p:sp>
        <p:nvSpPr>
          <p:cNvPr id="10" name="Text 7"/>
          <p:cNvSpPr/>
          <p:nvPr/>
        </p:nvSpPr>
        <p:spPr>
          <a:xfrm>
            <a:off x="1393984" y="5137785"/>
            <a:ext cx="5496282" cy="282178"/>
          </a:xfrm>
          <a:prstGeom prst="rect">
            <a:avLst/>
          </a:prstGeom>
          <a:noFill/>
          <a:ln/>
        </p:spPr>
        <p:txBody>
          <a:bodyPr wrap="none" lIns="0" tIns="0" rIns="0" bIns="0" rtlCol="0" anchor="t"/>
          <a:lstStyle/>
          <a:p>
            <a:pPr marL="0" indent="0" algn="l">
              <a:lnSpc>
                <a:spcPts val="2200"/>
              </a:lnSpc>
              <a:buNone/>
            </a:pPr>
            <a:r>
              <a:rPr lang="en-US" sz="1500" dirty="0">
                <a:solidFill>
                  <a:srgbClr val="000000"/>
                </a:solidFill>
                <a:latin typeface="Inter" pitchFamily="34" charset="0"/>
                <a:ea typeface="Inter" pitchFamily="34" charset="-122"/>
                <a:cs typeface="Inter" pitchFamily="34" charset="-120"/>
              </a:rPr>
              <a:t>[Vague, generic, sometimes incorrect]</a:t>
            </a:r>
            <a:endParaRPr lang="en-US" sz="1500" dirty="0"/>
          </a:p>
        </p:txBody>
      </p:sp>
      <p:sp>
        <p:nvSpPr>
          <p:cNvPr id="11" name="Shape 8"/>
          <p:cNvSpPr/>
          <p:nvPr/>
        </p:nvSpPr>
        <p:spPr>
          <a:xfrm>
            <a:off x="7556183" y="2484596"/>
            <a:ext cx="6369248" cy="3176230"/>
          </a:xfrm>
          <a:prstGeom prst="roundRect">
            <a:avLst>
              <a:gd name="adj" fmla="val 2531"/>
            </a:avLst>
          </a:prstGeom>
          <a:solidFill>
            <a:srgbClr val="B6FCB8"/>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7747516" y="2713077"/>
            <a:ext cx="298966" cy="239197"/>
          </a:xfrm>
          <a:prstGeom prst="rect">
            <a:avLst/>
          </a:prstGeom>
        </p:spPr>
      </p:pic>
      <p:sp>
        <p:nvSpPr>
          <p:cNvPr id="13" name="Text 9"/>
          <p:cNvSpPr/>
          <p:nvPr/>
        </p:nvSpPr>
        <p:spPr>
          <a:xfrm>
            <a:off x="8237815" y="2693789"/>
            <a:ext cx="2392323" cy="298966"/>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Inter Bold" pitchFamily="34" charset="0"/>
                <a:ea typeface="Inter Bold" pitchFamily="34" charset="-122"/>
                <a:cs typeface="Inter Bold" pitchFamily="34" charset="-120"/>
              </a:rPr>
              <a:t>After RAG (BRIDGE)</a:t>
            </a:r>
            <a:endParaRPr lang="en-US" sz="1850" dirty="0"/>
          </a:p>
        </p:txBody>
      </p:sp>
      <p:sp>
        <p:nvSpPr>
          <p:cNvPr id="14" name="Text 10"/>
          <p:cNvSpPr/>
          <p:nvPr/>
        </p:nvSpPr>
        <p:spPr>
          <a:xfrm>
            <a:off x="8237815" y="3154204"/>
            <a:ext cx="5496282" cy="282178"/>
          </a:xfrm>
          <a:prstGeom prst="rect">
            <a:avLst/>
          </a:prstGeom>
          <a:noFill/>
          <a:ln/>
        </p:spPr>
        <p:txBody>
          <a:bodyPr wrap="none" lIns="0" tIns="0" rIns="0" bIns="0" rtlCol="0" anchor="t"/>
          <a:lstStyle/>
          <a:p>
            <a:pPr marL="0" indent="0" algn="l">
              <a:lnSpc>
                <a:spcPts val="2200"/>
              </a:lnSpc>
              <a:buNone/>
            </a:pPr>
            <a:r>
              <a:rPr lang="en-US" sz="1500" b="1" dirty="0">
                <a:solidFill>
                  <a:srgbClr val="000000"/>
                </a:solidFill>
                <a:latin typeface="Inter" pitchFamily="34" charset="0"/>
                <a:ea typeface="Inter" pitchFamily="34" charset="-122"/>
                <a:cs typeface="Inter" pitchFamily="34" charset="-120"/>
              </a:rPr>
              <a:t>Same student question</a:t>
            </a:r>
            <a:endParaRPr lang="en-US" sz="1500" dirty="0"/>
          </a:p>
        </p:txBody>
      </p:sp>
      <p:sp>
        <p:nvSpPr>
          <p:cNvPr id="15" name="Text 11"/>
          <p:cNvSpPr/>
          <p:nvPr/>
        </p:nvSpPr>
        <p:spPr>
          <a:xfrm>
            <a:off x="8237815" y="3581638"/>
            <a:ext cx="5496282" cy="1410891"/>
          </a:xfrm>
          <a:prstGeom prst="rect">
            <a:avLst/>
          </a:prstGeom>
          <a:noFill/>
          <a:ln/>
        </p:spPr>
        <p:txBody>
          <a:bodyPr wrap="square" lIns="0" tIns="0" rIns="0" bIns="0" rtlCol="0" anchor="t"/>
          <a:lstStyle/>
          <a:p>
            <a:pPr marL="0" indent="0" algn="l">
              <a:lnSpc>
                <a:spcPts val="2200"/>
              </a:lnSpc>
              <a:buNone/>
            </a:pPr>
            <a:r>
              <a:rPr lang="en-US" sz="1500" b="1" dirty="0">
                <a:solidFill>
                  <a:srgbClr val="000000"/>
                </a:solidFill>
                <a:latin typeface="Inter" pitchFamily="34" charset="0"/>
                <a:ea typeface="Inter" pitchFamily="34" charset="-122"/>
                <a:cs typeface="Inter" pitchFamily="34" charset="-120"/>
              </a:rPr>
              <a:t>Agent response:</a:t>
            </a:r>
            <a:r>
              <a:rPr lang="en-US" sz="1500" dirty="0">
                <a:solidFill>
                  <a:srgbClr val="000000"/>
                </a:solidFill>
                <a:latin typeface="Inter" pitchFamily="34" charset="0"/>
                <a:ea typeface="Inter" pitchFamily="34" charset="-122"/>
                <a:cs typeface="Inter" pitchFamily="34" charset="-120"/>
              </a:rPr>
              <a:t> “According to SAMHSA guidelines, buprenorphine is a first-line treatment. The typical induction dose is 2–4 mg sublingual on day one, increased to 8–16 mg daily by day three. It has a lower overdose risk than methadone and is preferred for office-based treatment.”</a:t>
            </a:r>
            <a:endParaRPr lang="en-US" sz="1500" dirty="0"/>
          </a:p>
        </p:txBody>
      </p:sp>
      <p:sp>
        <p:nvSpPr>
          <p:cNvPr id="16" name="Text 12"/>
          <p:cNvSpPr/>
          <p:nvPr/>
        </p:nvSpPr>
        <p:spPr>
          <a:xfrm>
            <a:off x="8237815" y="5137785"/>
            <a:ext cx="5496282" cy="282178"/>
          </a:xfrm>
          <a:prstGeom prst="rect">
            <a:avLst/>
          </a:prstGeom>
          <a:noFill/>
          <a:ln/>
        </p:spPr>
        <p:txBody>
          <a:bodyPr wrap="none" lIns="0" tIns="0" rIns="0" bIns="0" rtlCol="0" anchor="t"/>
          <a:lstStyle/>
          <a:p>
            <a:pPr marL="0" indent="0" algn="l">
              <a:lnSpc>
                <a:spcPts val="2200"/>
              </a:lnSpc>
              <a:buNone/>
            </a:pPr>
            <a:r>
              <a:rPr lang="en-US" sz="1500" dirty="0">
                <a:solidFill>
                  <a:srgbClr val="000000"/>
                </a:solidFill>
                <a:latin typeface="Inter" pitchFamily="34" charset="0"/>
                <a:ea typeface="Inter" pitchFamily="34" charset="-122"/>
                <a:cs typeface="Inter" pitchFamily="34" charset="-120"/>
              </a:rPr>
              <a:t>[Specific, evidence-grounded, cites sources]</a:t>
            </a:r>
            <a:endParaRPr lang="en-US" sz="1500" dirty="0"/>
          </a:p>
        </p:txBody>
      </p:sp>
      <p:sp>
        <p:nvSpPr>
          <p:cNvPr id="17" name="Shape 13"/>
          <p:cNvSpPr/>
          <p:nvPr/>
        </p:nvSpPr>
        <p:spPr>
          <a:xfrm>
            <a:off x="712351" y="6071711"/>
            <a:ext cx="13205579" cy="14288"/>
          </a:xfrm>
          <a:prstGeom prst="rect">
            <a:avLst/>
          </a:prstGeom>
          <a:solidFill>
            <a:srgbClr val="272525">
              <a:alpha val="50000"/>
            </a:srgbClr>
          </a:solidFill>
          <a:ln/>
        </p:spPr>
        <p:txBody>
          <a:bodyPr/>
          <a:lstStyle/>
          <a:p>
            <a:endParaRPr lang="en-US"/>
          </a:p>
        </p:txBody>
      </p:sp>
      <p:sp>
        <p:nvSpPr>
          <p:cNvPr id="18" name="Text 14"/>
          <p:cNvSpPr/>
          <p:nvPr/>
        </p:nvSpPr>
        <p:spPr>
          <a:xfrm>
            <a:off x="712351" y="6375916"/>
            <a:ext cx="2392323" cy="298966"/>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Inter Bold" pitchFamily="34" charset="0"/>
                <a:ea typeface="Inter Bold" pitchFamily="34" charset="-122"/>
                <a:cs typeface="Inter Bold" pitchFamily="34" charset="-120"/>
              </a:rPr>
              <a:t>How It Works</a:t>
            </a:r>
            <a:endParaRPr lang="en-US" sz="1850" dirty="0"/>
          </a:p>
        </p:txBody>
      </p:sp>
      <p:sp>
        <p:nvSpPr>
          <p:cNvPr id="19" name="Text 15"/>
          <p:cNvSpPr/>
          <p:nvPr/>
        </p:nvSpPr>
        <p:spPr>
          <a:xfrm>
            <a:off x="712351" y="6917055"/>
            <a:ext cx="13205579" cy="564356"/>
          </a:xfrm>
          <a:prstGeom prst="rect">
            <a:avLst/>
          </a:prstGeom>
          <a:noFill/>
          <a:ln/>
        </p:spPr>
        <p:txBody>
          <a:bodyPr wrap="square" lIns="0" tIns="0" rIns="0" bIns="0" rtlCol="0" anchor="t"/>
          <a:lstStyle/>
          <a:p>
            <a:pPr marL="0" indent="0" algn="l">
              <a:lnSpc>
                <a:spcPts val="2200"/>
              </a:lnSpc>
              <a:buNone/>
            </a:pPr>
            <a:r>
              <a:rPr lang="en-US" sz="1500" dirty="0">
                <a:solidFill>
                  <a:srgbClr val="272525"/>
                </a:solidFill>
                <a:latin typeface="Inter" pitchFamily="34" charset="0"/>
                <a:ea typeface="Inter" pitchFamily="34" charset="-122"/>
                <a:cs typeface="Inter" pitchFamily="34" charset="-120"/>
              </a:rPr>
              <a:t>Each agent retrieves evidence only from its own profession’s curated sources: a nurse sees nursing literature, a physician sees clinical guidelines, a social worker sees community resources. Same question, six different evidence-grounded perspectives.</a:t>
            </a:r>
            <a:endParaRPr lang="en-US" sz="1500" dirty="0"/>
          </a:p>
        </p:txBody>
      </p:sp>
      <p:sp>
        <p:nvSpPr>
          <p:cNvPr id="20" name="Rectangle 19">
            <a:extLst>
              <a:ext uri="{FF2B5EF4-FFF2-40B4-BE49-F238E27FC236}">
                <a16:creationId xmlns:a16="http://schemas.microsoft.com/office/drawing/2014/main" id="{A12D2CD0-BDA7-A9D4-9DF8-F8B194C1333D}"/>
              </a:ext>
            </a:extLst>
          </p:cNvPr>
          <p:cNvSpPr/>
          <p:nvPr/>
        </p:nvSpPr>
        <p:spPr>
          <a:xfrm>
            <a:off x="12839178" y="7678455"/>
            <a:ext cx="1791222" cy="55114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812846" y="512683"/>
            <a:ext cx="6820614" cy="498396"/>
          </a:xfrm>
          <a:prstGeom prst="rect">
            <a:avLst/>
          </a:prstGeom>
          <a:noFill/>
          <a:ln/>
        </p:spPr>
        <p:txBody>
          <a:bodyPr wrap="none" lIns="0" tIns="0" rIns="0" bIns="0" rtlCol="0" anchor="t"/>
          <a:lstStyle/>
          <a:p>
            <a:pPr marL="0" indent="0" algn="l">
              <a:lnSpc>
                <a:spcPts val="3900"/>
              </a:lnSpc>
              <a:buNone/>
            </a:pPr>
            <a:r>
              <a:rPr lang="en-US" sz="3100" b="1" dirty="0">
                <a:solidFill>
                  <a:srgbClr val="000000"/>
                </a:solidFill>
                <a:latin typeface="Inter Bold" pitchFamily="34" charset="0"/>
                <a:ea typeface="Inter Bold" pitchFamily="34" charset="-122"/>
                <a:cs typeface="Inter Bold" pitchFamily="34" charset="-120"/>
              </a:rPr>
              <a:t>Structured-Output Referral System</a:t>
            </a:r>
            <a:endParaRPr lang="en-US" sz="3100" dirty="0"/>
          </a:p>
        </p:txBody>
      </p:sp>
      <p:sp>
        <p:nvSpPr>
          <p:cNvPr id="3" name="Text 1"/>
          <p:cNvSpPr/>
          <p:nvPr/>
        </p:nvSpPr>
        <p:spPr>
          <a:xfrm>
            <a:off x="1812846" y="1055846"/>
            <a:ext cx="5923598" cy="298966"/>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Inter Bold" pitchFamily="34" charset="0"/>
                <a:ea typeface="Inter Bold" pitchFamily="34" charset="-122"/>
                <a:cs typeface="Inter Bold" pitchFamily="34" charset="-120"/>
              </a:rPr>
              <a:t>Making expert handoffs feel seamless for students</a:t>
            </a:r>
            <a:endParaRPr lang="en-US" sz="1850" dirty="0"/>
          </a:p>
        </p:txBody>
      </p:sp>
      <p:sp>
        <p:nvSpPr>
          <p:cNvPr id="4" name="Shape 2"/>
          <p:cNvSpPr/>
          <p:nvPr/>
        </p:nvSpPr>
        <p:spPr>
          <a:xfrm>
            <a:off x="1812846" y="1562695"/>
            <a:ext cx="11004590" cy="11906"/>
          </a:xfrm>
          <a:prstGeom prst="rect">
            <a:avLst/>
          </a:prstGeom>
          <a:solidFill>
            <a:srgbClr val="272525">
              <a:alpha val="50000"/>
            </a:srgbClr>
          </a:solidFill>
          <a:ln/>
        </p:spPr>
        <p:txBody>
          <a:bodyPr/>
          <a:lstStyle/>
          <a:p>
            <a:endParaRPr lang="en-US"/>
          </a:p>
        </p:txBody>
      </p:sp>
      <p:sp>
        <p:nvSpPr>
          <p:cNvPr id="5" name="Text 3"/>
          <p:cNvSpPr/>
          <p:nvPr/>
        </p:nvSpPr>
        <p:spPr>
          <a:xfrm>
            <a:off x="1812846" y="1782485"/>
            <a:ext cx="1993583" cy="249079"/>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The Problem</a:t>
            </a:r>
            <a:endParaRPr lang="en-US" sz="1550" dirty="0"/>
          </a:p>
        </p:txBody>
      </p:sp>
      <p:sp>
        <p:nvSpPr>
          <p:cNvPr id="6" name="Text 4"/>
          <p:cNvSpPr/>
          <p:nvPr/>
        </p:nvSpPr>
        <p:spPr>
          <a:xfrm>
            <a:off x="1812846" y="2199680"/>
            <a:ext cx="11004590" cy="434578"/>
          </a:xfrm>
          <a:prstGeom prst="rect">
            <a:avLst/>
          </a:prstGeom>
          <a:noFill/>
          <a:ln/>
        </p:spPr>
        <p:txBody>
          <a:bodyPr wrap="squar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Early prototypes tried to spot handoff moments by reading free-text responses. When smaller models changed the wording or skipped the cue, the referral flow could break.</a:t>
            </a:r>
            <a:endParaRPr lang="en-US" sz="1250" dirty="0"/>
          </a:p>
        </p:txBody>
      </p:sp>
      <p:sp>
        <p:nvSpPr>
          <p:cNvPr id="7" name="Shape 5"/>
          <p:cNvSpPr/>
          <p:nvPr/>
        </p:nvSpPr>
        <p:spPr>
          <a:xfrm>
            <a:off x="1812846" y="2800112"/>
            <a:ext cx="11004590" cy="11906"/>
          </a:xfrm>
          <a:prstGeom prst="rect">
            <a:avLst/>
          </a:prstGeom>
          <a:solidFill>
            <a:srgbClr val="272525">
              <a:alpha val="50000"/>
            </a:srgbClr>
          </a:solidFill>
          <a:ln/>
        </p:spPr>
        <p:txBody>
          <a:bodyPr/>
          <a:lstStyle/>
          <a:p>
            <a:endParaRPr lang="en-US"/>
          </a:p>
        </p:txBody>
      </p:sp>
      <p:sp>
        <p:nvSpPr>
          <p:cNvPr id="8" name="Text 6"/>
          <p:cNvSpPr/>
          <p:nvPr/>
        </p:nvSpPr>
        <p:spPr>
          <a:xfrm>
            <a:off x="1812846" y="3019901"/>
            <a:ext cx="2618780" cy="249079"/>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Reliable Handoffs in Action</a:t>
            </a:r>
            <a:endParaRPr lang="en-US" sz="1550" dirty="0"/>
          </a:p>
        </p:txBody>
      </p:sp>
      <p:sp>
        <p:nvSpPr>
          <p:cNvPr id="9" name="Text 7"/>
          <p:cNvSpPr/>
          <p:nvPr/>
        </p:nvSpPr>
        <p:spPr>
          <a:xfrm>
            <a:off x="1812846" y="3437096"/>
            <a:ext cx="11004590" cy="217289"/>
          </a:xfrm>
          <a:prstGeom prst="rect">
            <a:avLst/>
          </a:prstGeom>
          <a:noFill/>
          <a:ln/>
        </p:spPr>
        <p:txBody>
          <a:bodyPr wrap="none" lIns="0" tIns="0" rIns="0" bIns="0" rtlCol="0" anchor="t"/>
          <a:lstStyle/>
          <a:p>
            <a:pPr marL="0" indent="0" algn="l">
              <a:lnSpc>
                <a:spcPts val="1700"/>
              </a:lnSpc>
              <a:buNone/>
            </a:pPr>
            <a:r>
              <a:rPr lang="en-US" sz="1250" b="1" dirty="0">
                <a:solidFill>
                  <a:srgbClr val="272525"/>
                </a:solidFill>
                <a:latin typeface="Inter" pitchFamily="34" charset="0"/>
                <a:ea typeface="Inter" pitchFamily="34" charset="-122"/>
                <a:cs typeface="Inter" pitchFamily="34" charset="-120"/>
              </a:rPr>
              <a:t>Student asks the Nurse agent:</a:t>
            </a:r>
            <a:r>
              <a:rPr lang="en-US" sz="1250" dirty="0">
                <a:solidFill>
                  <a:srgbClr val="272525"/>
                </a:solidFill>
                <a:latin typeface="Inter" pitchFamily="34" charset="0"/>
                <a:ea typeface="Inter" pitchFamily="34" charset="-122"/>
                <a:cs typeface="Inter" pitchFamily="34" charset="-120"/>
              </a:rPr>
              <a:t> “How should hospital leadership allocate funding for addiction treatment programs?”</a:t>
            </a:r>
            <a:endParaRPr lang="en-US" sz="1250" dirty="0"/>
          </a:p>
        </p:txBody>
      </p:sp>
      <p:sp>
        <p:nvSpPr>
          <p:cNvPr id="10" name="Text 8"/>
          <p:cNvSpPr/>
          <p:nvPr/>
        </p:nvSpPr>
        <p:spPr>
          <a:xfrm>
            <a:off x="1812846" y="3780473"/>
            <a:ext cx="11004590" cy="434578"/>
          </a:xfrm>
          <a:prstGeom prst="rect">
            <a:avLst/>
          </a:prstGeom>
          <a:noFill/>
          <a:ln/>
        </p:spPr>
        <p:txBody>
          <a:bodyPr wrap="square" lIns="0" tIns="0" rIns="0" bIns="0" rtlCol="0" anchor="t"/>
          <a:lstStyle/>
          <a:p>
            <a:pPr marL="0" indent="0" algn="l">
              <a:lnSpc>
                <a:spcPts val="1700"/>
              </a:lnSpc>
              <a:buNone/>
            </a:pPr>
            <a:r>
              <a:rPr lang="en-US" sz="1250" b="1" dirty="0">
                <a:solidFill>
                  <a:srgbClr val="272525"/>
                </a:solidFill>
                <a:latin typeface="Inter" pitchFamily="34" charset="0"/>
                <a:ea typeface="Inter" pitchFamily="34" charset="-122"/>
                <a:cs typeface="Inter" pitchFamily="34" charset="-120"/>
              </a:rPr>
              <a:t>Nurse responds:</a:t>
            </a:r>
            <a:r>
              <a:rPr lang="en-US" sz="1250" dirty="0">
                <a:solidFill>
                  <a:srgbClr val="272525"/>
                </a:solidFill>
                <a:latin typeface="Inter" pitchFamily="34" charset="0"/>
                <a:ea typeface="Inter" pitchFamily="34" charset="-122"/>
                <a:cs typeface="Inter" pitchFamily="34" charset="-120"/>
              </a:rPr>
              <a:t> “That’s a hospital strategy and budgeting decision that sits outside my nursing scope. A health administrator should address funding allocation frameworks”</a:t>
            </a:r>
            <a:endParaRPr lang="en-US" sz="1250" dirty="0"/>
          </a:p>
        </p:txBody>
      </p:sp>
      <p:sp>
        <p:nvSpPr>
          <p:cNvPr id="11" name="Text 9"/>
          <p:cNvSpPr/>
          <p:nvPr/>
        </p:nvSpPr>
        <p:spPr>
          <a:xfrm>
            <a:off x="1812846" y="4341138"/>
            <a:ext cx="11004590" cy="217289"/>
          </a:xfrm>
          <a:prstGeom prst="rect">
            <a:avLst/>
          </a:prstGeom>
          <a:noFill/>
          <a:ln/>
        </p:spPr>
        <p:txBody>
          <a:bodyPr wrap="none" lIns="0" tIns="0" rIns="0" bIns="0" rtlCol="0" anchor="t"/>
          <a:lstStyle/>
          <a:p>
            <a:pPr marL="0" indent="0" algn="l">
              <a:lnSpc>
                <a:spcPts val="1700"/>
              </a:lnSpc>
              <a:buNone/>
            </a:pPr>
            <a:r>
              <a:rPr lang="en-US" sz="1250" b="1" dirty="0">
                <a:solidFill>
                  <a:srgbClr val="272525"/>
                </a:solidFill>
                <a:latin typeface="Inter" pitchFamily="34" charset="0"/>
                <a:ea typeface="Inter" pitchFamily="34" charset="-122"/>
                <a:cs typeface="Inter" pitchFamily="34" charset="-120"/>
              </a:rPr>
              <a:t>A button appears:</a:t>
            </a:r>
            <a:r>
              <a:rPr lang="en-US" sz="1250" dirty="0">
                <a:solidFill>
                  <a:srgbClr val="272525"/>
                </a:solidFill>
                <a:latin typeface="Inter" pitchFamily="34" charset="0"/>
                <a:ea typeface="Inter" pitchFamily="34" charset="-122"/>
                <a:cs typeface="Inter" pitchFamily="34" charset="-120"/>
              </a:rPr>
              <a:t> </a:t>
            </a:r>
            <a:r>
              <a:rPr lang="en-US" sz="1250" i="1" dirty="0">
                <a:solidFill>
                  <a:srgbClr val="272525"/>
                </a:solidFill>
                <a:latin typeface="Inter" pitchFamily="34" charset="0"/>
                <a:ea typeface="Inter" pitchFamily="34" charset="-122"/>
                <a:cs typeface="Inter" pitchFamily="34" charset="-120"/>
              </a:rPr>
              <a:t>Talk to Health Administrator</a:t>
            </a:r>
            <a:endParaRPr lang="en-US" sz="1250" dirty="0"/>
          </a:p>
        </p:txBody>
      </p:sp>
      <p:sp>
        <p:nvSpPr>
          <p:cNvPr id="12" name="Text 10"/>
          <p:cNvSpPr/>
          <p:nvPr/>
        </p:nvSpPr>
        <p:spPr>
          <a:xfrm>
            <a:off x="1812846" y="4684514"/>
            <a:ext cx="11004590" cy="217289"/>
          </a:xfrm>
          <a:prstGeom prst="rect">
            <a:avLst/>
          </a:prstGeom>
          <a:noFill/>
          <a:ln/>
        </p:spPr>
        <p:txBody>
          <a:bodyPr wrap="none" lIns="0" tIns="0" rIns="0" bIns="0" rtlCol="0" anchor="t"/>
          <a:lstStyle/>
          <a:p>
            <a:pPr marL="0" indent="0" algn="l">
              <a:lnSpc>
                <a:spcPts val="1700"/>
              </a:lnSpc>
              <a:buNone/>
            </a:pPr>
            <a:r>
              <a:rPr lang="en-US" sz="1250" b="1" dirty="0">
                <a:solidFill>
                  <a:srgbClr val="272525"/>
                </a:solidFill>
                <a:latin typeface="Inter" pitchFamily="34" charset="0"/>
                <a:ea typeface="Inter" pitchFamily="34" charset="-122"/>
                <a:cs typeface="Inter" pitchFamily="34" charset="-120"/>
              </a:rPr>
              <a:t>Student clicks</a:t>
            </a:r>
            <a:r>
              <a:rPr lang="en-US" sz="1250" dirty="0">
                <a:solidFill>
                  <a:srgbClr val="272525"/>
                </a:solidFill>
                <a:latin typeface="Inter" pitchFamily="34" charset="0"/>
                <a:ea typeface="Inter" pitchFamily="34" charset="-122"/>
                <a:cs typeface="Inter" pitchFamily="34" charset="-120"/>
              </a:rPr>
              <a:t> and the Health Administrator responds with a policy-grounded answer about liability protection and Good Samaritan laws.</a:t>
            </a:r>
            <a:endParaRPr lang="en-US" sz="1250" dirty="0"/>
          </a:p>
        </p:txBody>
      </p:sp>
      <p:sp>
        <p:nvSpPr>
          <p:cNvPr id="13" name="Shape 11"/>
          <p:cNvSpPr/>
          <p:nvPr/>
        </p:nvSpPr>
        <p:spPr>
          <a:xfrm>
            <a:off x="1812846" y="5067657"/>
            <a:ext cx="11004590" cy="11906"/>
          </a:xfrm>
          <a:prstGeom prst="rect">
            <a:avLst/>
          </a:prstGeom>
          <a:solidFill>
            <a:srgbClr val="272525">
              <a:alpha val="50000"/>
            </a:srgbClr>
          </a:solidFill>
          <a:ln/>
        </p:spPr>
        <p:txBody>
          <a:bodyPr/>
          <a:lstStyle/>
          <a:p>
            <a:endParaRPr lang="en-US"/>
          </a:p>
        </p:txBody>
      </p:sp>
      <p:sp>
        <p:nvSpPr>
          <p:cNvPr id="14" name="Text 12"/>
          <p:cNvSpPr/>
          <p:nvPr/>
        </p:nvSpPr>
        <p:spPr>
          <a:xfrm>
            <a:off x="1812846" y="5287447"/>
            <a:ext cx="1993583" cy="249079"/>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Why It Matters</a:t>
            </a:r>
            <a:endParaRPr lang="en-US" sz="1550" dirty="0"/>
          </a:p>
        </p:txBody>
      </p:sp>
      <p:sp>
        <p:nvSpPr>
          <p:cNvPr id="15" name="Text 13"/>
          <p:cNvSpPr/>
          <p:nvPr/>
        </p:nvSpPr>
        <p:spPr>
          <a:xfrm>
            <a:off x="1812846" y="5704642"/>
            <a:ext cx="11004590" cy="21728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Students get a smooth, trustworthy experience: the right question reaches the right expert, every time, regardless of which model is responding.</a:t>
            </a:r>
            <a:endParaRPr lang="en-US" sz="1250" dirty="0"/>
          </a:p>
        </p:txBody>
      </p:sp>
      <p:pic>
        <p:nvPicPr>
          <p:cNvPr id="16" name="Image 0" descr="preencoded.png"/>
          <p:cNvPicPr>
            <a:picLocks noChangeAspect="1"/>
          </p:cNvPicPr>
          <p:nvPr/>
        </p:nvPicPr>
        <p:blipFill>
          <a:blip r:embed="rId3"/>
          <a:stretch>
            <a:fillRect/>
          </a:stretch>
        </p:blipFill>
        <p:spPr>
          <a:xfrm>
            <a:off x="5232916" y="6048018"/>
            <a:ext cx="4164330" cy="1668899"/>
          </a:xfrm>
          <a:prstGeom prst="rect">
            <a:avLst/>
          </a:prstGeom>
        </p:spPr>
      </p:pic>
      <p:sp>
        <p:nvSpPr>
          <p:cNvPr id="17" name="Rectangle 16">
            <a:extLst>
              <a:ext uri="{FF2B5EF4-FFF2-40B4-BE49-F238E27FC236}">
                <a16:creationId xmlns:a16="http://schemas.microsoft.com/office/drawing/2014/main" id="{F83C9EF7-D6EF-C495-2AFF-FC44E107165B}"/>
              </a:ext>
            </a:extLst>
          </p:cNvPr>
          <p:cNvSpPr/>
          <p:nvPr/>
        </p:nvSpPr>
        <p:spPr>
          <a:xfrm>
            <a:off x="12817436" y="7628351"/>
            <a:ext cx="1812964" cy="6012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10465832" y="86797"/>
            <a:ext cx="2842617" cy="8056007"/>
          </a:xfrm>
          <a:prstGeom prst="rect">
            <a:avLst/>
          </a:prstGeom>
        </p:spPr>
      </p:pic>
      <p:sp>
        <p:nvSpPr>
          <p:cNvPr id="4" name="Text 0"/>
          <p:cNvSpPr/>
          <p:nvPr/>
        </p:nvSpPr>
        <p:spPr>
          <a:xfrm>
            <a:off x="607814" y="705207"/>
            <a:ext cx="7815143" cy="542687"/>
          </a:xfrm>
          <a:prstGeom prst="rect">
            <a:avLst/>
          </a:prstGeom>
          <a:noFill/>
          <a:ln/>
        </p:spPr>
        <p:txBody>
          <a:bodyPr wrap="none" lIns="0" tIns="0" rIns="0" bIns="0" rtlCol="0" anchor="t"/>
          <a:lstStyle/>
          <a:p>
            <a:pPr marL="0" indent="0" algn="l">
              <a:lnSpc>
                <a:spcPts val="4250"/>
              </a:lnSpc>
              <a:buNone/>
            </a:pPr>
            <a:r>
              <a:rPr lang="en-US" sz="3400" b="1" dirty="0">
                <a:solidFill>
                  <a:srgbClr val="000000"/>
                </a:solidFill>
                <a:latin typeface="Inter Bold" pitchFamily="34" charset="0"/>
                <a:ea typeface="Inter Bold" pitchFamily="34" charset="-122"/>
                <a:cs typeface="Inter Bold" pitchFamily="34" charset="-120"/>
              </a:rPr>
              <a:t>Admin-Driven Case Study Expansion</a:t>
            </a:r>
            <a:endParaRPr lang="en-US" sz="3400" dirty="0"/>
          </a:p>
        </p:txBody>
      </p:sp>
      <p:sp>
        <p:nvSpPr>
          <p:cNvPr id="5" name="Text 1"/>
          <p:cNvSpPr/>
          <p:nvPr/>
        </p:nvSpPr>
        <p:spPr>
          <a:xfrm>
            <a:off x="607814" y="1300996"/>
            <a:ext cx="4778097" cy="325636"/>
          </a:xfrm>
          <a:prstGeom prst="rect">
            <a:avLst/>
          </a:prstGeom>
          <a:noFill/>
          <a:ln/>
        </p:spPr>
        <p:txBody>
          <a:bodyPr wrap="none" lIns="0" tIns="0" rIns="0" bIns="0" rtlCol="0" anchor="t"/>
          <a:lstStyle/>
          <a:p>
            <a:pPr marL="0" indent="0" algn="l">
              <a:lnSpc>
                <a:spcPts val="2550"/>
              </a:lnSpc>
              <a:buNone/>
            </a:pPr>
            <a:r>
              <a:rPr lang="en-US" sz="2050" b="1" dirty="0">
                <a:solidFill>
                  <a:srgbClr val="000000"/>
                </a:solidFill>
                <a:latin typeface="Inter Bold" pitchFamily="34" charset="0"/>
                <a:ea typeface="Inter Bold" pitchFamily="34" charset="-122"/>
                <a:cs typeface="Inter Bold" pitchFamily="34" charset="-120"/>
              </a:rPr>
              <a:t>Unlocking BRIDGE beyond Julia Baker</a:t>
            </a:r>
            <a:endParaRPr lang="en-US" sz="2050" dirty="0"/>
          </a:p>
        </p:txBody>
      </p:sp>
      <p:sp>
        <p:nvSpPr>
          <p:cNvPr id="6" name="Shape 2"/>
          <p:cNvSpPr/>
          <p:nvPr/>
        </p:nvSpPr>
        <p:spPr>
          <a:xfrm>
            <a:off x="607814" y="1869400"/>
            <a:ext cx="7928372" cy="12978"/>
          </a:xfrm>
          <a:prstGeom prst="rect">
            <a:avLst/>
          </a:prstGeom>
          <a:solidFill>
            <a:srgbClr val="272525">
              <a:alpha val="50000"/>
            </a:srgbClr>
          </a:solidFill>
          <a:ln/>
        </p:spPr>
        <p:txBody>
          <a:bodyPr/>
          <a:lstStyle/>
          <a:p>
            <a:endParaRPr lang="en-US"/>
          </a:p>
        </p:txBody>
      </p:sp>
      <p:sp>
        <p:nvSpPr>
          <p:cNvPr id="7" name="Text 3"/>
          <p:cNvSpPr/>
          <p:nvPr/>
        </p:nvSpPr>
        <p:spPr>
          <a:xfrm>
            <a:off x="607814" y="2125147"/>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The Problem</a:t>
            </a:r>
            <a:endParaRPr lang="en-US" sz="1700" dirty="0"/>
          </a:p>
        </p:txBody>
      </p:sp>
      <p:sp>
        <p:nvSpPr>
          <p:cNvPr id="8" name="Text 4"/>
          <p:cNvSpPr/>
          <p:nvPr/>
        </p:nvSpPr>
        <p:spPr>
          <a:xfrm>
            <a:off x="607814" y="2595801"/>
            <a:ext cx="7928372" cy="490538"/>
          </a:xfrm>
          <a:prstGeom prst="rect">
            <a:avLst/>
          </a:prstGeom>
          <a:noFill/>
          <a:ln/>
        </p:spPr>
        <p:txBody>
          <a:bodyPr wrap="square" lIns="0" tIns="0" rIns="0" bIns="0" rtlCol="0" anchor="t"/>
          <a:lstStyle/>
          <a:p>
            <a:pPr marL="0" indent="0" algn="l">
              <a:lnSpc>
                <a:spcPts val="1900"/>
              </a:lnSpc>
              <a:buNone/>
            </a:pPr>
            <a:r>
              <a:rPr lang="en-US" sz="1350" dirty="0">
                <a:solidFill>
                  <a:srgbClr val="272525"/>
                </a:solidFill>
                <a:latin typeface="Inter" pitchFamily="34" charset="0"/>
                <a:ea typeface="Inter" pitchFamily="34" charset="-122"/>
                <a:cs typeface="Inter" pitchFamily="34" charset="-120"/>
              </a:rPr>
              <a:t>Baseline BRIDGE ships with a single opioid overdose scenario. Adding new cases required a code deploy and developer involvement.</a:t>
            </a:r>
            <a:endParaRPr lang="en-US" sz="1350" dirty="0"/>
          </a:p>
        </p:txBody>
      </p:sp>
      <p:sp>
        <p:nvSpPr>
          <p:cNvPr id="9" name="Shape 5"/>
          <p:cNvSpPr/>
          <p:nvPr/>
        </p:nvSpPr>
        <p:spPr>
          <a:xfrm>
            <a:off x="607814" y="3279219"/>
            <a:ext cx="7928372" cy="12978"/>
          </a:xfrm>
          <a:prstGeom prst="rect">
            <a:avLst/>
          </a:prstGeom>
          <a:solidFill>
            <a:srgbClr val="272525">
              <a:alpha val="50000"/>
            </a:srgbClr>
          </a:solidFill>
          <a:ln/>
        </p:spPr>
        <p:txBody>
          <a:bodyPr/>
          <a:lstStyle/>
          <a:p>
            <a:endParaRPr lang="en-US"/>
          </a:p>
        </p:txBody>
      </p:sp>
      <p:sp>
        <p:nvSpPr>
          <p:cNvPr id="10" name="Text 6"/>
          <p:cNvSpPr/>
          <p:nvPr/>
        </p:nvSpPr>
        <p:spPr>
          <a:xfrm>
            <a:off x="607814" y="3534966"/>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The Solution</a:t>
            </a:r>
            <a:endParaRPr lang="en-US" sz="1700" dirty="0"/>
          </a:p>
        </p:txBody>
      </p:sp>
      <p:sp>
        <p:nvSpPr>
          <p:cNvPr id="11" name="Text 7"/>
          <p:cNvSpPr/>
          <p:nvPr/>
        </p:nvSpPr>
        <p:spPr>
          <a:xfrm>
            <a:off x="607814" y="4005620"/>
            <a:ext cx="7928372" cy="490538"/>
          </a:xfrm>
          <a:prstGeom prst="rect">
            <a:avLst/>
          </a:prstGeom>
          <a:noFill/>
          <a:ln/>
        </p:spPr>
        <p:txBody>
          <a:bodyPr wrap="square" lIns="0" tIns="0" rIns="0" bIns="0" rtlCol="0" anchor="t"/>
          <a:lstStyle/>
          <a:p>
            <a:pPr marL="0" indent="0" algn="l">
              <a:lnSpc>
                <a:spcPts val="1900"/>
              </a:lnSpc>
              <a:buNone/>
            </a:pPr>
            <a:r>
              <a:rPr lang="en-US" sz="1350" dirty="0">
                <a:solidFill>
                  <a:srgbClr val="272525"/>
                </a:solidFill>
                <a:latin typeface="Inter" pitchFamily="34" charset="0"/>
                <a:ea typeface="Inter" pitchFamily="34" charset="-122"/>
                <a:cs typeface="Inter" pitchFamily="34" charset="-120"/>
              </a:rPr>
              <a:t>Instructors add new patient cases from a sidebar form: no code, no developer needed. New cases go live instantly for all students.</a:t>
            </a:r>
            <a:endParaRPr lang="en-US" sz="1350" dirty="0"/>
          </a:p>
        </p:txBody>
      </p:sp>
      <p:sp>
        <p:nvSpPr>
          <p:cNvPr id="12" name="Text 8"/>
          <p:cNvSpPr/>
          <p:nvPr/>
        </p:nvSpPr>
        <p:spPr>
          <a:xfrm>
            <a:off x="607814" y="4645700"/>
            <a:ext cx="7928372" cy="245269"/>
          </a:xfrm>
          <a:prstGeom prst="rect">
            <a:avLst/>
          </a:prstGeom>
          <a:noFill/>
          <a:ln/>
        </p:spPr>
        <p:txBody>
          <a:bodyPr wrap="none" lIns="0" tIns="0" rIns="0" bIns="0" rtlCol="0" anchor="t"/>
          <a:lstStyle/>
          <a:p>
            <a:pPr marL="0" indent="0" algn="l">
              <a:lnSpc>
                <a:spcPts val="1900"/>
              </a:lnSpc>
              <a:buNone/>
            </a:pPr>
            <a:r>
              <a:rPr lang="en-US" sz="1350" b="1" dirty="0">
                <a:solidFill>
                  <a:srgbClr val="272525"/>
                </a:solidFill>
                <a:latin typeface="Inter" pitchFamily="34" charset="0"/>
                <a:ea typeface="Inter" pitchFamily="34" charset="-122"/>
                <a:cs typeface="Inter" pitchFamily="34" charset="-120"/>
              </a:rPr>
              <a:t>Supported case types:</a:t>
            </a:r>
            <a:endParaRPr lang="en-US" sz="1350" dirty="0"/>
          </a:p>
        </p:txBody>
      </p:sp>
      <p:sp>
        <p:nvSpPr>
          <p:cNvPr id="13" name="Text 9"/>
          <p:cNvSpPr/>
          <p:nvPr/>
        </p:nvSpPr>
        <p:spPr>
          <a:xfrm>
            <a:off x="607814" y="5040511"/>
            <a:ext cx="7928372" cy="828675"/>
          </a:xfrm>
          <a:prstGeom prst="rect">
            <a:avLst/>
          </a:prstGeom>
          <a:noFill/>
          <a:ln/>
        </p:spPr>
        <p:txBody>
          <a:bodyPr wrap="square" lIns="0" tIns="0" rIns="0" bIns="0" rtlCol="0" anchor="t"/>
          <a:lstStyle/>
          <a:p>
            <a:pPr marL="342900" indent="-342900" algn="l">
              <a:lnSpc>
                <a:spcPts val="1900"/>
              </a:lnSpc>
              <a:buSzPct val="100000"/>
              <a:buChar char="•"/>
            </a:pPr>
            <a:r>
              <a:rPr lang="en-US" sz="1350" dirty="0">
                <a:solidFill>
                  <a:srgbClr val="272525"/>
                </a:solidFill>
                <a:latin typeface="Inter" pitchFamily="34" charset="0"/>
                <a:ea typeface="Inter" pitchFamily="34" charset="-122"/>
                <a:cs typeface="Inter" pitchFamily="34" charset="-120"/>
              </a:rPr>
              <a:t>Text-based scenarios (HPI, exam findings, labs)</a:t>
            </a:r>
            <a:endParaRPr lang="en-US" sz="1350" dirty="0"/>
          </a:p>
          <a:p>
            <a:pPr marL="342900" indent="-342900" algn="l">
              <a:lnSpc>
                <a:spcPts val="1900"/>
              </a:lnSpc>
              <a:buSzPct val="100000"/>
              <a:buChar char="•"/>
            </a:pPr>
            <a:r>
              <a:rPr lang="en-US" sz="1350" dirty="0">
                <a:solidFill>
                  <a:srgbClr val="272525"/>
                </a:solidFill>
                <a:latin typeface="Inter" pitchFamily="34" charset="0"/>
                <a:ea typeface="Inter" pitchFamily="34" charset="-122"/>
                <a:cs typeface="Inter" pitchFamily="34" charset="-120"/>
              </a:rPr>
              <a:t>Audio recordings of patient interviews</a:t>
            </a:r>
            <a:endParaRPr lang="en-US" sz="1350" dirty="0"/>
          </a:p>
          <a:p>
            <a:pPr marL="342900" indent="-342900" algn="l">
              <a:lnSpc>
                <a:spcPts val="1900"/>
              </a:lnSpc>
              <a:buSzPct val="100000"/>
              <a:buChar char="•"/>
            </a:pPr>
            <a:r>
              <a:rPr lang="en-US" sz="1350" dirty="0">
                <a:solidFill>
                  <a:srgbClr val="272525"/>
                </a:solidFill>
                <a:latin typeface="Inter" pitchFamily="34" charset="0"/>
                <a:ea typeface="Inter" pitchFamily="34" charset="-122"/>
                <a:cs typeface="Inter" pitchFamily="34" charset="-120"/>
              </a:rPr>
              <a:t>Video of clinical simulations or procedures</a:t>
            </a:r>
            <a:endParaRPr lang="en-US" sz="1350" dirty="0"/>
          </a:p>
        </p:txBody>
      </p:sp>
      <p:sp>
        <p:nvSpPr>
          <p:cNvPr id="14" name="Shape 10"/>
          <p:cNvSpPr/>
          <p:nvPr/>
        </p:nvSpPr>
        <p:spPr>
          <a:xfrm>
            <a:off x="607814" y="6062067"/>
            <a:ext cx="7928372" cy="12978"/>
          </a:xfrm>
          <a:prstGeom prst="rect">
            <a:avLst/>
          </a:prstGeom>
          <a:solidFill>
            <a:srgbClr val="272525">
              <a:alpha val="50000"/>
            </a:srgbClr>
          </a:solidFill>
          <a:ln/>
        </p:spPr>
        <p:txBody>
          <a:bodyPr/>
          <a:lstStyle/>
          <a:p>
            <a:endParaRPr lang="en-US"/>
          </a:p>
        </p:txBody>
      </p:sp>
      <p:sp>
        <p:nvSpPr>
          <p:cNvPr id="15" name="Text 11"/>
          <p:cNvSpPr/>
          <p:nvPr/>
        </p:nvSpPr>
        <p:spPr>
          <a:xfrm>
            <a:off x="607814" y="6317813"/>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Impact</a:t>
            </a:r>
            <a:endParaRPr lang="en-US" sz="1700" dirty="0"/>
          </a:p>
        </p:txBody>
      </p:sp>
      <p:sp>
        <p:nvSpPr>
          <p:cNvPr id="16" name="Text 12"/>
          <p:cNvSpPr/>
          <p:nvPr/>
        </p:nvSpPr>
        <p:spPr>
          <a:xfrm>
            <a:off x="607814" y="6788468"/>
            <a:ext cx="7928372" cy="735806"/>
          </a:xfrm>
          <a:prstGeom prst="rect">
            <a:avLst/>
          </a:prstGeom>
          <a:noFill/>
          <a:ln/>
        </p:spPr>
        <p:txBody>
          <a:bodyPr wrap="square" lIns="0" tIns="0" rIns="0" bIns="0" rtlCol="0" anchor="t"/>
          <a:lstStyle/>
          <a:p>
            <a:pPr marL="0" indent="0" algn="l">
              <a:lnSpc>
                <a:spcPts val="1900"/>
              </a:lnSpc>
              <a:buNone/>
            </a:pPr>
            <a:r>
              <a:rPr lang="en-US" sz="1350" dirty="0">
                <a:solidFill>
                  <a:srgbClr val="272525"/>
                </a:solidFill>
                <a:latin typeface="Inter" pitchFamily="34" charset="0"/>
                <a:ea typeface="Inter" pitchFamily="34" charset="-122"/>
                <a:cs typeface="Inter" pitchFamily="34" charset="-120"/>
              </a:rPr>
              <a:t>Separates content authoring from software engineering: instructors own the curriculum. Future-proofs BRIDGE for new domains: diabetes management, pediatric emergency, multi-morbidity cases.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9025" y="755213"/>
            <a:ext cx="5493425" cy="686633"/>
          </a:xfrm>
          <a:prstGeom prst="rect">
            <a:avLst/>
          </a:prstGeom>
          <a:noFill/>
          <a:ln/>
        </p:spPr>
        <p:txBody>
          <a:bodyPr wrap="none" lIns="0" tIns="0" rIns="0" bIns="0" rtlCol="0" anchor="t"/>
          <a:lstStyle/>
          <a:p>
            <a:pPr marL="0" indent="0" algn="l">
              <a:lnSpc>
                <a:spcPts val="5400"/>
              </a:lnSpc>
              <a:buNone/>
            </a:pPr>
            <a:r>
              <a:rPr lang="en-US" sz="4300" b="1" dirty="0">
                <a:solidFill>
                  <a:srgbClr val="000000"/>
                </a:solidFill>
                <a:latin typeface="Inter Bold" pitchFamily="34" charset="0"/>
                <a:ea typeface="Inter Bold" pitchFamily="34" charset="-122"/>
                <a:cs typeface="Inter Bold" pitchFamily="34" charset="-120"/>
              </a:rPr>
              <a:t>How We Validated It</a:t>
            </a:r>
            <a:endParaRPr lang="en-US" sz="4300" dirty="0"/>
          </a:p>
        </p:txBody>
      </p:sp>
      <p:sp>
        <p:nvSpPr>
          <p:cNvPr id="3" name="Text 1"/>
          <p:cNvSpPr/>
          <p:nvPr/>
        </p:nvSpPr>
        <p:spPr>
          <a:xfrm>
            <a:off x="769025" y="1526977"/>
            <a:ext cx="9391888" cy="411956"/>
          </a:xfrm>
          <a:prstGeom prst="rect">
            <a:avLst/>
          </a:prstGeom>
          <a:noFill/>
          <a:ln/>
        </p:spPr>
        <p:txBody>
          <a:bodyPr wrap="none" lIns="0" tIns="0" rIns="0" bIns="0" rtlCol="0" anchor="t"/>
          <a:lstStyle/>
          <a:p>
            <a:pPr marL="0" indent="0" algn="l">
              <a:lnSpc>
                <a:spcPts val="3200"/>
              </a:lnSpc>
              <a:buNone/>
            </a:pPr>
            <a:r>
              <a:rPr lang="en-US" sz="2550" b="1" dirty="0">
                <a:solidFill>
                  <a:srgbClr val="000000"/>
                </a:solidFill>
                <a:latin typeface="Inter Bold" pitchFamily="34" charset="0"/>
                <a:ea typeface="Inter Bold" pitchFamily="34" charset="-122"/>
                <a:cs typeface="Inter Bold" pitchFamily="34" charset="-120"/>
              </a:rPr>
              <a:t>Systematic testing across chunking, retrieval, and filtering</a:t>
            </a:r>
            <a:endParaRPr lang="en-US" sz="2550" dirty="0"/>
          </a:p>
        </p:txBody>
      </p:sp>
      <p:sp>
        <p:nvSpPr>
          <p:cNvPr id="4" name="Shape 2"/>
          <p:cNvSpPr/>
          <p:nvPr/>
        </p:nvSpPr>
        <p:spPr>
          <a:xfrm>
            <a:off x="769025" y="2313027"/>
            <a:ext cx="13092351" cy="16431"/>
          </a:xfrm>
          <a:prstGeom prst="rect">
            <a:avLst/>
          </a:prstGeom>
          <a:solidFill>
            <a:srgbClr val="272525">
              <a:alpha val="50000"/>
            </a:srgbClr>
          </a:solidFill>
          <a:ln/>
        </p:spPr>
        <p:txBody>
          <a:bodyPr/>
          <a:lstStyle/>
          <a:p>
            <a:endParaRPr lang="en-US"/>
          </a:p>
        </p:txBody>
      </p:sp>
      <p:sp>
        <p:nvSpPr>
          <p:cNvPr id="5" name="Text 3"/>
          <p:cNvSpPr/>
          <p:nvPr/>
        </p:nvSpPr>
        <p:spPr>
          <a:xfrm>
            <a:off x="769025" y="2623780"/>
            <a:ext cx="13092351" cy="346115"/>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We tested the system rigorously across three dimensions to make sure the results were reliable, repeatable, and cost-aware.</a:t>
            </a:r>
            <a:endParaRPr lang="en-US" sz="1700" dirty="0"/>
          </a:p>
        </p:txBody>
      </p:sp>
      <p:sp>
        <p:nvSpPr>
          <p:cNvPr id="6" name="Text 4"/>
          <p:cNvSpPr/>
          <p:nvPr/>
        </p:nvSpPr>
        <p:spPr>
          <a:xfrm>
            <a:off x="769025" y="3209330"/>
            <a:ext cx="13092351" cy="2225516"/>
          </a:xfrm>
          <a:prstGeom prst="rect">
            <a:avLst/>
          </a:prstGeom>
          <a:noFill/>
          <a:ln/>
        </p:spPr>
        <p:txBody>
          <a:bodyPr wrap="square" lIns="0" tIns="0" rIns="0" bIns="0" rtlCol="0" anchor="t"/>
          <a:lstStyle/>
          <a:p>
            <a:pPr marL="342900" indent="-342900" algn="l">
              <a:lnSpc>
                <a:spcPts val="2700"/>
              </a:lnSpc>
              <a:buSzPct val="100000"/>
              <a:buFont typeface="+mj-lt"/>
              <a:buAutoNum type="arabicPeriod"/>
            </a:pPr>
            <a:r>
              <a:rPr lang="en-US" sz="1700" b="1" dirty="0">
                <a:solidFill>
                  <a:srgbClr val="272525"/>
                </a:solidFill>
                <a:latin typeface="Inter" pitchFamily="34" charset="0"/>
                <a:ea typeface="Inter" pitchFamily="34" charset="-122"/>
                <a:cs typeface="Inter" pitchFamily="34" charset="-120"/>
              </a:rPr>
              <a:t>Chunking strategies</a:t>
            </a:r>
            <a:r>
              <a:rPr lang="en-US" sz="1700" dirty="0">
                <a:solidFill>
                  <a:srgbClr val="272525"/>
                </a:solidFill>
                <a:latin typeface="Inter" pitchFamily="34" charset="0"/>
                <a:ea typeface="Inter" pitchFamily="34" charset="-122"/>
                <a:cs typeface="Inter" pitchFamily="34" charset="-120"/>
              </a:rPr>
              <a:t> — 5 approaches × 4 token budgets × 4 retrieval depths = 80 configurations tested to find the best balance between quality and cost.</a:t>
            </a:r>
            <a:endParaRPr lang="en-US" sz="1700" dirty="0"/>
          </a:p>
          <a:p>
            <a:pPr marL="342900" indent="-342900" algn="l">
              <a:lnSpc>
                <a:spcPts val="2700"/>
              </a:lnSpc>
              <a:buSzPct val="100000"/>
              <a:buFont typeface="+mj-lt"/>
              <a:buAutoNum type="arabicPeriod" startAt="2"/>
            </a:pPr>
            <a:r>
              <a:rPr lang="en-US" sz="1700" b="1" dirty="0">
                <a:solidFill>
                  <a:srgbClr val="272525"/>
                </a:solidFill>
                <a:latin typeface="Inter" pitchFamily="34" charset="0"/>
                <a:ea typeface="Inter" pitchFamily="34" charset="-122"/>
                <a:cs typeface="Inter" pitchFamily="34" charset="-120"/>
              </a:rPr>
              <a:t>Retrieval models</a:t>
            </a:r>
            <a:r>
              <a:rPr lang="en-US" sz="1700" dirty="0">
                <a:solidFill>
                  <a:srgbClr val="272525"/>
                </a:solidFill>
                <a:latin typeface="Inter" pitchFamily="34" charset="0"/>
                <a:ea typeface="Inter" pitchFamily="34" charset="-122"/>
                <a:cs typeface="Inter" pitchFamily="34" charset="-120"/>
              </a:rPr>
              <a:t> — 7 embedding and search models, spanning dense neural and sparse lexical methods, to determine what performs best on clinical text.</a:t>
            </a:r>
            <a:endParaRPr lang="en-US" sz="1700" dirty="0"/>
          </a:p>
          <a:p>
            <a:pPr marL="342900" indent="-342900" algn="l">
              <a:lnSpc>
                <a:spcPts val="2700"/>
              </a:lnSpc>
              <a:buSzPct val="100000"/>
              <a:buFont typeface="+mj-lt"/>
              <a:buAutoNum type="arabicPeriod" startAt="3"/>
            </a:pPr>
            <a:r>
              <a:rPr lang="en-US" sz="1700" b="1" dirty="0">
                <a:solidFill>
                  <a:srgbClr val="272525"/>
                </a:solidFill>
                <a:latin typeface="Inter" pitchFamily="34" charset="0"/>
                <a:ea typeface="Inter" pitchFamily="34" charset="-122"/>
                <a:cs typeface="Inter" pitchFamily="34" charset="-120"/>
              </a:rPr>
              <a:t>Filtering approaches</a:t>
            </a:r>
            <a:r>
              <a:rPr lang="en-US" sz="1700" dirty="0">
                <a:solidFill>
                  <a:srgbClr val="272525"/>
                </a:solidFill>
                <a:latin typeface="Inter" pitchFamily="34" charset="0"/>
                <a:ea typeface="Inter" pitchFamily="34" charset="-122"/>
                <a:cs typeface="Inter" pitchFamily="34" charset="-120"/>
              </a:rPr>
              <a:t> — Topic-based vs. profession-based filtering to identify which metadata strategy improves retrieval accuracy.</a:t>
            </a:r>
            <a:endParaRPr lang="en-US" sz="1700" dirty="0"/>
          </a:p>
        </p:txBody>
      </p:sp>
      <p:sp>
        <p:nvSpPr>
          <p:cNvPr id="7" name="Shape 5"/>
          <p:cNvSpPr/>
          <p:nvPr/>
        </p:nvSpPr>
        <p:spPr>
          <a:xfrm>
            <a:off x="769025" y="5729168"/>
            <a:ext cx="13092351" cy="16431"/>
          </a:xfrm>
          <a:prstGeom prst="rect">
            <a:avLst/>
          </a:prstGeom>
          <a:solidFill>
            <a:srgbClr val="272525">
              <a:alpha val="50000"/>
            </a:srgbClr>
          </a:solidFill>
          <a:ln/>
        </p:spPr>
        <p:txBody>
          <a:bodyPr/>
          <a:lstStyle/>
          <a:p>
            <a:endParaRPr lang="en-US"/>
          </a:p>
        </p:txBody>
      </p:sp>
      <p:sp>
        <p:nvSpPr>
          <p:cNvPr id="8" name="Text 6"/>
          <p:cNvSpPr/>
          <p:nvPr/>
        </p:nvSpPr>
        <p:spPr>
          <a:xfrm>
            <a:off x="769025" y="6119693"/>
            <a:ext cx="2746653" cy="343257"/>
          </a:xfrm>
          <a:prstGeom prst="rect">
            <a:avLst/>
          </a:prstGeom>
          <a:noFill/>
          <a:ln/>
        </p:spPr>
        <p:txBody>
          <a:bodyPr wrap="none" lIns="0" tIns="0" rIns="0" bIns="0" rtlCol="0" anchor="t"/>
          <a:lstStyle/>
          <a:p>
            <a:pPr marL="0" indent="0" algn="l">
              <a:lnSpc>
                <a:spcPts val="2700"/>
              </a:lnSpc>
              <a:buNone/>
            </a:pPr>
            <a:r>
              <a:rPr lang="en-US" sz="2150" b="1" dirty="0">
                <a:solidFill>
                  <a:srgbClr val="000000"/>
                </a:solidFill>
                <a:latin typeface="Inter Bold" pitchFamily="34" charset="0"/>
                <a:ea typeface="Inter Bold" pitchFamily="34" charset="-122"/>
                <a:cs typeface="Inter Bold" pitchFamily="34" charset="-120"/>
              </a:rPr>
              <a:t>Result</a:t>
            </a:r>
            <a:endParaRPr lang="en-US" sz="2150" dirty="0"/>
          </a:p>
        </p:txBody>
      </p:sp>
      <p:sp>
        <p:nvSpPr>
          <p:cNvPr id="9" name="Text 7"/>
          <p:cNvSpPr/>
          <p:nvPr/>
        </p:nvSpPr>
        <p:spPr>
          <a:xfrm>
            <a:off x="769025" y="6782157"/>
            <a:ext cx="13092351" cy="692229"/>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Recursive chunking at 7000 tokens with k=7 retrieval depth, using BGE-M3 embeddings and profession-based filtering, delivered the best trade-off between response quality and computational cost.</a:t>
            </a:r>
            <a:endParaRPr lang="en-US" sz="1700" dirty="0"/>
          </a:p>
        </p:txBody>
      </p:sp>
      <p:sp>
        <p:nvSpPr>
          <p:cNvPr id="10" name="Rectangle 9">
            <a:extLst>
              <a:ext uri="{FF2B5EF4-FFF2-40B4-BE49-F238E27FC236}">
                <a16:creationId xmlns:a16="http://schemas.microsoft.com/office/drawing/2014/main" id="{98EB0665-FDEE-2F1E-505A-64749612FFE7}"/>
              </a:ext>
            </a:extLst>
          </p:cNvPr>
          <p:cNvSpPr/>
          <p:nvPr/>
        </p:nvSpPr>
        <p:spPr>
          <a:xfrm>
            <a:off x="12789074" y="7690981"/>
            <a:ext cx="1841326" cy="53861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935123" y="511493"/>
            <a:ext cx="4732258" cy="487204"/>
          </a:xfrm>
          <a:prstGeom prst="rect">
            <a:avLst/>
          </a:prstGeom>
          <a:noFill/>
          <a:ln/>
        </p:spPr>
        <p:txBody>
          <a:bodyPr wrap="none" lIns="0" tIns="0" rIns="0" bIns="0" rtlCol="0" anchor="t"/>
          <a:lstStyle/>
          <a:p>
            <a:pPr marL="0" indent="0" algn="l">
              <a:lnSpc>
                <a:spcPts val="3800"/>
              </a:lnSpc>
              <a:buNone/>
            </a:pPr>
            <a:r>
              <a:rPr lang="en-US" sz="3050" b="1" dirty="0">
                <a:solidFill>
                  <a:srgbClr val="000000"/>
                </a:solidFill>
                <a:latin typeface="Inter Bold" pitchFamily="34" charset="0"/>
                <a:ea typeface="Inter Bold" pitchFamily="34" charset="-122"/>
                <a:cs typeface="Inter Bold" pitchFamily="34" charset="-120"/>
              </a:rPr>
              <a:t>Personalization in Action</a:t>
            </a:r>
            <a:endParaRPr lang="en-US" sz="3050" dirty="0"/>
          </a:p>
        </p:txBody>
      </p:sp>
      <p:sp>
        <p:nvSpPr>
          <p:cNvPr id="3" name="Shape 1"/>
          <p:cNvSpPr/>
          <p:nvPr/>
        </p:nvSpPr>
        <p:spPr>
          <a:xfrm>
            <a:off x="1935123" y="1198364"/>
            <a:ext cx="10760035" cy="11668"/>
          </a:xfrm>
          <a:prstGeom prst="rect">
            <a:avLst/>
          </a:prstGeom>
          <a:solidFill>
            <a:srgbClr val="272525">
              <a:alpha val="50000"/>
            </a:srgbClr>
          </a:solidFill>
          <a:ln/>
        </p:spPr>
        <p:txBody>
          <a:bodyPr/>
          <a:lstStyle/>
          <a:p>
            <a:endParaRPr lang="en-US"/>
          </a:p>
        </p:txBody>
      </p:sp>
      <p:sp>
        <p:nvSpPr>
          <p:cNvPr id="4" name="Text 2"/>
          <p:cNvSpPr/>
          <p:nvPr/>
        </p:nvSpPr>
        <p:spPr>
          <a:xfrm>
            <a:off x="1935123" y="1369576"/>
            <a:ext cx="10760035" cy="210502"/>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The same question gets different answers depending on who's asking and which agent responds.</a:t>
            </a:r>
            <a:endParaRPr lang="en-US" sz="1200" dirty="0"/>
          </a:p>
        </p:txBody>
      </p:sp>
      <p:sp>
        <p:nvSpPr>
          <p:cNvPr id="5" name="Text 3"/>
          <p:cNvSpPr/>
          <p:nvPr/>
        </p:nvSpPr>
        <p:spPr>
          <a:xfrm>
            <a:off x="1935123" y="1740813"/>
            <a:ext cx="3544610" cy="292418"/>
          </a:xfrm>
          <a:prstGeom prst="rect">
            <a:avLst/>
          </a:prstGeom>
          <a:noFill/>
          <a:ln/>
        </p:spPr>
        <p:txBody>
          <a:bodyPr wrap="none" lIns="0" tIns="0" rIns="0" bIns="0" rtlCol="0" anchor="t"/>
          <a:lstStyle/>
          <a:p>
            <a:pPr marL="0" indent="0" algn="l">
              <a:lnSpc>
                <a:spcPts val="2300"/>
              </a:lnSpc>
              <a:buNone/>
            </a:pPr>
            <a:r>
              <a:rPr lang="en-US" sz="1800" b="1" dirty="0">
                <a:solidFill>
                  <a:srgbClr val="000000"/>
                </a:solidFill>
                <a:latin typeface="Inter Bold" pitchFamily="34" charset="0"/>
                <a:ea typeface="Inter Bold" pitchFamily="34" charset="-122"/>
                <a:cs typeface="Inter Bold" pitchFamily="34" charset="-120"/>
              </a:rPr>
              <a:t>Example 1: User Profile Matters</a:t>
            </a:r>
            <a:endParaRPr lang="en-US" sz="1800" dirty="0"/>
          </a:p>
        </p:txBody>
      </p:sp>
      <p:sp>
        <p:nvSpPr>
          <p:cNvPr id="6" name="Text 4"/>
          <p:cNvSpPr/>
          <p:nvPr/>
        </p:nvSpPr>
        <p:spPr>
          <a:xfrm>
            <a:off x="1935123" y="2193965"/>
            <a:ext cx="10760035" cy="210502"/>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Question:</a:t>
            </a:r>
            <a:r>
              <a:rPr lang="en-US" sz="1200" dirty="0">
                <a:solidFill>
                  <a:srgbClr val="272525"/>
                </a:solidFill>
                <a:latin typeface="Inter" pitchFamily="34" charset="0"/>
                <a:ea typeface="Inter" pitchFamily="34" charset="-122"/>
                <a:cs typeface="Inter" pitchFamily="34" charset="-120"/>
              </a:rPr>
              <a:t> "What should I do if a patient is in opioid withdrawal?"</a:t>
            </a:r>
            <a:endParaRPr lang="en-US" sz="1200" dirty="0"/>
          </a:p>
        </p:txBody>
      </p:sp>
      <p:sp>
        <p:nvSpPr>
          <p:cNvPr id="7" name="Shape 5"/>
          <p:cNvSpPr/>
          <p:nvPr/>
        </p:nvSpPr>
        <p:spPr>
          <a:xfrm>
            <a:off x="1822847" y="2525078"/>
            <a:ext cx="5414367" cy="1396365"/>
          </a:xfrm>
          <a:prstGeom prst="roundRect">
            <a:avLst>
              <a:gd name="adj" fmla="val 8041"/>
            </a:avLst>
          </a:prstGeom>
          <a:solidFill>
            <a:srgbClr val="F3F7FF"/>
          </a:solidFill>
          <a:ln/>
        </p:spPr>
        <p:txBody>
          <a:bodyPr/>
          <a:lstStyle/>
          <a:p>
            <a:endParaRPr lang="en-US"/>
          </a:p>
        </p:txBody>
      </p:sp>
      <p:sp>
        <p:nvSpPr>
          <p:cNvPr id="8" name="Text 6"/>
          <p:cNvSpPr/>
          <p:nvPr/>
        </p:nvSpPr>
        <p:spPr>
          <a:xfrm>
            <a:off x="1978700" y="2632234"/>
            <a:ext cx="3023473" cy="243602"/>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First-year nursing student gets:</a:t>
            </a:r>
            <a:endParaRPr lang="en-US" sz="1500" dirty="0"/>
          </a:p>
        </p:txBody>
      </p:sp>
      <p:sp>
        <p:nvSpPr>
          <p:cNvPr id="9" name="Text 7"/>
          <p:cNvSpPr/>
          <p:nvPr/>
        </p:nvSpPr>
        <p:spPr>
          <a:xfrm>
            <a:off x="1978700" y="2982992"/>
            <a:ext cx="5102662" cy="842010"/>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"Withdrawal is uncomfortable but not life-threatening. Common symptoms include body aches, sweating, and anxiety. Your role is to provide comfort measures and monitor vital signs. The physician will prescribe medications."</a:t>
            </a:r>
            <a:endParaRPr lang="en-US" sz="1200" dirty="0"/>
          </a:p>
        </p:txBody>
      </p:sp>
      <p:sp>
        <p:nvSpPr>
          <p:cNvPr id="10" name="Shape 8"/>
          <p:cNvSpPr/>
          <p:nvPr/>
        </p:nvSpPr>
        <p:spPr>
          <a:xfrm>
            <a:off x="7400568" y="2525078"/>
            <a:ext cx="5414367" cy="1396365"/>
          </a:xfrm>
          <a:prstGeom prst="roundRect">
            <a:avLst>
              <a:gd name="adj" fmla="val 8041"/>
            </a:avLst>
          </a:prstGeom>
          <a:solidFill>
            <a:srgbClr val="F5FBF6"/>
          </a:solidFill>
          <a:ln/>
        </p:spPr>
        <p:txBody>
          <a:bodyPr/>
          <a:lstStyle/>
          <a:p>
            <a:endParaRPr lang="en-US"/>
          </a:p>
        </p:txBody>
      </p:sp>
      <p:sp>
        <p:nvSpPr>
          <p:cNvPr id="11" name="Text 9"/>
          <p:cNvSpPr/>
          <p:nvPr/>
        </p:nvSpPr>
        <p:spPr>
          <a:xfrm>
            <a:off x="7556421" y="2632234"/>
            <a:ext cx="4452580" cy="243602"/>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Practicing PA with 10 years of experience gets:</a:t>
            </a:r>
            <a:endParaRPr lang="en-US" sz="1500" dirty="0"/>
          </a:p>
        </p:txBody>
      </p:sp>
      <p:sp>
        <p:nvSpPr>
          <p:cNvPr id="12" name="Text 10"/>
          <p:cNvSpPr/>
          <p:nvPr/>
        </p:nvSpPr>
        <p:spPr>
          <a:xfrm>
            <a:off x="7556421" y="2982992"/>
            <a:ext cx="5102662" cy="842010"/>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"Acute withdrawal management: consider buprenorphine induction (2-4 mg sublingual) or clonidine for sympathomimetic symptoms. Monitor for dehydration and electrolyte imbalance. Refer to addiction medicine if complex comorbidities present."</a:t>
            </a:r>
            <a:endParaRPr lang="en-US" sz="1200" dirty="0"/>
          </a:p>
        </p:txBody>
      </p:sp>
      <p:sp>
        <p:nvSpPr>
          <p:cNvPr id="13" name="Shape 11"/>
          <p:cNvSpPr/>
          <p:nvPr/>
        </p:nvSpPr>
        <p:spPr>
          <a:xfrm>
            <a:off x="1935123" y="4080986"/>
            <a:ext cx="10760035" cy="11668"/>
          </a:xfrm>
          <a:prstGeom prst="rect">
            <a:avLst/>
          </a:prstGeom>
          <a:solidFill>
            <a:srgbClr val="272525">
              <a:alpha val="50000"/>
            </a:srgbClr>
          </a:solidFill>
          <a:ln/>
        </p:spPr>
        <p:txBody>
          <a:bodyPr/>
          <a:lstStyle/>
          <a:p>
            <a:endParaRPr lang="en-US"/>
          </a:p>
        </p:txBody>
      </p:sp>
      <p:sp>
        <p:nvSpPr>
          <p:cNvPr id="14" name="Text 12"/>
          <p:cNvSpPr/>
          <p:nvPr/>
        </p:nvSpPr>
        <p:spPr>
          <a:xfrm>
            <a:off x="1935123" y="4292322"/>
            <a:ext cx="3493294" cy="292418"/>
          </a:xfrm>
          <a:prstGeom prst="rect">
            <a:avLst/>
          </a:prstGeom>
          <a:noFill/>
          <a:ln/>
        </p:spPr>
        <p:txBody>
          <a:bodyPr wrap="none" lIns="0" tIns="0" rIns="0" bIns="0" rtlCol="0" anchor="t"/>
          <a:lstStyle/>
          <a:p>
            <a:pPr marL="0" indent="0" algn="l">
              <a:lnSpc>
                <a:spcPts val="2300"/>
              </a:lnSpc>
              <a:buNone/>
            </a:pPr>
            <a:r>
              <a:rPr lang="en-US" sz="1800" b="1" dirty="0">
                <a:solidFill>
                  <a:srgbClr val="000000"/>
                </a:solidFill>
                <a:latin typeface="Inter Bold" pitchFamily="34" charset="0"/>
                <a:ea typeface="Inter Bold" pitchFamily="34" charset="-122"/>
                <a:cs typeface="Inter Bold" pitchFamily="34" charset="-120"/>
              </a:rPr>
              <a:t>Example 2: Agent Role Matters</a:t>
            </a:r>
            <a:endParaRPr lang="en-US" sz="1800" dirty="0"/>
          </a:p>
        </p:txBody>
      </p:sp>
      <p:sp>
        <p:nvSpPr>
          <p:cNvPr id="15" name="Text 13"/>
          <p:cNvSpPr/>
          <p:nvPr/>
        </p:nvSpPr>
        <p:spPr>
          <a:xfrm>
            <a:off x="1935123" y="4745474"/>
            <a:ext cx="10760035" cy="210502"/>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Same overdose scenario, different professional lenses:</a:t>
            </a:r>
            <a:endParaRPr lang="en-US" sz="1200" dirty="0"/>
          </a:p>
        </p:txBody>
      </p:sp>
      <p:sp>
        <p:nvSpPr>
          <p:cNvPr id="16" name="Shape 14"/>
          <p:cNvSpPr/>
          <p:nvPr/>
        </p:nvSpPr>
        <p:spPr>
          <a:xfrm>
            <a:off x="1822847" y="5076587"/>
            <a:ext cx="3520559" cy="1396365"/>
          </a:xfrm>
          <a:prstGeom prst="roundRect">
            <a:avLst>
              <a:gd name="adj" fmla="val 8041"/>
            </a:avLst>
          </a:prstGeom>
          <a:solidFill>
            <a:srgbClr val="FFF7ED"/>
          </a:solidFill>
          <a:ln/>
        </p:spPr>
        <p:txBody>
          <a:bodyPr/>
          <a:lstStyle/>
          <a:p>
            <a:endParaRPr lang="en-US"/>
          </a:p>
        </p:txBody>
      </p:sp>
      <p:sp>
        <p:nvSpPr>
          <p:cNvPr id="17" name="Text 15"/>
          <p:cNvSpPr/>
          <p:nvPr/>
        </p:nvSpPr>
        <p:spPr>
          <a:xfrm>
            <a:off x="1978700" y="5183743"/>
            <a:ext cx="1949291" cy="243602"/>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Nurse response</a:t>
            </a:r>
            <a:endParaRPr lang="en-US" sz="1500" dirty="0"/>
          </a:p>
        </p:txBody>
      </p:sp>
      <p:sp>
        <p:nvSpPr>
          <p:cNvPr id="18" name="Text 16"/>
          <p:cNvSpPr/>
          <p:nvPr/>
        </p:nvSpPr>
        <p:spPr>
          <a:xfrm>
            <a:off x="1978700" y="5534501"/>
            <a:ext cx="3208853" cy="631507"/>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"Check airway, breathing, circulation. Administer naloxone IM or IV. Monitor for re-sedation."</a:t>
            </a:r>
            <a:endParaRPr lang="en-US" sz="1200" dirty="0"/>
          </a:p>
        </p:txBody>
      </p:sp>
      <p:sp>
        <p:nvSpPr>
          <p:cNvPr id="19" name="Shape 17"/>
          <p:cNvSpPr/>
          <p:nvPr/>
        </p:nvSpPr>
        <p:spPr>
          <a:xfrm>
            <a:off x="5506760" y="5076587"/>
            <a:ext cx="3631883" cy="1396365"/>
          </a:xfrm>
          <a:prstGeom prst="roundRect">
            <a:avLst>
              <a:gd name="adj" fmla="val 8041"/>
            </a:avLst>
          </a:prstGeom>
          <a:solidFill>
            <a:srgbClr val="F7F3FF"/>
          </a:solidFill>
          <a:ln/>
        </p:spPr>
        <p:txBody>
          <a:bodyPr/>
          <a:lstStyle/>
          <a:p>
            <a:endParaRPr lang="en-US"/>
          </a:p>
        </p:txBody>
      </p:sp>
      <p:sp>
        <p:nvSpPr>
          <p:cNvPr id="20" name="Text 18"/>
          <p:cNvSpPr/>
          <p:nvPr/>
        </p:nvSpPr>
        <p:spPr>
          <a:xfrm>
            <a:off x="5662613" y="5183743"/>
            <a:ext cx="2260521" cy="243602"/>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Social Worker response</a:t>
            </a:r>
            <a:endParaRPr lang="en-US" sz="1500" dirty="0"/>
          </a:p>
        </p:txBody>
      </p:sp>
      <p:sp>
        <p:nvSpPr>
          <p:cNvPr id="21" name="Text 19"/>
          <p:cNvSpPr/>
          <p:nvPr/>
        </p:nvSpPr>
        <p:spPr>
          <a:xfrm>
            <a:off x="5662613" y="5534501"/>
            <a:ext cx="3320177" cy="842010"/>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"Connect patient with harm reduction services, housing support, and community recovery programs. Assess for trauma and mental health needs."</a:t>
            </a:r>
            <a:endParaRPr lang="en-US" sz="1200" dirty="0"/>
          </a:p>
        </p:txBody>
      </p:sp>
      <p:sp>
        <p:nvSpPr>
          <p:cNvPr id="22" name="Shape 20"/>
          <p:cNvSpPr/>
          <p:nvPr/>
        </p:nvSpPr>
        <p:spPr>
          <a:xfrm>
            <a:off x="9301996" y="5076587"/>
            <a:ext cx="3520559" cy="1396365"/>
          </a:xfrm>
          <a:prstGeom prst="roundRect">
            <a:avLst>
              <a:gd name="adj" fmla="val 8041"/>
            </a:avLst>
          </a:prstGeom>
          <a:solidFill>
            <a:srgbClr val="EEF7FF"/>
          </a:solidFill>
          <a:ln/>
        </p:spPr>
        <p:txBody>
          <a:bodyPr/>
          <a:lstStyle/>
          <a:p>
            <a:endParaRPr lang="en-US"/>
          </a:p>
        </p:txBody>
      </p:sp>
      <p:sp>
        <p:nvSpPr>
          <p:cNvPr id="23" name="Text 21"/>
          <p:cNvSpPr/>
          <p:nvPr/>
        </p:nvSpPr>
        <p:spPr>
          <a:xfrm>
            <a:off x="9457849" y="5183743"/>
            <a:ext cx="1949291" cy="243602"/>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Physician response</a:t>
            </a:r>
            <a:endParaRPr lang="en-US" sz="1500" dirty="0"/>
          </a:p>
        </p:txBody>
      </p:sp>
      <p:sp>
        <p:nvSpPr>
          <p:cNvPr id="24" name="Text 22"/>
          <p:cNvSpPr/>
          <p:nvPr/>
        </p:nvSpPr>
        <p:spPr>
          <a:xfrm>
            <a:off x="9457849" y="5534501"/>
            <a:ext cx="3208853" cy="842010"/>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"Assess for other drug involvement. Consider ICU admission if respiratory depression severe. Plan medication-assisted treatment."</a:t>
            </a:r>
            <a:endParaRPr lang="en-US" sz="1200" dirty="0"/>
          </a:p>
        </p:txBody>
      </p:sp>
      <p:sp>
        <p:nvSpPr>
          <p:cNvPr id="25" name="Shape 23"/>
          <p:cNvSpPr/>
          <p:nvPr/>
        </p:nvSpPr>
        <p:spPr>
          <a:xfrm>
            <a:off x="1935123" y="6632496"/>
            <a:ext cx="10760035" cy="11668"/>
          </a:xfrm>
          <a:prstGeom prst="rect">
            <a:avLst/>
          </a:prstGeom>
          <a:solidFill>
            <a:srgbClr val="272525">
              <a:alpha val="50000"/>
            </a:srgbClr>
          </a:solidFill>
          <a:ln/>
        </p:spPr>
        <p:txBody>
          <a:bodyPr/>
          <a:lstStyle/>
          <a:p>
            <a:endParaRPr lang="en-US"/>
          </a:p>
        </p:txBody>
      </p:sp>
      <p:sp>
        <p:nvSpPr>
          <p:cNvPr id="26" name="Text 24"/>
          <p:cNvSpPr/>
          <p:nvPr/>
        </p:nvSpPr>
        <p:spPr>
          <a:xfrm>
            <a:off x="1935123" y="6843832"/>
            <a:ext cx="2339102" cy="292418"/>
          </a:xfrm>
          <a:prstGeom prst="rect">
            <a:avLst/>
          </a:prstGeom>
          <a:noFill/>
          <a:ln/>
        </p:spPr>
        <p:txBody>
          <a:bodyPr wrap="none" lIns="0" tIns="0" rIns="0" bIns="0" rtlCol="0" anchor="t"/>
          <a:lstStyle/>
          <a:p>
            <a:pPr marL="0" indent="0" algn="l">
              <a:lnSpc>
                <a:spcPts val="2300"/>
              </a:lnSpc>
              <a:buNone/>
            </a:pPr>
            <a:r>
              <a:rPr lang="en-US" sz="1800" b="1" dirty="0">
                <a:solidFill>
                  <a:srgbClr val="000000"/>
                </a:solidFill>
                <a:latin typeface="Inter Bold" pitchFamily="34" charset="0"/>
                <a:ea typeface="Inter Bold" pitchFamily="34" charset="-122"/>
                <a:cs typeface="Inter Bold" pitchFamily="34" charset="-120"/>
              </a:rPr>
              <a:t>Why It Works</a:t>
            </a:r>
            <a:endParaRPr lang="en-US" sz="1800" dirty="0"/>
          </a:p>
        </p:txBody>
      </p:sp>
      <p:sp>
        <p:nvSpPr>
          <p:cNvPr id="27" name="Text 25"/>
          <p:cNvSpPr/>
          <p:nvPr/>
        </p:nvSpPr>
        <p:spPr>
          <a:xfrm>
            <a:off x="1935123" y="7296983"/>
            <a:ext cx="10760035" cy="421005"/>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Each agent draws from its own profession's evidence base. Students see how different healthcare roles approach the same clinical situation and that's interprofessional education.</a:t>
            </a:r>
            <a:endParaRPr lang="en-US" sz="1200" dirty="0"/>
          </a:p>
        </p:txBody>
      </p:sp>
      <p:sp>
        <p:nvSpPr>
          <p:cNvPr id="28" name="Rectangle 27">
            <a:extLst>
              <a:ext uri="{FF2B5EF4-FFF2-40B4-BE49-F238E27FC236}">
                <a16:creationId xmlns:a16="http://schemas.microsoft.com/office/drawing/2014/main" id="{5886A4C6-2A2D-E308-0C90-92381CA468BA}"/>
              </a:ext>
            </a:extLst>
          </p:cNvPr>
          <p:cNvSpPr/>
          <p:nvPr/>
        </p:nvSpPr>
        <p:spPr>
          <a:xfrm>
            <a:off x="12814935" y="7628351"/>
            <a:ext cx="1815465" cy="6012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2228" y="570190"/>
            <a:ext cx="6165056" cy="609124"/>
          </a:xfrm>
          <a:prstGeom prst="rect">
            <a:avLst/>
          </a:prstGeom>
          <a:noFill/>
          <a:ln/>
        </p:spPr>
        <p:txBody>
          <a:bodyPr wrap="none" lIns="0" tIns="0" rIns="0" bIns="0" rtlCol="0" anchor="t"/>
          <a:lstStyle/>
          <a:p>
            <a:pPr marL="0" indent="0" algn="l">
              <a:lnSpc>
                <a:spcPts val="4750"/>
              </a:lnSpc>
              <a:buNone/>
            </a:pPr>
            <a:r>
              <a:rPr lang="en-US" sz="3800" b="1" dirty="0">
                <a:solidFill>
                  <a:srgbClr val="000000"/>
                </a:solidFill>
                <a:latin typeface="Inter Bold" pitchFamily="34" charset="0"/>
                <a:ea typeface="Inter Bold" pitchFamily="34" charset="-122"/>
                <a:cs typeface="Inter Bold" pitchFamily="34" charset="-120"/>
              </a:rPr>
              <a:t>Conclusion &amp; Future Work</a:t>
            </a:r>
            <a:endParaRPr lang="en-US" sz="3800" dirty="0"/>
          </a:p>
        </p:txBody>
      </p:sp>
      <p:sp>
        <p:nvSpPr>
          <p:cNvPr id="3" name="Text 1"/>
          <p:cNvSpPr/>
          <p:nvPr/>
        </p:nvSpPr>
        <p:spPr>
          <a:xfrm>
            <a:off x="682228" y="1246227"/>
            <a:ext cx="3146465" cy="365522"/>
          </a:xfrm>
          <a:prstGeom prst="rect">
            <a:avLst/>
          </a:prstGeom>
          <a:noFill/>
          <a:ln/>
        </p:spPr>
        <p:txBody>
          <a:bodyPr wrap="none" lIns="0" tIns="0" rIns="0" bIns="0" rtlCol="0" anchor="t"/>
          <a:lstStyle/>
          <a:p>
            <a:pPr marL="0" indent="0" algn="l">
              <a:lnSpc>
                <a:spcPts val="2850"/>
              </a:lnSpc>
              <a:buNone/>
            </a:pPr>
            <a:r>
              <a:rPr lang="en-US" sz="2300" b="1" dirty="0">
                <a:solidFill>
                  <a:srgbClr val="000000"/>
                </a:solidFill>
                <a:latin typeface="Inter Bold" pitchFamily="34" charset="0"/>
                <a:ea typeface="Inter Bold" pitchFamily="34" charset="-122"/>
                <a:cs typeface="Inter Bold" pitchFamily="34" charset="-120"/>
              </a:rPr>
              <a:t>What BRIDGE Delivers</a:t>
            </a:r>
            <a:endParaRPr lang="en-US" sz="2300" dirty="0"/>
          </a:p>
        </p:txBody>
      </p:sp>
      <p:sp>
        <p:nvSpPr>
          <p:cNvPr id="4" name="Text 2"/>
          <p:cNvSpPr/>
          <p:nvPr/>
        </p:nvSpPr>
        <p:spPr>
          <a:xfrm>
            <a:off x="682228" y="1862971"/>
            <a:ext cx="13265944" cy="579834"/>
          </a:xfrm>
          <a:prstGeom prst="rect">
            <a:avLst/>
          </a:prstGeom>
          <a:noFill/>
          <a:ln/>
        </p:spPr>
        <p:txBody>
          <a:bodyPr wrap="square" lIns="0" tIns="0" rIns="0" bIns="0" rtlCol="0" anchor="t"/>
          <a:lstStyle/>
          <a:p>
            <a:pPr marL="0" indent="0" algn="l">
              <a:lnSpc>
                <a:spcPts val="2250"/>
              </a:lnSpc>
              <a:buNone/>
            </a:pPr>
            <a:r>
              <a:rPr lang="en-US" sz="1500" dirty="0">
                <a:solidFill>
                  <a:srgbClr val="272525"/>
                </a:solidFill>
                <a:latin typeface="Inter" pitchFamily="34" charset="0"/>
                <a:ea typeface="Inter" pitchFamily="34" charset="-122"/>
                <a:cs typeface="Inter" pitchFamily="34" charset="-120"/>
              </a:rPr>
              <a:t>BRIDGE gives every healthcare student access to a full interprofessional team — available 24/7, grounded in real clinical guidelines, and personalized to their experience level.</a:t>
            </a:r>
            <a:endParaRPr lang="en-US" sz="1500" dirty="0"/>
          </a:p>
        </p:txBody>
      </p:sp>
      <p:sp>
        <p:nvSpPr>
          <p:cNvPr id="5" name="Text 3"/>
          <p:cNvSpPr/>
          <p:nvPr/>
        </p:nvSpPr>
        <p:spPr>
          <a:xfrm>
            <a:off x="682228" y="2631162"/>
            <a:ext cx="13265944" cy="579834"/>
          </a:xfrm>
          <a:prstGeom prst="rect">
            <a:avLst/>
          </a:prstGeom>
          <a:noFill/>
          <a:ln/>
        </p:spPr>
        <p:txBody>
          <a:bodyPr wrap="square" lIns="0" tIns="0" rIns="0" bIns="0" rtlCol="0" anchor="t"/>
          <a:lstStyle/>
          <a:p>
            <a:pPr marL="0" indent="0" algn="l">
              <a:lnSpc>
                <a:spcPts val="2250"/>
              </a:lnSpc>
              <a:buNone/>
            </a:pPr>
            <a:r>
              <a:rPr lang="en-US" sz="1500" dirty="0">
                <a:solidFill>
                  <a:srgbClr val="272525"/>
                </a:solidFill>
                <a:latin typeface="Inter" pitchFamily="34" charset="0"/>
                <a:ea typeface="Inter" pitchFamily="34" charset="-122"/>
                <a:cs typeface="Inter" pitchFamily="34" charset="-120"/>
              </a:rPr>
              <a:t>It solves the IPE coordination problem: no need to schedule across schools, no need to hire standardized patients, and no need to coordinate facilitators. The result is a training experience that scales infinitely, while cost per student approaches zero.</a:t>
            </a:r>
            <a:endParaRPr lang="en-US" sz="1500" dirty="0"/>
          </a:p>
        </p:txBody>
      </p:sp>
      <p:sp>
        <p:nvSpPr>
          <p:cNvPr id="6" name="Text 4"/>
          <p:cNvSpPr/>
          <p:nvPr/>
        </p:nvSpPr>
        <p:spPr>
          <a:xfrm>
            <a:off x="682228" y="3462218"/>
            <a:ext cx="2923937" cy="365522"/>
          </a:xfrm>
          <a:prstGeom prst="rect">
            <a:avLst/>
          </a:prstGeom>
          <a:noFill/>
          <a:ln/>
        </p:spPr>
        <p:txBody>
          <a:bodyPr wrap="none" lIns="0" tIns="0" rIns="0" bIns="0" rtlCol="0" anchor="t"/>
          <a:lstStyle/>
          <a:p>
            <a:pPr marL="0" indent="0" algn="l">
              <a:lnSpc>
                <a:spcPts val="2850"/>
              </a:lnSpc>
              <a:buNone/>
            </a:pPr>
            <a:r>
              <a:rPr lang="en-US" sz="2300" b="1" dirty="0">
                <a:solidFill>
                  <a:srgbClr val="000000"/>
                </a:solidFill>
                <a:latin typeface="Inter Bold" pitchFamily="34" charset="0"/>
                <a:ea typeface="Inter Bold" pitchFamily="34" charset="-122"/>
                <a:cs typeface="Inter Bold" pitchFamily="34" charset="-120"/>
              </a:rPr>
              <a:t>What's Next</a:t>
            </a:r>
            <a:endParaRPr lang="en-US" sz="2300" dirty="0"/>
          </a:p>
        </p:txBody>
      </p:sp>
      <p:sp>
        <p:nvSpPr>
          <p:cNvPr id="7" name="Text 5"/>
          <p:cNvSpPr/>
          <p:nvPr/>
        </p:nvSpPr>
        <p:spPr>
          <a:xfrm>
            <a:off x="682228" y="4078962"/>
            <a:ext cx="389811" cy="243602"/>
          </a:xfrm>
          <a:prstGeom prst="rect">
            <a:avLst/>
          </a:prstGeom>
          <a:noFill/>
          <a:ln/>
        </p:spPr>
        <p:txBody>
          <a:bodyPr wrap="none" lIns="0" tIns="0" rIns="0" bIns="0" rtlCol="0" anchor="t"/>
          <a:lstStyle/>
          <a:p>
            <a:pPr marL="0" indent="0" algn="l">
              <a:lnSpc>
                <a:spcPts val="2250"/>
              </a:lnSpc>
              <a:buNone/>
            </a:pPr>
            <a:r>
              <a:rPr lang="en-US" sz="1500" dirty="0">
                <a:solidFill>
                  <a:srgbClr val="272525"/>
                </a:solidFill>
                <a:latin typeface="Inter Light" pitchFamily="34" charset="0"/>
                <a:ea typeface="Inter Light" pitchFamily="34" charset="-122"/>
                <a:cs typeface="Inter Light" pitchFamily="34" charset="-120"/>
              </a:rPr>
              <a:t>01</a:t>
            </a:r>
            <a:endParaRPr lang="en-US" sz="1500" dirty="0"/>
          </a:p>
        </p:txBody>
      </p:sp>
      <p:sp>
        <p:nvSpPr>
          <p:cNvPr id="8" name="Shape 6"/>
          <p:cNvSpPr/>
          <p:nvPr/>
        </p:nvSpPr>
        <p:spPr>
          <a:xfrm>
            <a:off x="682228" y="4387334"/>
            <a:ext cx="6549271" cy="22860"/>
          </a:xfrm>
          <a:prstGeom prst="rect">
            <a:avLst/>
          </a:prstGeom>
          <a:solidFill>
            <a:srgbClr val="4950BC"/>
          </a:solidFill>
          <a:ln/>
        </p:spPr>
        <p:txBody>
          <a:bodyPr/>
          <a:lstStyle/>
          <a:p>
            <a:endParaRPr lang="en-US"/>
          </a:p>
        </p:txBody>
      </p:sp>
      <p:sp>
        <p:nvSpPr>
          <p:cNvPr id="9" name="Text 7"/>
          <p:cNvSpPr/>
          <p:nvPr/>
        </p:nvSpPr>
        <p:spPr>
          <a:xfrm>
            <a:off x="682228" y="4530447"/>
            <a:ext cx="6549271" cy="869752"/>
          </a:xfrm>
          <a:prstGeom prst="rect">
            <a:avLst/>
          </a:prstGeom>
          <a:noFill/>
          <a:ln/>
        </p:spPr>
        <p:txBody>
          <a:bodyPr wrap="square" lIns="0" tIns="0" rIns="0" bIns="0" rtlCol="0" anchor="t"/>
          <a:lstStyle/>
          <a:p>
            <a:pPr marL="0" indent="0" algn="l">
              <a:lnSpc>
                <a:spcPts val="2250"/>
              </a:lnSpc>
              <a:buNone/>
            </a:pPr>
            <a:r>
              <a:rPr lang="en-US" sz="1500" b="1" dirty="0">
                <a:solidFill>
                  <a:srgbClr val="272525"/>
                </a:solidFill>
                <a:latin typeface="Inter" pitchFamily="34" charset="0"/>
                <a:ea typeface="Inter" pitchFamily="34" charset="-122"/>
                <a:cs typeface="Inter" pitchFamily="34" charset="-120"/>
              </a:rPr>
              <a:t>Clinical validation</a:t>
            </a:r>
            <a:r>
              <a:rPr lang="en-US" sz="1500" dirty="0">
                <a:solidFill>
                  <a:srgbClr val="272525"/>
                </a:solidFill>
                <a:latin typeface="Inter" pitchFamily="34" charset="0"/>
                <a:ea typeface="Inter" pitchFamily="34" charset="-122"/>
                <a:cs typeface="Inter" pitchFamily="34" charset="-120"/>
              </a:rPr>
              <a:t> — User study with healthcare students measuring learning outcomes vs. traditional IPE formats. This is the credibility milestone.</a:t>
            </a:r>
            <a:endParaRPr lang="en-US" sz="1500" dirty="0"/>
          </a:p>
        </p:txBody>
      </p:sp>
      <p:sp>
        <p:nvSpPr>
          <p:cNvPr id="10" name="Text 8"/>
          <p:cNvSpPr/>
          <p:nvPr/>
        </p:nvSpPr>
        <p:spPr>
          <a:xfrm>
            <a:off x="7398901" y="4078962"/>
            <a:ext cx="389811" cy="243602"/>
          </a:xfrm>
          <a:prstGeom prst="rect">
            <a:avLst/>
          </a:prstGeom>
          <a:noFill/>
          <a:ln/>
        </p:spPr>
        <p:txBody>
          <a:bodyPr wrap="none" lIns="0" tIns="0" rIns="0" bIns="0" rtlCol="0" anchor="t"/>
          <a:lstStyle/>
          <a:p>
            <a:pPr marL="0" indent="0" algn="l">
              <a:lnSpc>
                <a:spcPts val="2250"/>
              </a:lnSpc>
              <a:buNone/>
            </a:pPr>
            <a:r>
              <a:rPr lang="en-US" sz="1500" dirty="0">
                <a:solidFill>
                  <a:srgbClr val="272525"/>
                </a:solidFill>
                <a:latin typeface="Inter Light" pitchFamily="34" charset="0"/>
                <a:ea typeface="Inter Light" pitchFamily="34" charset="-122"/>
                <a:cs typeface="Inter Light" pitchFamily="34" charset="-120"/>
              </a:rPr>
              <a:t>02</a:t>
            </a:r>
            <a:endParaRPr lang="en-US" sz="1500" dirty="0"/>
          </a:p>
        </p:txBody>
      </p:sp>
      <p:sp>
        <p:nvSpPr>
          <p:cNvPr id="11" name="Shape 9"/>
          <p:cNvSpPr/>
          <p:nvPr/>
        </p:nvSpPr>
        <p:spPr>
          <a:xfrm>
            <a:off x="7398901" y="4387334"/>
            <a:ext cx="6549271" cy="22860"/>
          </a:xfrm>
          <a:prstGeom prst="rect">
            <a:avLst/>
          </a:prstGeom>
          <a:solidFill>
            <a:srgbClr val="4950BC"/>
          </a:solidFill>
          <a:ln/>
        </p:spPr>
        <p:txBody>
          <a:bodyPr/>
          <a:lstStyle/>
          <a:p>
            <a:endParaRPr lang="en-US"/>
          </a:p>
        </p:txBody>
      </p:sp>
      <p:sp>
        <p:nvSpPr>
          <p:cNvPr id="12" name="Text 10"/>
          <p:cNvSpPr/>
          <p:nvPr/>
        </p:nvSpPr>
        <p:spPr>
          <a:xfrm>
            <a:off x="7398901" y="4530447"/>
            <a:ext cx="6549271" cy="1159669"/>
          </a:xfrm>
          <a:prstGeom prst="rect">
            <a:avLst/>
          </a:prstGeom>
          <a:noFill/>
          <a:ln/>
        </p:spPr>
        <p:txBody>
          <a:bodyPr wrap="square" lIns="0" tIns="0" rIns="0" bIns="0" rtlCol="0" anchor="t"/>
          <a:lstStyle/>
          <a:p>
            <a:pPr marL="0" indent="0" algn="l">
              <a:lnSpc>
                <a:spcPts val="2250"/>
              </a:lnSpc>
              <a:buNone/>
            </a:pPr>
            <a:r>
              <a:rPr lang="en-US" sz="1500" b="1" dirty="0">
                <a:solidFill>
                  <a:srgbClr val="272525"/>
                </a:solidFill>
                <a:latin typeface="Inter" pitchFamily="34" charset="0"/>
                <a:ea typeface="Inter" pitchFamily="34" charset="-122"/>
                <a:cs typeface="Inter" pitchFamily="34" charset="-120"/>
              </a:rPr>
              <a:t>Domain expansion</a:t>
            </a:r>
            <a:r>
              <a:rPr lang="en-US" sz="1500" dirty="0">
                <a:solidFill>
                  <a:srgbClr val="272525"/>
                </a:solidFill>
                <a:latin typeface="Inter" pitchFamily="34" charset="0"/>
                <a:ea typeface="Inter" pitchFamily="34" charset="-122"/>
                <a:cs typeface="Inter" pitchFamily="34" charset="-120"/>
              </a:rPr>
              <a:t> — Extend beyond opioid education to diabetes management, pediatric emergency care, and other high-priority clinical domains. The admin case-creation workflow makes this frictionless.</a:t>
            </a:r>
            <a:endParaRPr lang="en-US" sz="1500" dirty="0"/>
          </a:p>
        </p:txBody>
      </p:sp>
      <p:sp>
        <p:nvSpPr>
          <p:cNvPr id="13" name="Text 11"/>
          <p:cNvSpPr/>
          <p:nvPr/>
        </p:nvSpPr>
        <p:spPr>
          <a:xfrm>
            <a:off x="682228" y="6003608"/>
            <a:ext cx="389811" cy="243602"/>
          </a:xfrm>
          <a:prstGeom prst="rect">
            <a:avLst/>
          </a:prstGeom>
          <a:noFill/>
          <a:ln/>
        </p:spPr>
        <p:txBody>
          <a:bodyPr wrap="none" lIns="0" tIns="0" rIns="0" bIns="0" rtlCol="0" anchor="t"/>
          <a:lstStyle/>
          <a:p>
            <a:pPr marL="0" indent="0" algn="l">
              <a:lnSpc>
                <a:spcPts val="2250"/>
              </a:lnSpc>
              <a:buNone/>
            </a:pPr>
            <a:r>
              <a:rPr lang="en-US" sz="1500" dirty="0">
                <a:solidFill>
                  <a:srgbClr val="272525"/>
                </a:solidFill>
                <a:latin typeface="Inter Light" pitchFamily="34" charset="0"/>
                <a:ea typeface="Inter Light" pitchFamily="34" charset="-122"/>
                <a:cs typeface="Inter Light" pitchFamily="34" charset="-120"/>
              </a:rPr>
              <a:t>03</a:t>
            </a:r>
            <a:endParaRPr lang="en-US" sz="1500" dirty="0"/>
          </a:p>
        </p:txBody>
      </p:sp>
      <p:sp>
        <p:nvSpPr>
          <p:cNvPr id="14" name="Shape 12"/>
          <p:cNvSpPr/>
          <p:nvPr/>
        </p:nvSpPr>
        <p:spPr>
          <a:xfrm>
            <a:off x="682228" y="6311979"/>
            <a:ext cx="13265944" cy="22860"/>
          </a:xfrm>
          <a:prstGeom prst="rect">
            <a:avLst/>
          </a:prstGeom>
          <a:solidFill>
            <a:srgbClr val="4950BC"/>
          </a:solidFill>
          <a:ln/>
        </p:spPr>
        <p:txBody>
          <a:bodyPr/>
          <a:lstStyle/>
          <a:p>
            <a:endParaRPr lang="en-US"/>
          </a:p>
        </p:txBody>
      </p:sp>
      <p:sp>
        <p:nvSpPr>
          <p:cNvPr id="15" name="Text 13"/>
          <p:cNvSpPr/>
          <p:nvPr/>
        </p:nvSpPr>
        <p:spPr>
          <a:xfrm>
            <a:off x="682228" y="6455093"/>
            <a:ext cx="13265944" cy="579834"/>
          </a:xfrm>
          <a:prstGeom prst="rect">
            <a:avLst/>
          </a:prstGeom>
          <a:noFill/>
          <a:ln/>
        </p:spPr>
        <p:txBody>
          <a:bodyPr wrap="square" lIns="0" tIns="0" rIns="0" bIns="0" rtlCol="0" anchor="t"/>
          <a:lstStyle/>
          <a:p>
            <a:pPr marL="0" indent="0" algn="l">
              <a:lnSpc>
                <a:spcPts val="2250"/>
              </a:lnSpc>
              <a:buNone/>
            </a:pPr>
            <a:r>
              <a:rPr lang="en-US" sz="1500" b="1" dirty="0">
                <a:solidFill>
                  <a:srgbClr val="272525"/>
                </a:solidFill>
                <a:latin typeface="Inter" pitchFamily="34" charset="0"/>
                <a:ea typeface="Inter" pitchFamily="34" charset="-122"/>
                <a:cs typeface="Inter" pitchFamily="34" charset="-120"/>
              </a:rPr>
              <a:t>Adaptive learning</a:t>
            </a:r>
            <a:r>
              <a:rPr lang="en-US" sz="1500" dirty="0">
                <a:solidFill>
                  <a:srgbClr val="272525"/>
                </a:solidFill>
                <a:latin typeface="Inter" pitchFamily="34" charset="0"/>
                <a:ea typeface="Inter" pitchFamily="34" charset="-122"/>
                <a:cs typeface="Inter" pitchFamily="34" charset="-120"/>
              </a:rPr>
              <a:t> — System prompts that respond to student performance in real time, not just static intake data. Personalization gets smarter as students progress.</a:t>
            </a:r>
            <a:endParaRPr lang="en-US" sz="1500" dirty="0"/>
          </a:p>
        </p:txBody>
      </p:sp>
      <p:sp>
        <p:nvSpPr>
          <p:cNvPr id="16" name="Text 14"/>
          <p:cNvSpPr/>
          <p:nvPr/>
        </p:nvSpPr>
        <p:spPr>
          <a:xfrm>
            <a:off x="682228" y="7369373"/>
            <a:ext cx="13265944" cy="289917"/>
          </a:xfrm>
          <a:prstGeom prst="rect">
            <a:avLst/>
          </a:prstGeom>
          <a:noFill/>
          <a:ln/>
        </p:spPr>
        <p:txBody>
          <a:bodyPr wrap="none" lIns="0" tIns="0" rIns="0" bIns="0" rtlCol="0" anchor="t"/>
          <a:lstStyle/>
          <a:p>
            <a:pPr marL="0" indent="0" algn="l">
              <a:lnSpc>
                <a:spcPts val="2250"/>
              </a:lnSpc>
              <a:buNone/>
            </a:pPr>
            <a:r>
              <a:rPr lang="en-US" sz="1500" dirty="0">
                <a:solidFill>
                  <a:srgbClr val="272525"/>
                </a:solidFill>
                <a:latin typeface="Inter" pitchFamily="34" charset="0"/>
                <a:ea typeface="Inter" pitchFamily="34" charset="-122"/>
                <a:cs typeface="Inter" pitchFamily="34" charset="-120"/>
              </a:rPr>
              <a:t>In short, BRIDGE turns interprofessional education from a logistics challenge into a scalable, always-available learning platform.</a:t>
            </a:r>
            <a:endParaRPr lang="en-US" sz="1500" dirty="0"/>
          </a:p>
        </p:txBody>
      </p:sp>
      <p:sp>
        <p:nvSpPr>
          <p:cNvPr id="17" name="Rectangle 16">
            <a:extLst>
              <a:ext uri="{FF2B5EF4-FFF2-40B4-BE49-F238E27FC236}">
                <a16:creationId xmlns:a16="http://schemas.microsoft.com/office/drawing/2014/main" id="{F6676222-DC3F-414D-199C-C4BE9A72ACC0}"/>
              </a:ext>
            </a:extLst>
          </p:cNvPr>
          <p:cNvSpPr/>
          <p:nvPr/>
        </p:nvSpPr>
        <p:spPr>
          <a:xfrm>
            <a:off x="12826652" y="7659290"/>
            <a:ext cx="1716066" cy="57031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56642" y="663178"/>
            <a:ext cx="5404842" cy="675680"/>
          </a:xfrm>
          <a:prstGeom prst="rect">
            <a:avLst/>
          </a:prstGeom>
          <a:noFill/>
          <a:ln/>
        </p:spPr>
        <p:txBody>
          <a:bodyPr wrap="none" lIns="0" tIns="0" rIns="0" bIns="0" rtlCol="0" anchor="t"/>
          <a:lstStyle/>
          <a:p>
            <a:pPr marL="0" indent="0" algn="l">
              <a:lnSpc>
                <a:spcPts val="5300"/>
              </a:lnSpc>
              <a:buNone/>
            </a:pPr>
            <a:r>
              <a:rPr lang="en-US" sz="4250" b="1" dirty="0">
                <a:solidFill>
                  <a:srgbClr val="000000"/>
                </a:solidFill>
                <a:latin typeface="Inter Bold" pitchFamily="34" charset="0"/>
                <a:ea typeface="Inter Bold" pitchFamily="34" charset="-122"/>
                <a:cs typeface="Inter Bold" pitchFamily="34" charset="-120"/>
              </a:rPr>
              <a:t>Experience BRIDGE</a:t>
            </a:r>
            <a:endParaRPr lang="en-US" sz="4250" dirty="0"/>
          </a:p>
        </p:txBody>
      </p:sp>
      <p:sp>
        <p:nvSpPr>
          <p:cNvPr id="3" name="Text 1"/>
          <p:cNvSpPr/>
          <p:nvPr/>
        </p:nvSpPr>
        <p:spPr>
          <a:xfrm>
            <a:off x="756642" y="1421249"/>
            <a:ext cx="6275070" cy="405408"/>
          </a:xfrm>
          <a:prstGeom prst="rect">
            <a:avLst/>
          </a:prstGeom>
          <a:noFill/>
          <a:ln/>
        </p:spPr>
        <p:txBody>
          <a:bodyPr wrap="none" lIns="0" tIns="0" rIns="0" bIns="0" rtlCol="0" anchor="t"/>
          <a:lstStyle/>
          <a:p>
            <a:pPr marL="0" indent="0" algn="l">
              <a:lnSpc>
                <a:spcPts val="3150"/>
              </a:lnSpc>
              <a:buNone/>
            </a:pPr>
            <a:r>
              <a:rPr lang="en-US" sz="2550" b="1" dirty="0">
                <a:solidFill>
                  <a:srgbClr val="000000"/>
                </a:solidFill>
                <a:latin typeface="Inter Bold" pitchFamily="34" charset="0"/>
                <a:ea typeface="Inter Bold" pitchFamily="34" charset="-122"/>
                <a:cs typeface="Inter Bold" pitchFamily="34" charset="-120"/>
              </a:rPr>
              <a:t>See the Interprofessional team in action</a:t>
            </a:r>
            <a:endParaRPr lang="en-US" sz="2550" dirty="0"/>
          </a:p>
        </p:txBody>
      </p:sp>
      <p:sp>
        <p:nvSpPr>
          <p:cNvPr id="4" name="Shape 2"/>
          <p:cNvSpPr/>
          <p:nvPr/>
        </p:nvSpPr>
        <p:spPr>
          <a:xfrm>
            <a:off x="756642" y="2189678"/>
            <a:ext cx="13117116" cy="16193"/>
          </a:xfrm>
          <a:prstGeom prst="rect">
            <a:avLst/>
          </a:prstGeom>
          <a:solidFill>
            <a:srgbClr val="272525">
              <a:alpha val="50000"/>
            </a:srgbClr>
          </a:solidFill>
          <a:ln/>
        </p:spPr>
        <p:txBody>
          <a:bodyPr/>
          <a:lstStyle/>
          <a:p>
            <a:endParaRPr lang="en-US"/>
          </a:p>
        </p:txBody>
      </p:sp>
      <p:sp>
        <p:nvSpPr>
          <p:cNvPr id="5" name="Text 3"/>
          <p:cNvSpPr/>
          <p:nvPr/>
        </p:nvSpPr>
        <p:spPr>
          <a:xfrm>
            <a:off x="756642" y="2491621"/>
            <a:ext cx="13117116" cy="675561"/>
          </a:xfrm>
          <a:prstGeom prst="rect">
            <a:avLst/>
          </a:prstGeom>
          <a:noFill/>
          <a:ln/>
        </p:spPr>
        <p:txBody>
          <a:bodyPr wrap="square" lIns="0" tIns="0" rIns="0" bIns="0" rtlCol="0" anchor="t"/>
          <a:lstStyle/>
          <a:p>
            <a:pPr marL="0" indent="0" algn="l">
              <a:lnSpc>
                <a:spcPts val="2650"/>
              </a:lnSpc>
              <a:buNone/>
            </a:pPr>
            <a:r>
              <a:rPr lang="en-US" sz="1700" dirty="0">
                <a:solidFill>
                  <a:srgbClr val="272525"/>
                </a:solidFill>
                <a:latin typeface="Inter" pitchFamily="34" charset="0"/>
                <a:ea typeface="Inter" pitchFamily="34" charset="-122"/>
                <a:cs typeface="Inter" pitchFamily="34" charset="-120"/>
              </a:rPr>
              <a:t>BRIDGE is live and ready to use. Ask a clinical question and watch six healthcare professionals respond from their unique perspectives: all grounded in real evidence, all personalized to your experience level.</a:t>
            </a:r>
            <a:endParaRPr lang="en-US" sz="1700" dirty="0"/>
          </a:p>
        </p:txBody>
      </p:sp>
      <p:sp>
        <p:nvSpPr>
          <p:cNvPr id="6" name="Shape 4"/>
          <p:cNvSpPr/>
          <p:nvPr/>
        </p:nvSpPr>
        <p:spPr>
          <a:xfrm>
            <a:off x="756642" y="3452932"/>
            <a:ext cx="13117116" cy="16193"/>
          </a:xfrm>
          <a:prstGeom prst="rect">
            <a:avLst/>
          </a:prstGeom>
          <a:solidFill>
            <a:srgbClr val="272525">
              <a:alpha val="50000"/>
            </a:srgbClr>
          </a:solidFill>
          <a:ln/>
        </p:spPr>
        <p:txBody>
          <a:bodyPr/>
          <a:lstStyle/>
          <a:p>
            <a:endParaRPr lang="en-US"/>
          </a:p>
        </p:txBody>
      </p:sp>
      <p:sp>
        <p:nvSpPr>
          <p:cNvPr id="7" name="Text 5"/>
          <p:cNvSpPr/>
          <p:nvPr/>
        </p:nvSpPr>
        <p:spPr>
          <a:xfrm>
            <a:off x="756642" y="3754874"/>
            <a:ext cx="13117116" cy="337780"/>
          </a:xfrm>
          <a:prstGeom prst="rect">
            <a:avLst/>
          </a:prstGeom>
          <a:noFill/>
          <a:ln/>
        </p:spPr>
        <p:txBody>
          <a:bodyPr wrap="none" lIns="0" tIns="0" rIns="0" bIns="0" rtlCol="0" anchor="t"/>
          <a:lstStyle/>
          <a:p>
            <a:pPr marL="0" indent="0" algn="ctr">
              <a:lnSpc>
                <a:spcPts val="2650"/>
              </a:lnSpc>
              <a:buNone/>
            </a:pPr>
            <a:r>
              <a:rPr lang="en-US" sz="1700" dirty="0">
                <a:solidFill>
                  <a:srgbClr val="272525"/>
                </a:solidFill>
                <a:latin typeface="Inter" pitchFamily="34" charset="0"/>
                <a:ea typeface="Inter" pitchFamily="34" charset="-122"/>
                <a:cs typeface="Inter" pitchFamily="34" charset="-120"/>
              </a:rPr>
              <a:t>Visit the live demo:</a:t>
            </a:r>
            <a:endParaRPr lang="en-US" sz="1700" dirty="0"/>
          </a:p>
        </p:txBody>
      </p:sp>
      <p:sp>
        <p:nvSpPr>
          <p:cNvPr id="8" name="Text 6"/>
          <p:cNvSpPr/>
          <p:nvPr/>
        </p:nvSpPr>
        <p:spPr>
          <a:xfrm>
            <a:off x="2145863" y="4401741"/>
            <a:ext cx="10338673" cy="932378"/>
          </a:xfrm>
          <a:prstGeom prst="rect">
            <a:avLst/>
          </a:prstGeom>
          <a:noFill/>
          <a:ln/>
        </p:spPr>
        <p:txBody>
          <a:bodyPr wrap="none" lIns="0" tIns="0" rIns="0" bIns="0" rtlCol="0" anchor="t"/>
          <a:lstStyle/>
          <a:p>
            <a:pPr marL="0" indent="0" algn="ctr">
              <a:lnSpc>
                <a:spcPts val="7300"/>
              </a:lnSpc>
              <a:buNone/>
            </a:pPr>
            <a:r>
              <a:rPr lang="en-US" sz="5850" b="1" dirty="0">
                <a:solidFill>
                  <a:srgbClr val="000000"/>
                </a:solidFill>
                <a:latin typeface="Inter Bold" pitchFamily="34" charset="0"/>
                <a:ea typeface="Inter Bold" pitchFamily="34" charset="-122"/>
                <a:cs typeface="Inter Bold" pitchFamily="34" charset="-120"/>
              </a:rPr>
              <a:t>http://35.169.252.108:8080/</a:t>
            </a:r>
            <a:endParaRPr lang="en-US" sz="5850" dirty="0"/>
          </a:p>
        </p:txBody>
      </p:sp>
      <p:sp>
        <p:nvSpPr>
          <p:cNvPr id="9" name="Shape 7"/>
          <p:cNvSpPr/>
          <p:nvPr/>
        </p:nvSpPr>
        <p:spPr>
          <a:xfrm>
            <a:off x="756642" y="5697141"/>
            <a:ext cx="13117116" cy="16193"/>
          </a:xfrm>
          <a:prstGeom prst="rect">
            <a:avLst/>
          </a:prstGeom>
          <a:solidFill>
            <a:srgbClr val="272525">
              <a:alpha val="50000"/>
            </a:srgbClr>
          </a:solidFill>
          <a:ln/>
        </p:spPr>
        <p:txBody>
          <a:bodyPr/>
          <a:lstStyle/>
          <a:p>
            <a:endParaRPr lang="en-US"/>
          </a:p>
        </p:txBody>
      </p:sp>
      <p:sp>
        <p:nvSpPr>
          <p:cNvPr id="10" name="Text 8"/>
          <p:cNvSpPr/>
          <p:nvPr/>
        </p:nvSpPr>
        <p:spPr>
          <a:xfrm>
            <a:off x="756642" y="5999083"/>
            <a:ext cx="13117116" cy="1567220"/>
          </a:xfrm>
          <a:prstGeom prst="rect">
            <a:avLst/>
          </a:prstGeom>
          <a:noFill/>
          <a:ln/>
        </p:spPr>
        <p:txBody>
          <a:bodyPr wrap="square" lIns="0" tIns="0" rIns="0" bIns="0" rtlCol="0" anchor="t"/>
          <a:lstStyle/>
          <a:p>
            <a:pPr marL="342900" indent="-342900" algn="l">
              <a:lnSpc>
                <a:spcPts val="2650"/>
              </a:lnSpc>
              <a:buSzPct val="100000"/>
              <a:buChar char="•"/>
            </a:pPr>
            <a:r>
              <a:rPr lang="en-US" sz="1700" dirty="0">
                <a:solidFill>
                  <a:srgbClr val="272525"/>
                </a:solidFill>
                <a:latin typeface="Inter" pitchFamily="34" charset="0"/>
                <a:ea typeface="Inter" pitchFamily="34" charset="-122"/>
                <a:cs typeface="Inter" pitchFamily="34" charset="-120"/>
              </a:rPr>
              <a:t>Ask any clinical question</a:t>
            </a:r>
            <a:endParaRPr lang="en-US" sz="1700" dirty="0"/>
          </a:p>
          <a:p>
            <a:pPr marL="342900" indent="-342900" algn="l">
              <a:lnSpc>
                <a:spcPts val="2650"/>
              </a:lnSpc>
              <a:buSzPct val="100000"/>
              <a:buChar char="•"/>
            </a:pPr>
            <a:r>
              <a:rPr lang="en-US" sz="1700" dirty="0">
                <a:solidFill>
                  <a:srgbClr val="272525"/>
                </a:solidFill>
                <a:latin typeface="Inter" pitchFamily="34" charset="0"/>
                <a:ea typeface="Inter" pitchFamily="34" charset="-122"/>
                <a:cs typeface="Inter" pitchFamily="34" charset="-120"/>
              </a:rPr>
              <a:t>Get six evidence-grounded perspectives instantly</a:t>
            </a:r>
            <a:endParaRPr lang="en-US" sz="1700" dirty="0"/>
          </a:p>
          <a:p>
            <a:pPr marL="342900" indent="-342900" algn="l">
              <a:lnSpc>
                <a:spcPts val="2650"/>
              </a:lnSpc>
              <a:buSzPct val="100000"/>
              <a:buChar char="•"/>
            </a:pPr>
            <a:r>
              <a:rPr lang="en-US" sz="1700" dirty="0">
                <a:solidFill>
                  <a:srgbClr val="272525"/>
                </a:solidFill>
                <a:latin typeface="Inter" pitchFamily="34" charset="0"/>
                <a:ea typeface="Inter" pitchFamily="34" charset="-122"/>
                <a:cs typeface="Inter" pitchFamily="34" charset="-120"/>
              </a:rPr>
              <a:t>See how different professionals approach the same case</a:t>
            </a:r>
            <a:endParaRPr lang="en-US" sz="1700" dirty="0"/>
          </a:p>
          <a:p>
            <a:pPr marL="342900" indent="-342900" algn="l">
              <a:lnSpc>
                <a:spcPts val="2650"/>
              </a:lnSpc>
              <a:buSzPct val="100000"/>
              <a:buChar char="•"/>
            </a:pPr>
            <a:r>
              <a:rPr lang="en-US" sz="1700" dirty="0">
                <a:solidFill>
                  <a:srgbClr val="272525"/>
                </a:solidFill>
                <a:latin typeface="Inter" pitchFamily="34" charset="0"/>
                <a:ea typeface="Inter" pitchFamily="34" charset="-122"/>
                <a:cs typeface="Inter" pitchFamily="34" charset="-120"/>
              </a:rPr>
              <a:t>Experience personalized explanations based on your role</a:t>
            </a:r>
            <a:endParaRPr lang="en-US" sz="1700" dirty="0"/>
          </a:p>
        </p:txBody>
      </p:sp>
      <p:sp>
        <p:nvSpPr>
          <p:cNvPr id="11" name="Rectangle 10">
            <a:extLst>
              <a:ext uri="{FF2B5EF4-FFF2-40B4-BE49-F238E27FC236}">
                <a16:creationId xmlns:a16="http://schemas.microsoft.com/office/drawing/2014/main" id="{6E275F84-86EA-9BEB-14B3-610BE72966BB}"/>
              </a:ext>
            </a:extLst>
          </p:cNvPr>
          <p:cNvSpPr/>
          <p:nvPr/>
        </p:nvSpPr>
        <p:spPr>
          <a:xfrm>
            <a:off x="12738970" y="7566303"/>
            <a:ext cx="1803748" cy="57561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904286"/>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Status Chart</a:t>
            </a:r>
            <a:endParaRPr lang="en-US" sz="3550" dirty="0"/>
          </a:p>
        </p:txBody>
      </p:sp>
      <p:pic>
        <p:nvPicPr>
          <p:cNvPr id="3" name="Image 0" descr="preencoded.png"/>
          <p:cNvPicPr>
            <a:picLocks noChangeAspect="1"/>
          </p:cNvPicPr>
          <p:nvPr/>
        </p:nvPicPr>
        <p:blipFill>
          <a:blip r:embed="rId3"/>
          <a:stretch>
            <a:fillRect/>
          </a:stretch>
        </p:blipFill>
        <p:spPr>
          <a:xfrm>
            <a:off x="793790" y="2726412"/>
            <a:ext cx="6788468" cy="3570565"/>
          </a:xfrm>
          <a:prstGeom prst="rect">
            <a:avLst/>
          </a:prstGeom>
        </p:spPr>
      </p:pic>
      <p:sp>
        <p:nvSpPr>
          <p:cNvPr id="4" name="Text 1"/>
          <p:cNvSpPr/>
          <p:nvPr/>
        </p:nvSpPr>
        <p:spPr>
          <a:xfrm>
            <a:off x="8143280" y="1904286"/>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Contributions Chart</a:t>
            </a:r>
            <a:endParaRPr lang="en-US" sz="3550" dirty="0"/>
          </a:p>
        </p:txBody>
      </p:sp>
      <p:pic>
        <p:nvPicPr>
          <p:cNvPr id="5" name="Image 1" descr="preencoded.png"/>
          <p:cNvPicPr>
            <a:picLocks noChangeAspect="1"/>
          </p:cNvPicPr>
          <p:nvPr/>
        </p:nvPicPr>
        <p:blipFill>
          <a:blip r:embed="rId4"/>
          <a:stretch>
            <a:fillRect/>
          </a:stretch>
        </p:blipFill>
        <p:spPr>
          <a:xfrm>
            <a:off x="8150900" y="2913221"/>
            <a:ext cx="5685592" cy="3402330"/>
          </a:xfrm>
          <a:prstGeom prst="rect">
            <a:avLst/>
          </a:prstGeom>
        </p:spPr>
      </p:pic>
      <p:sp>
        <p:nvSpPr>
          <p:cNvPr id="6" name="Rectangle 5">
            <a:extLst>
              <a:ext uri="{FF2B5EF4-FFF2-40B4-BE49-F238E27FC236}">
                <a16:creationId xmlns:a16="http://schemas.microsoft.com/office/drawing/2014/main" id="{AAB2213F-BB4B-5BA0-FC52-4CCF24DAF22E}"/>
              </a:ext>
            </a:extLst>
          </p:cNvPr>
          <p:cNvSpPr/>
          <p:nvPr/>
        </p:nvSpPr>
        <p:spPr>
          <a:xfrm>
            <a:off x="12814126" y="7503090"/>
            <a:ext cx="1816274" cy="72651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2008227"/>
            <a:ext cx="13042821" cy="2126456"/>
          </a:xfrm>
          <a:prstGeom prst="rect">
            <a:avLst/>
          </a:prstGeom>
          <a:noFill/>
          <a:ln/>
        </p:spPr>
        <p:txBody>
          <a:bodyPr wrap="none" lIns="0" tIns="0" rIns="0" bIns="0" rtlCol="0" anchor="t"/>
          <a:lstStyle/>
          <a:p>
            <a:pPr marL="0" indent="0" algn="ctr">
              <a:lnSpc>
                <a:spcPts val="16700"/>
              </a:lnSpc>
              <a:buNone/>
            </a:pPr>
            <a:r>
              <a:rPr lang="en-US" sz="13350" b="1" dirty="0">
                <a:solidFill>
                  <a:srgbClr val="000000"/>
                </a:solidFill>
                <a:latin typeface="Inter Bold" pitchFamily="34" charset="0"/>
                <a:ea typeface="Inter Bold" pitchFamily="34" charset="-122"/>
                <a:cs typeface="Inter Bold" pitchFamily="34" charset="-120"/>
              </a:rPr>
              <a:t>Thank You!</a:t>
            </a:r>
            <a:endParaRPr lang="en-US" sz="13350" dirty="0"/>
          </a:p>
        </p:txBody>
      </p:sp>
      <p:sp>
        <p:nvSpPr>
          <p:cNvPr id="3" name="Text 1"/>
          <p:cNvSpPr/>
          <p:nvPr/>
        </p:nvSpPr>
        <p:spPr>
          <a:xfrm>
            <a:off x="5027652" y="4474845"/>
            <a:ext cx="4575096" cy="425291"/>
          </a:xfrm>
          <a:prstGeom prst="rect">
            <a:avLst/>
          </a:prstGeom>
          <a:noFill/>
          <a:ln/>
        </p:spPr>
        <p:txBody>
          <a:bodyPr wrap="none" lIns="0" tIns="0" rIns="0" bIns="0" rtlCol="0" anchor="t"/>
          <a:lstStyle/>
          <a:p>
            <a:pPr marL="0" indent="0" algn="ctr">
              <a:lnSpc>
                <a:spcPts val="3300"/>
              </a:lnSpc>
              <a:buNone/>
            </a:pPr>
            <a:r>
              <a:rPr lang="en-US" sz="2650" b="1" dirty="0">
                <a:solidFill>
                  <a:srgbClr val="000000"/>
                </a:solidFill>
                <a:latin typeface="Inter Bold" pitchFamily="34" charset="0"/>
                <a:ea typeface="Inter Bold" pitchFamily="34" charset="-122"/>
                <a:cs typeface="Inter Bold" pitchFamily="34" charset="-120"/>
              </a:rPr>
              <a:t>For your time and attention.</a:t>
            </a:r>
            <a:endParaRPr lang="en-US" sz="2650" dirty="0"/>
          </a:p>
        </p:txBody>
      </p:sp>
      <p:sp>
        <p:nvSpPr>
          <p:cNvPr id="4" name="Text 2"/>
          <p:cNvSpPr/>
          <p:nvPr/>
        </p:nvSpPr>
        <p:spPr>
          <a:xfrm>
            <a:off x="793790" y="5240298"/>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272525"/>
                </a:solidFill>
                <a:latin typeface="Inter" pitchFamily="34" charset="0"/>
                <a:ea typeface="Inter" pitchFamily="34" charset="-122"/>
                <a:cs typeface="Inter" pitchFamily="34" charset="-120"/>
              </a:rPr>
              <a:t>We are excited about the future of interprofessional education with BRIDGE.</a:t>
            </a:r>
            <a:endParaRPr lang="en-US" sz="1750" dirty="0"/>
          </a:p>
        </p:txBody>
      </p:sp>
      <p:sp>
        <p:nvSpPr>
          <p:cNvPr id="5" name="Text 3"/>
          <p:cNvSpPr/>
          <p:nvPr/>
        </p:nvSpPr>
        <p:spPr>
          <a:xfrm>
            <a:off x="793790" y="5858351"/>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272525"/>
                </a:solidFill>
                <a:latin typeface="Inter" pitchFamily="34" charset="0"/>
                <a:ea typeface="Inter" pitchFamily="34" charset="-122"/>
                <a:cs typeface="Inter" pitchFamily="34" charset="-120"/>
              </a:rPr>
              <a:t>Feel free to reach out with any questions.</a:t>
            </a:r>
            <a:endParaRPr lang="en-US" sz="1750" dirty="0"/>
          </a:p>
        </p:txBody>
      </p:sp>
      <p:sp>
        <p:nvSpPr>
          <p:cNvPr id="6" name="Rectangle 5">
            <a:extLst>
              <a:ext uri="{FF2B5EF4-FFF2-40B4-BE49-F238E27FC236}">
                <a16:creationId xmlns:a16="http://schemas.microsoft.com/office/drawing/2014/main" id="{ABFB977D-00F3-5308-ADB9-D78467E7BF4B}"/>
              </a:ext>
            </a:extLst>
          </p:cNvPr>
          <p:cNvSpPr/>
          <p:nvPr/>
        </p:nvSpPr>
        <p:spPr>
          <a:xfrm>
            <a:off x="12764022" y="7628351"/>
            <a:ext cx="1766170" cy="6012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1486</Words>
  <Application>Microsoft Macintosh PowerPoint</Application>
  <PresentationFormat>Custom</PresentationFormat>
  <Paragraphs>151</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Inter</vt:lpstr>
      <vt:lpstr>Inter Bold</vt:lpstr>
      <vt:lpstr>Inter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HARI PRASANNAA T R</cp:lastModifiedBy>
  <cp:revision>2</cp:revision>
  <dcterms:created xsi:type="dcterms:W3CDTF">2026-04-21T19:19:51Z</dcterms:created>
  <dcterms:modified xsi:type="dcterms:W3CDTF">2026-04-21T19:24:12Z</dcterms:modified>
</cp:coreProperties>
</file>