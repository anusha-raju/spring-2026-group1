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4630400" cy="8229600"/>
  <p:notesSz cx="8229600" cy="14630400"/>
  <p:embeddedFontLst>
    <p:embeddedFont>
      <p:font typeface="Inter" panose="02000503000000020004" pitchFamily="2"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399"/>
    <p:restoredTop sz="94610"/>
  </p:normalViewPr>
  <p:slideViewPr>
    <p:cSldViewPr snapToGrid="0" snapToObjects="1">
      <p:cViewPr varScale="1">
        <p:scale>
          <a:sx n="96" d="100"/>
          <a:sy n="96" d="100"/>
        </p:scale>
        <p:origin x="18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4424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hyperlink" Target="http://35.169.252.108:8080/" TargetMode="External"/><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897523" y="841534"/>
            <a:ext cx="2835235" cy="354330"/>
          </a:xfrm>
          <a:prstGeom prst="rect">
            <a:avLst/>
          </a:prstGeom>
          <a:noFill/>
          <a:ln/>
        </p:spPr>
        <p:txBody>
          <a:bodyPr wrap="none" lIns="0" tIns="0" rIns="0" bIns="0" rtlCol="0" anchor="t"/>
          <a:lstStyle/>
          <a:p>
            <a:pPr marL="0" indent="0" algn="ctr">
              <a:lnSpc>
                <a:spcPts val="2750"/>
              </a:lnSpc>
              <a:buNone/>
            </a:pPr>
            <a:r>
              <a:rPr lang="en-US" sz="2200" b="1" dirty="0">
                <a:solidFill>
                  <a:srgbClr val="000000"/>
                </a:solidFill>
                <a:latin typeface="Inter Bold" pitchFamily="34" charset="0"/>
                <a:ea typeface="Inter Bold" pitchFamily="34" charset="-122"/>
                <a:cs typeface="Inter Bold" pitchFamily="34" charset="-120"/>
              </a:rPr>
              <a:t>BRIDGE</a:t>
            </a:r>
            <a:endParaRPr lang="en-US" sz="2200" dirty="0"/>
          </a:p>
        </p:txBody>
      </p:sp>
      <p:sp>
        <p:nvSpPr>
          <p:cNvPr id="3" name="Text 1"/>
          <p:cNvSpPr/>
          <p:nvPr/>
        </p:nvSpPr>
        <p:spPr>
          <a:xfrm>
            <a:off x="793790" y="1536025"/>
            <a:ext cx="13042821" cy="3912870"/>
          </a:xfrm>
          <a:prstGeom prst="rect">
            <a:avLst/>
          </a:prstGeom>
          <a:noFill/>
          <a:ln/>
        </p:spPr>
        <p:txBody>
          <a:bodyPr wrap="square" lIns="0" tIns="0" rIns="0" bIns="0" rtlCol="0" anchor="t"/>
          <a:lstStyle/>
          <a:p>
            <a:pPr marL="0" indent="0" algn="ctr">
              <a:lnSpc>
                <a:spcPts val="7700"/>
              </a:lnSpc>
              <a:buNone/>
            </a:pPr>
            <a:r>
              <a:rPr lang="en-US" sz="6150" b="1" dirty="0">
                <a:solidFill>
                  <a:srgbClr val="000000"/>
                </a:solidFill>
                <a:latin typeface="Inter Bold" pitchFamily="34" charset="0"/>
                <a:ea typeface="Inter Bold" pitchFamily="34" charset="-122"/>
                <a:cs typeface="Inter Bold" pitchFamily="34" charset="-120"/>
              </a:rPr>
              <a:t>Bridging Roles and Responsibilities through Interdisciplinary Dialogue and Agent Engagement</a:t>
            </a:r>
            <a:endParaRPr lang="en-US" sz="6150" dirty="0"/>
          </a:p>
        </p:txBody>
      </p:sp>
      <p:sp>
        <p:nvSpPr>
          <p:cNvPr id="4" name="Text 2"/>
          <p:cNvSpPr/>
          <p:nvPr/>
        </p:nvSpPr>
        <p:spPr>
          <a:xfrm>
            <a:off x="793790" y="5789057"/>
            <a:ext cx="13042821" cy="362903"/>
          </a:xfrm>
          <a:prstGeom prst="rect">
            <a:avLst/>
          </a:prstGeom>
          <a:noFill/>
          <a:ln/>
        </p:spPr>
        <p:txBody>
          <a:bodyPr wrap="none" lIns="0" tIns="0" rIns="0" bIns="0" rtlCol="0" anchor="t"/>
          <a:lstStyle/>
          <a:p>
            <a:pPr marL="0" indent="0" algn="ctr">
              <a:lnSpc>
                <a:spcPts val="2850"/>
              </a:lnSpc>
              <a:buNone/>
            </a:pPr>
            <a:r>
              <a:rPr lang="en-US" sz="1750" dirty="0">
                <a:solidFill>
                  <a:srgbClr val="272525"/>
                </a:solidFill>
                <a:latin typeface="Inter" pitchFamily="34" charset="0"/>
                <a:ea typeface="Inter" pitchFamily="34" charset="-122"/>
                <a:cs typeface="Inter" pitchFamily="34" charset="-120"/>
              </a:rPr>
              <a:t>A Multi-Agent Retrieval-Augmented System for Interprofessional Healthcare Education</a:t>
            </a:r>
            <a:endParaRPr lang="en-US" sz="1750" dirty="0"/>
          </a:p>
        </p:txBody>
      </p:sp>
      <p:sp>
        <p:nvSpPr>
          <p:cNvPr id="5" name="Text 3"/>
          <p:cNvSpPr/>
          <p:nvPr/>
        </p:nvSpPr>
        <p:spPr>
          <a:xfrm>
            <a:off x="793790" y="6407110"/>
            <a:ext cx="13042821" cy="362903"/>
          </a:xfrm>
          <a:prstGeom prst="rect">
            <a:avLst/>
          </a:prstGeom>
          <a:noFill/>
          <a:ln/>
        </p:spPr>
        <p:txBody>
          <a:bodyPr wrap="none" lIns="0" tIns="0" rIns="0" bIns="0" rtlCol="0" anchor="t"/>
          <a:lstStyle/>
          <a:p>
            <a:pPr marL="0" indent="0" algn="ctr">
              <a:lnSpc>
                <a:spcPts val="2850"/>
              </a:lnSpc>
              <a:buNone/>
            </a:pPr>
            <a:r>
              <a:rPr lang="en-US" sz="1750" b="1" dirty="0">
                <a:solidFill>
                  <a:srgbClr val="272525"/>
                </a:solidFill>
                <a:latin typeface="Inter" pitchFamily="34" charset="0"/>
                <a:ea typeface="Inter" pitchFamily="34" charset="-122"/>
                <a:cs typeface="Inter" pitchFamily="34" charset="-120"/>
              </a:rPr>
              <a:t>Anusha Umashankar</a:t>
            </a:r>
            <a:r>
              <a:rPr lang="en-US" sz="1750" dirty="0">
                <a:solidFill>
                  <a:srgbClr val="272525"/>
                </a:solidFill>
                <a:latin typeface="Inter" pitchFamily="34" charset="0"/>
                <a:ea typeface="Inter" pitchFamily="34" charset="-122"/>
                <a:cs typeface="Inter" pitchFamily="34" charset="-120"/>
              </a:rPr>
              <a:t> · </a:t>
            </a:r>
            <a:r>
              <a:rPr lang="en-US" sz="1750" b="1" dirty="0">
                <a:solidFill>
                  <a:srgbClr val="272525"/>
                </a:solidFill>
                <a:latin typeface="Inter" pitchFamily="34" charset="0"/>
                <a:ea typeface="Inter" pitchFamily="34" charset="-122"/>
                <a:cs typeface="Inter" pitchFamily="34" charset="-120"/>
              </a:rPr>
              <a:t>Hari Prasannaa Thangavel Ravi</a:t>
            </a:r>
            <a:endParaRPr lang="en-US" sz="1750" dirty="0"/>
          </a:p>
        </p:txBody>
      </p:sp>
      <p:sp>
        <p:nvSpPr>
          <p:cNvPr id="6" name="Text 4"/>
          <p:cNvSpPr/>
          <p:nvPr/>
        </p:nvSpPr>
        <p:spPr>
          <a:xfrm>
            <a:off x="793790" y="7025164"/>
            <a:ext cx="13042821" cy="362903"/>
          </a:xfrm>
          <a:prstGeom prst="rect">
            <a:avLst/>
          </a:prstGeom>
          <a:noFill/>
          <a:ln/>
        </p:spPr>
        <p:txBody>
          <a:bodyPr wrap="none" lIns="0" tIns="0" rIns="0" bIns="0" rtlCol="0" anchor="t"/>
          <a:lstStyle/>
          <a:p>
            <a:pPr marL="0" indent="0" algn="ctr">
              <a:lnSpc>
                <a:spcPts val="2850"/>
              </a:lnSpc>
              <a:buNone/>
            </a:pPr>
            <a:r>
              <a:rPr lang="en-US" sz="1750" dirty="0">
                <a:solidFill>
                  <a:srgbClr val="272525"/>
                </a:solidFill>
                <a:latin typeface="Inter" pitchFamily="34" charset="0"/>
                <a:ea typeface="Inter" pitchFamily="34" charset="-122"/>
                <a:cs typeface="Inter" pitchFamily="34" charset="-120"/>
              </a:rPr>
              <a:t>Data Science Program, George Washington University</a:t>
            </a:r>
            <a:endParaRPr lang="en-US" sz="1750" dirty="0"/>
          </a:p>
        </p:txBody>
      </p:sp>
      <p:sp>
        <p:nvSpPr>
          <p:cNvPr id="7" name="Rectangle 6">
            <a:extLst>
              <a:ext uri="{FF2B5EF4-FFF2-40B4-BE49-F238E27FC236}">
                <a16:creationId xmlns:a16="http://schemas.microsoft.com/office/drawing/2014/main" id="{E6162235-EFD5-13AB-388D-2DD59C2C995C}"/>
              </a:ext>
            </a:extLst>
          </p:cNvPr>
          <p:cNvSpPr/>
          <p:nvPr/>
        </p:nvSpPr>
        <p:spPr>
          <a:xfrm>
            <a:off x="12826652" y="7703507"/>
            <a:ext cx="1716066" cy="526093"/>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323737" y="545663"/>
            <a:ext cx="4341614" cy="542687"/>
          </a:xfrm>
          <a:prstGeom prst="rect">
            <a:avLst/>
          </a:prstGeom>
          <a:noFill/>
          <a:ln/>
        </p:spPr>
        <p:txBody>
          <a:bodyPr wrap="none" lIns="0" tIns="0" rIns="0" bIns="0" rtlCol="0" anchor="t"/>
          <a:lstStyle/>
          <a:p>
            <a:pPr marL="0" indent="0" algn="l">
              <a:lnSpc>
                <a:spcPts val="4250"/>
              </a:lnSpc>
              <a:buNone/>
            </a:pPr>
            <a:r>
              <a:rPr lang="en-US" sz="3400" b="1" dirty="0">
                <a:solidFill>
                  <a:srgbClr val="000000"/>
                </a:solidFill>
                <a:latin typeface="Inter Bold" pitchFamily="34" charset="0"/>
                <a:ea typeface="Inter Bold" pitchFamily="34" charset="-122"/>
                <a:cs typeface="Inter Bold" pitchFamily="34" charset="-120"/>
              </a:rPr>
              <a:t>Problem Statement</a:t>
            </a:r>
            <a:endParaRPr lang="en-US" sz="3400" dirty="0"/>
          </a:p>
        </p:txBody>
      </p:sp>
      <p:sp>
        <p:nvSpPr>
          <p:cNvPr id="3" name="Text 1"/>
          <p:cNvSpPr/>
          <p:nvPr/>
        </p:nvSpPr>
        <p:spPr>
          <a:xfrm>
            <a:off x="1323737" y="1354217"/>
            <a:ext cx="11982807" cy="245269"/>
          </a:xfrm>
          <a:prstGeom prst="rect">
            <a:avLst/>
          </a:prstGeom>
          <a:noFill/>
          <a:ln/>
        </p:spPr>
        <p:txBody>
          <a:bodyPr wrap="none" lIns="0" tIns="0" rIns="0" bIns="0" rtlCol="0" anchor="t"/>
          <a:lstStyle/>
          <a:p>
            <a:pPr marL="0" indent="0" algn="l">
              <a:lnSpc>
                <a:spcPts val="1900"/>
              </a:lnSpc>
              <a:buNone/>
            </a:pPr>
            <a:r>
              <a:rPr lang="en-US" sz="1350" b="1" dirty="0">
                <a:solidFill>
                  <a:srgbClr val="272525"/>
                </a:solidFill>
                <a:latin typeface="Inter" pitchFamily="34" charset="0"/>
                <a:ea typeface="Inter" pitchFamily="34" charset="-122"/>
                <a:cs typeface="Inter" pitchFamily="34" charset="-120"/>
              </a:rPr>
              <a:t>Healthcare is a team sport. Training for it usually is not.</a:t>
            </a:r>
            <a:endParaRPr lang="en-US" sz="1350" dirty="0"/>
          </a:p>
        </p:txBody>
      </p:sp>
      <p:sp>
        <p:nvSpPr>
          <p:cNvPr id="4" name="Shape 2"/>
          <p:cNvSpPr/>
          <p:nvPr/>
        </p:nvSpPr>
        <p:spPr>
          <a:xfrm>
            <a:off x="1323737" y="1792367"/>
            <a:ext cx="11982807" cy="12978"/>
          </a:xfrm>
          <a:prstGeom prst="rect">
            <a:avLst/>
          </a:prstGeom>
          <a:solidFill>
            <a:srgbClr val="272525">
              <a:alpha val="50000"/>
            </a:srgbClr>
          </a:solidFill>
          <a:ln/>
        </p:spPr>
        <p:txBody>
          <a:bodyPr/>
          <a:lstStyle/>
          <a:p>
            <a:endParaRPr lang="en-US"/>
          </a:p>
        </p:txBody>
      </p:sp>
      <p:sp>
        <p:nvSpPr>
          <p:cNvPr id="5" name="Text 3"/>
          <p:cNvSpPr/>
          <p:nvPr/>
        </p:nvSpPr>
        <p:spPr>
          <a:xfrm>
            <a:off x="1323737" y="2048113"/>
            <a:ext cx="4048839" cy="271224"/>
          </a:xfrm>
          <a:prstGeom prst="rect">
            <a:avLst/>
          </a:prstGeom>
          <a:noFill/>
          <a:ln/>
        </p:spPr>
        <p:txBody>
          <a:bodyPr wrap="none" lIns="0" tIns="0" rIns="0" bIns="0" rtlCol="0" anchor="t"/>
          <a:lstStyle/>
          <a:p>
            <a:pPr marL="0" indent="0" algn="l">
              <a:lnSpc>
                <a:spcPts val="2100"/>
              </a:lnSpc>
              <a:buNone/>
            </a:pPr>
            <a:r>
              <a:rPr lang="en-US" sz="1700" b="1" dirty="0">
                <a:solidFill>
                  <a:srgbClr val="000000"/>
                </a:solidFill>
                <a:latin typeface="Inter Bold" pitchFamily="34" charset="0"/>
                <a:ea typeface="Inter Bold" pitchFamily="34" charset="-122"/>
                <a:cs typeface="Inter Bold" pitchFamily="34" charset="-120"/>
              </a:rPr>
              <a:t>Interprofessional Education Challenge</a:t>
            </a:r>
            <a:endParaRPr lang="en-US" sz="1700" dirty="0"/>
          </a:p>
        </p:txBody>
      </p:sp>
      <p:sp>
        <p:nvSpPr>
          <p:cNvPr id="6" name="Text 4"/>
          <p:cNvSpPr/>
          <p:nvPr/>
        </p:nvSpPr>
        <p:spPr>
          <a:xfrm>
            <a:off x="1323737" y="2518767"/>
            <a:ext cx="11982807" cy="490538"/>
          </a:xfrm>
          <a:prstGeom prst="rect">
            <a:avLst/>
          </a:prstGeom>
          <a:noFill/>
          <a:ln/>
        </p:spPr>
        <p:txBody>
          <a:bodyPr wrap="square" lIns="0" tIns="0" rIns="0" bIns="0" rtlCol="0" anchor="t"/>
          <a:lstStyle/>
          <a:p>
            <a:pPr marL="0" indent="0" algn="l">
              <a:lnSpc>
                <a:spcPts val="1900"/>
              </a:lnSpc>
              <a:buNone/>
            </a:pPr>
            <a:r>
              <a:rPr lang="en-US" sz="1350" dirty="0">
                <a:solidFill>
                  <a:srgbClr val="272525"/>
                </a:solidFill>
                <a:latin typeface="Inter" pitchFamily="34" charset="0"/>
                <a:ea typeface="Inter" pitchFamily="34" charset="-122"/>
                <a:cs typeface="Inter" pitchFamily="34" charset="-120"/>
              </a:rPr>
              <a:t>Interprofessional Education (IPE) requires students from nursing, medicine, social work, public health, and allied fields to learn together, but coordinating schedules, standardized patients, and facilitators across schools is expensive and rarely happens at scale.</a:t>
            </a:r>
            <a:endParaRPr lang="en-US" sz="1350" dirty="0"/>
          </a:p>
        </p:txBody>
      </p:sp>
      <p:sp>
        <p:nvSpPr>
          <p:cNvPr id="7" name="Shape 5"/>
          <p:cNvSpPr/>
          <p:nvPr/>
        </p:nvSpPr>
        <p:spPr>
          <a:xfrm>
            <a:off x="1323737" y="3202186"/>
            <a:ext cx="11982807" cy="12978"/>
          </a:xfrm>
          <a:prstGeom prst="rect">
            <a:avLst/>
          </a:prstGeom>
          <a:solidFill>
            <a:srgbClr val="272525">
              <a:alpha val="50000"/>
            </a:srgbClr>
          </a:solidFill>
          <a:ln/>
        </p:spPr>
        <p:txBody>
          <a:bodyPr/>
          <a:lstStyle/>
          <a:p>
            <a:endParaRPr lang="en-US"/>
          </a:p>
        </p:txBody>
      </p:sp>
      <p:sp>
        <p:nvSpPr>
          <p:cNvPr id="8" name="Text 6"/>
          <p:cNvSpPr/>
          <p:nvPr/>
        </p:nvSpPr>
        <p:spPr>
          <a:xfrm>
            <a:off x="1323737" y="3457932"/>
            <a:ext cx="2432328" cy="271224"/>
          </a:xfrm>
          <a:prstGeom prst="rect">
            <a:avLst/>
          </a:prstGeom>
          <a:noFill/>
          <a:ln/>
        </p:spPr>
        <p:txBody>
          <a:bodyPr wrap="none" lIns="0" tIns="0" rIns="0" bIns="0" rtlCol="0" anchor="t"/>
          <a:lstStyle/>
          <a:p>
            <a:pPr marL="0" indent="0" algn="l">
              <a:lnSpc>
                <a:spcPts val="2100"/>
              </a:lnSpc>
              <a:buNone/>
            </a:pPr>
            <a:r>
              <a:rPr lang="en-US" sz="1700" b="1" dirty="0">
                <a:solidFill>
                  <a:srgbClr val="000000"/>
                </a:solidFill>
                <a:latin typeface="Inter Bold" pitchFamily="34" charset="0"/>
                <a:ea typeface="Inter Bold" pitchFamily="34" charset="-122"/>
                <a:cs typeface="Inter Bold" pitchFamily="34" charset="-120"/>
              </a:rPr>
              <a:t>LLM-Based Alternative</a:t>
            </a:r>
            <a:endParaRPr lang="en-US" sz="1700" dirty="0"/>
          </a:p>
        </p:txBody>
      </p:sp>
      <p:sp>
        <p:nvSpPr>
          <p:cNvPr id="9" name="Text 7"/>
          <p:cNvSpPr/>
          <p:nvPr/>
        </p:nvSpPr>
        <p:spPr>
          <a:xfrm>
            <a:off x="1323737" y="3928586"/>
            <a:ext cx="11982807" cy="245269"/>
          </a:xfrm>
          <a:prstGeom prst="rect">
            <a:avLst/>
          </a:prstGeom>
          <a:noFill/>
          <a:ln/>
        </p:spPr>
        <p:txBody>
          <a:bodyPr wrap="none" lIns="0" tIns="0" rIns="0" bIns="0" rtlCol="0" anchor="t"/>
          <a:lstStyle/>
          <a:p>
            <a:pPr marL="0" indent="0" algn="l">
              <a:lnSpc>
                <a:spcPts val="1900"/>
              </a:lnSpc>
              <a:buNone/>
            </a:pPr>
            <a:r>
              <a:rPr lang="en-US" sz="1350" dirty="0">
                <a:solidFill>
                  <a:srgbClr val="272525"/>
                </a:solidFill>
                <a:latin typeface="Inter" pitchFamily="34" charset="0"/>
                <a:ea typeface="Inter" pitchFamily="34" charset="-122"/>
                <a:cs typeface="Inter" pitchFamily="34" charset="-120"/>
              </a:rPr>
              <a:t>LLM-based tutors are an obvious alternative: always available, infinitely patient, tunable by system prompt.</a:t>
            </a:r>
            <a:endParaRPr lang="en-US" sz="1350" dirty="0"/>
          </a:p>
        </p:txBody>
      </p:sp>
      <p:sp>
        <p:nvSpPr>
          <p:cNvPr id="10" name="Shape 8"/>
          <p:cNvSpPr/>
          <p:nvPr/>
        </p:nvSpPr>
        <p:spPr>
          <a:xfrm>
            <a:off x="1323737" y="4366736"/>
            <a:ext cx="11982807" cy="12978"/>
          </a:xfrm>
          <a:prstGeom prst="rect">
            <a:avLst/>
          </a:prstGeom>
          <a:solidFill>
            <a:srgbClr val="272525">
              <a:alpha val="50000"/>
            </a:srgbClr>
          </a:solidFill>
          <a:ln/>
        </p:spPr>
        <p:txBody>
          <a:bodyPr/>
          <a:lstStyle/>
          <a:p>
            <a:endParaRPr lang="en-US"/>
          </a:p>
        </p:txBody>
      </p:sp>
      <p:sp>
        <p:nvSpPr>
          <p:cNvPr id="11" name="Text 9"/>
          <p:cNvSpPr/>
          <p:nvPr/>
        </p:nvSpPr>
        <p:spPr>
          <a:xfrm>
            <a:off x="1323737" y="4622483"/>
            <a:ext cx="2170748" cy="271224"/>
          </a:xfrm>
          <a:prstGeom prst="rect">
            <a:avLst/>
          </a:prstGeom>
          <a:noFill/>
          <a:ln/>
        </p:spPr>
        <p:txBody>
          <a:bodyPr wrap="none" lIns="0" tIns="0" rIns="0" bIns="0" rtlCol="0" anchor="t"/>
          <a:lstStyle/>
          <a:p>
            <a:pPr marL="0" indent="0" algn="l">
              <a:lnSpc>
                <a:spcPts val="2100"/>
              </a:lnSpc>
              <a:buNone/>
            </a:pPr>
            <a:r>
              <a:rPr lang="en-US" sz="1700" b="1" dirty="0">
                <a:solidFill>
                  <a:srgbClr val="000000"/>
                </a:solidFill>
                <a:latin typeface="Inter Bold" pitchFamily="34" charset="0"/>
                <a:ea typeface="Inter Bold" pitchFamily="34" charset="-122"/>
                <a:cs typeface="Inter Bold" pitchFamily="34" charset="-120"/>
              </a:rPr>
              <a:t>Two Critical Risks</a:t>
            </a:r>
            <a:endParaRPr lang="en-US" sz="1700" dirty="0"/>
          </a:p>
        </p:txBody>
      </p:sp>
      <p:sp>
        <p:nvSpPr>
          <p:cNvPr id="12" name="Text 10"/>
          <p:cNvSpPr/>
          <p:nvPr/>
        </p:nvSpPr>
        <p:spPr>
          <a:xfrm>
            <a:off x="1323737" y="5093137"/>
            <a:ext cx="11982807" cy="536972"/>
          </a:xfrm>
          <a:prstGeom prst="rect">
            <a:avLst/>
          </a:prstGeom>
          <a:noFill/>
          <a:ln/>
        </p:spPr>
        <p:txBody>
          <a:bodyPr wrap="square" lIns="0" tIns="0" rIns="0" bIns="0" rtlCol="0" anchor="t"/>
          <a:lstStyle/>
          <a:p>
            <a:pPr marL="342900" indent="-342900" algn="l">
              <a:lnSpc>
                <a:spcPts val="1900"/>
              </a:lnSpc>
              <a:buSzPct val="100000"/>
              <a:buChar char="•"/>
            </a:pPr>
            <a:r>
              <a:rPr lang="en-US" sz="1350" dirty="0">
                <a:solidFill>
                  <a:srgbClr val="272525"/>
                </a:solidFill>
                <a:latin typeface="Inter" pitchFamily="34" charset="0"/>
                <a:ea typeface="Inter" pitchFamily="34" charset="-122"/>
                <a:cs typeface="Inter" pitchFamily="34" charset="-120"/>
              </a:rPr>
              <a:t>Knowledge drift — clinical guidelines change faster than model training cycles.</a:t>
            </a:r>
            <a:endParaRPr lang="en-US" sz="1350" dirty="0"/>
          </a:p>
          <a:p>
            <a:pPr marL="342900" indent="-342900" algn="l">
              <a:lnSpc>
                <a:spcPts val="1900"/>
              </a:lnSpc>
              <a:buSzPct val="100000"/>
              <a:buChar char="•"/>
            </a:pPr>
            <a:r>
              <a:rPr lang="en-US" sz="1350" dirty="0">
                <a:solidFill>
                  <a:srgbClr val="272525"/>
                </a:solidFill>
                <a:latin typeface="Inter" pitchFamily="34" charset="0"/>
                <a:ea typeface="Inter" pitchFamily="34" charset="-122"/>
                <a:cs typeface="Inter" pitchFamily="34" charset="-120"/>
              </a:rPr>
              <a:t>Confident hallucination — LLMs state wrong doses with fluent certainty.</a:t>
            </a:r>
            <a:endParaRPr lang="en-US" sz="1350" dirty="0"/>
          </a:p>
        </p:txBody>
      </p:sp>
      <p:sp>
        <p:nvSpPr>
          <p:cNvPr id="13" name="Shape 11"/>
          <p:cNvSpPr/>
          <p:nvPr/>
        </p:nvSpPr>
        <p:spPr>
          <a:xfrm>
            <a:off x="1323737" y="5822990"/>
            <a:ext cx="11982807" cy="12978"/>
          </a:xfrm>
          <a:prstGeom prst="rect">
            <a:avLst/>
          </a:prstGeom>
          <a:solidFill>
            <a:srgbClr val="272525">
              <a:alpha val="50000"/>
            </a:srgbClr>
          </a:solidFill>
          <a:ln/>
        </p:spPr>
        <p:txBody>
          <a:bodyPr/>
          <a:lstStyle/>
          <a:p>
            <a:endParaRPr lang="en-US"/>
          </a:p>
        </p:txBody>
      </p:sp>
      <p:sp>
        <p:nvSpPr>
          <p:cNvPr id="14" name="Text 12"/>
          <p:cNvSpPr/>
          <p:nvPr/>
        </p:nvSpPr>
        <p:spPr>
          <a:xfrm>
            <a:off x="1323737" y="6028849"/>
            <a:ext cx="11982807" cy="245269"/>
          </a:xfrm>
          <a:prstGeom prst="rect">
            <a:avLst/>
          </a:prstGeom>
          <a:noFill/>
          <a:ln/>
        </p:spPr>
        <p:txBody>
          <a:bodyPr wrap="none" lIns="0" tIns="0" rIns="0" bIns="0" rtlCol="0" anchor="t"/>
          <a:lstStyle/>
          <a:p>
            <a:pPr marL="0" indent="0" algn="l">
              <a:lnSpc>
                <a:spcPts val="1900"/>
              </a:lnSpc>
              <a:buNone/>
            </a:pPr>
            <a:r>
              <a:rPr lang="en-US" sz="1350" b="1" dirty="0">
                <a:solidFill>
                  <a:srgbClr val="272525"/>
                </a:solidFill>
                <a:latin typeface="Inter" pitchFamily="34" charset="0"/>
                <a:ea typeface="Inter" pitchFamily="34" charset="-122"/>
                <a:cs typeface="Inter" pitchFamily="34" charset="-120"/>
              </a:rPr>
              <a:t>Imagine a student asking, "What's the naloxone dose for Julia?" and the AI confidently answers wrong.</a:t>
            </a:r>
            <a:endParaRPr lang="en-US" sz="1350" dirty="0"/>
          </a:p>
        </p:txBody>
      </p:sp>
      <p:sp>
        <p:nvSpPr>
          <p:cNvPr id="15" name="Shape 13"/>
          <p:cNvSpPr/>
          <p:nvPr/>
        </p:nvSpPr>
        <p:spPr>
          <a:xfrm>
            <a:off x="1323737" y="6466999"/>
            <a:ext cx="11982807" cy="12978"/>
          </a:xfrm>
          <a:prstGeom prst="rect">
            <a:avLst/>
          </a:prstGeom>
          <a:solidFill>
            <a:srgbClr val="272525">
              <a:alpha val="50000"/>
            </a:srgbClr>
          </a:solidFill>
          <a:ln/>
        </p:spPr>
        <p:txBody>
          <a:bodyPr/>
          <a:lstStyle/>
          <a:p>
            <a:endParaRPr lang="en-US"/>
          </a:p>
        </p:txBody>
      </p:sp>
      <p:sp>
        <p:nvSpPr>
          <p:cNvPr id="16" name="Text 14"/>
          <p:cNvSpPr/>
          <p:nvPr/>
        </p:nvSpPr>
        <p:spPr>
          <a:xfrm>
            <a:off x="1323737" y="6722745"/>
            <a:ext cx="2170748" cy="271224"/>
          </a:xfrm>
          <a:prstGeom prst="rect">
            <a:avLst/>
          </a:prstGeom>
          <a:noFill/>
          <a:ln/>
        </p:spPr>
        <p:txBody>
          <a:bodyPr wrap="none" lIns="0" tIns="0" rIns="0" bIns="0" rtlCol="0" anchor="t"/>
          <a:lstStyle/>
          <a:p>
            <a:pPr marL="0" indent="0" algn="l">
              <a:lnSpc>
                <a:spcPts val="2100"/>
              </a:lnSpc>
              <a:buNone/>
            </a:pPr>
            <a:r>
              <a:rPr lang="en-US" sz="1700" b="1" dirty="0">
                <a:solidFill>
                  <a:srgbClr val="000000"/>
                </a:solidFill>
                <a:latin typeface="Inter Bold" pitchFamily="34" charset="0"/>
                <a:ea typeface="Inter Bold" pitchFamily="34" charset="-122"/>
                <a:cs typeface="Inter Bold" pitchFamily="34" charset="-120"/>
              </a:rPr>
              <a:t>Research Gap</a:t>
            </a:r>
            <a:endParaRPr lang="en-US" sz="1700" dirty="0"/>
          </a:p>
        </p:txBody>
      </p:sp>
      <p:sp>
        <p:nvSpPr>
          <p:cNvPr id="17" name="Text 15"/>
          <p:cNvSpPr/>
          <p:nvPr/>
        </p:nvSpPr>
        <p:spPr>
          <a:xfrm>
            <a:off x="1323737" y="7193399"/>
            <a:ext cx="11982807" cy="490538"/>
          </a:xfrm>
          <a:prstGeom prst="rect">
            <a:avLst/>
          </a:prstGeom>
          <a:noFill/>
          <a:ln/>
        </p:spPr>
        <p:txBody>
          <a:bodyPr wrap="square" lIns="0" tIns="0" rIns="0" bIns="0" rtlCol="0" anchor="t"/>
          <a:lstStyle/>
          <a:p>
            <a:pPr marL="0" indent="0" algn="l">
              <a:lnSpc>
                <a:spcPts val="1900"/>
              </a:lnSpc>
              <a:buNone/>
            </a:pPr>
            <a:r>
              <a:rPr lang="en-US" sz="1350" dirty="0">
                <a:solidFill>
                  <a:srgbClr val="272525"/>
                </a:solidFill>
                <a:latin typeface="Inter" pitchFamily="34" charset="0"/>
                <a:ea typeface="Inter" pitchFamily="34" charset="-122"/>
                <a:cs typeface="Inter" pitchFamily="34" charset="-120"/>
              </a:rPr>
              <a:t>No published system combines multi-agent role simulation with evidence-grounded retrieval for IPE and no one has measured the retrieval-layer design choices that matter for this setting.</a:t>
            </a:r>
            <a:endParaRPr lang="en-US" sz="1350" dirty="0"/>
          </a:p>
        </p:txBody>
      </p:sp>
      <p:sp>
        <p:nvSpPr>
          <p:cNvPr id="18" name="Rectangle 17">
            <a:extLst>
              <a:ext uri="{FF2B5EF4-FFF2-40B4-BE49-F238E27FC236}">
                <a16:creationId xmlns:a16="http://schemas.microsoft.com/office/drawing/2014/main" id="{9FADFBE8-6442-5D86-D7E3-00707985A524}"/>
              </a:ext>
            </a:extLst>
          </p:cNvPr>
          <p:cNvSpPr/>
          <p:nvPr/>
        </p:nvSpPr>
        <p:spPr>
          <a:xfrm>
            <a:off x="12864230" y="7683937"/>
            <a:ext cx="1665962" cy="45798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6">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anim calcmode="lin" valueType="num">
                                      <p:cBhvr>
                                        <p:cTn id="21" dur="500" fill="hold"/>
                                        <p:tgtEl>
                                          <p:spTgt spid="8">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8">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8">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9">
                                            <p:txEl>
                                              <p:pRg st="0" end="0"/>
                                            </p:txEl>
                                          </p:spTgt>
                                        </p:tgtEl>
                                        <p:attrNameLst>
                                          <p:attrName>style.visibility</p:attrName>
                                        </p:attrNameLst>
                                      </p:cBhvr>
                                      <p:to>
                                        <p:strVal val="visible"/>
                                      </p:to>
                                    </p:set>
                                    <p:anim calcmode="lin" valueType="num">
                                      <p:cBhvr>
                                        <p:cTn id="28" dur="500" fill="hold"/>
                                        <p:tgtEl>
                                          <p:spTgt spid="9">
                                            <p:txEl>
                                              <p:pRg st="0" end="0"/>
                                            </p:txEl>
                                          </p:spTgt>
                                        </p:tgtEl>
                                        <p:attrNameLst>
                                          <p:attrName>ppt_w</p:attrName>
                                        </p:attrNameLst>
                                      </p:cBhvr>
                                      <p:tavLst>
                                        <p:tav tm="0">
                                          <p:val>
                                            <p:fltVal val="0"/>
                                          </p:val>
                                        </p:tav>
                                        <p:tav tm="100000">
                                          <p:val>
                                            <p:strVal val="#ppt_w"/>
                                          </p:val>
                                        </p:tav>
                                      </p:tavLst>
                                    </p:anim>
                                    <p:anim calcmode="lin" valueType="num">
                                      <p:cBhvr>
                                        <p:cTn id="29" dur="500" fill="hold"/>
                                        <p:tgtEl>
                                          <p:spTgt spid="9">
                                            <p:txEl>
                                              <p:pRg st="0" end="0"/>
                                            </p:txEl>
                                          </p:spTgt>
                                        </p:tgtEl>
                                        <p:attrNameLst>
                                          <p:attrName>ppt_h</p:attrName>
                                        </p:attrNameLst>
                                      </p:cBhvr>
                                      <p:tavLst>
                                        <p:tav tm="0">
                                          <p:val>
                                            <p:fltVal val="0"/>
                                          </p:val>
                                        </p:tav>
                                        <p:tav tm="100000">
                                          <p:val>
                                            <p:strVal val="#ppt_h"/>
                                          </p:val>
                                        </p:tav>
                                      </p:tavLst>
                                    </p:anim>
                                    <p:animEffect transition="in" filter="fade">
                                      <p:cBhvr>
                                        <p:cTn id="30" dur="500"/>
                                        <p:tgtEl>
                                          <p:spTgt spid="9">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p:cTn id="35" dur="500" fill="hold"/>
                                        <p:tgtEl>
                                          <p:spTgt spid="10"/>
                                        </p:tgtEl>
                                        <p:attrNameLst>
                                          <p:attrName>ppt_w</p:attrName>
                                        </p:attrNameLst>
                                      </p:cBhvr>
                                      <p:tavLst>
                                        <p:tav tm="0">
                                          <p:val>
                                            <p:fltVal val="0"/>
                                          </p:val>
                                        </p:tav>
                                        <p:tav tm="100000">
                                          <p:val>
                                            <p:strVal val="#ppt_w"/>
                                          </p:val>
                                        </p:tav>
                                      </p:tavLst>
                                    </p:anim>
                                    <p:anim calcmode="lin" valueType="num">
                                      <p:cBhvr>
                                        <p:cTn id="36" dur="500" fill="hold"/>
                                        <p:tgtEl>
                                          <p:spTgt spid="10"/>
                                        </p:tgtEl>
                                        <p:attrNameLst>
                                          <p:attrName>ppt_h</p:attrName>
                                        </p:attrNameLst>
                                      </p:cBhvr>
                                      <p:tavLst>
                                        <p:tav tm="0">
                                          <p:val>
                                            <p:fltVal val="0"/>
                                          </p:val>
                                        </p:tav>
                                        <p:tav tm="100000">
                                          <p:val>
                                            <p:strVal val="#ppt_h"/>
                                          </p:val>
                                        </p:tav>
                                      </p:tavLst>
                                    </p:anim>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11">
                                            <p:txEl>
                                              <p:pRg st="0" end="0"/>
                                            </p:txEl>
                                          </p:spTgt>
                                        </p:tgtEl>
                                        <p:attrNameLst>
                                          <p:attrName>style.visibility</p:attrName>
                                        </p:attrNameLst>
                                      </p:cBhvr>
                                      <p:to>
                                        <p:strVal val="visible"/>
                                      </p:to>
                                    </p:set>
                                    <p:anim calcmode="lin" valueType="num">
                                      <p:cBhvr>
                                        <p:cTn id="42" dur="500" fill="hold"/>
                                        <p:tgtEl>
                                          <p:spTgt spid="11">
                                            <p:txEl>
                                              <p:pRg st="0" end="0"/>
                                            </p:txEl>
                                          </p:spTgt>
                                        </p:tgtEl>
                                        <p:attrNameLst>
                                          <p:attrName>ppt_w</p:attrName>
                                        </p:attrNameLst>
                                      </p:cBhvr>
                                      <p:tavLst>
                                        <p:tav tm="0">
                                          <p:val>
                                            <p:fltVal val="0"/>
                                          </p:val>
                                        </p:tav>
                                        <p:tav tm="100000">
                                          <p:val>
                                            <p:strVal val="#ppt_w"/>
                                          </p:val>
                                        </p:tav>
                                      </p:tavLst>
                                    </p:anim>
                                    <p:anim calcmode="lin" valueType="num">
                                      <p:cBhvr>
                                        <p:cTn id="43" dur="500" fill="hold"/>
                                        <p:tgtEl>
                                          <p:spTgt spid="11">
                                            <p:txEl>
                                              <p:pRg st="0" end="0"/>
                                            </p:txEl>
                                          </p:spTgt>
                                        </p:tgtEl>
                                        <p:attrNameLst>
                                          <p:attrName>ppt_h</p:attrName>
                                        </p:attrNameLst>
                                      </p:cBhvr>
                                      <p:tavLst>
                                        <p:tav tm="0">
                                          <p:val>
                                            <p:fltVal val="0"/>
                                          </p:val>
                                        </p:tav>
                                        <p:tav tm="100000">
                                          <p:val>
                                            <p:strVal val="#ppt_h"/>
                                          </p:val>
                                        </p:tav>
                                      </p:tavLst>
                                    </p:anim>
                                    <p:animEffect transition="in" filter="fade">
                                      <p:cBhvr>
                                        <p:cTn id="44" dur="500"/>
                                        <p:tgtEl>
                                          <p:spTgt spid="11">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12">
                                            <p:txEl>
                                              <p:pRg st="0" end="0"/>
                                            </p:txEl>
                                          </p:spTgt>
                                        </p:tgtEl>
                                        <p:attrNameLst>
                                          <p:attrName>style.visibility</p:attrName>
                                        </p:attrNameLst>
                                      </p:cBhvr>
                                      <p:to>
                                        <p:strVal val="visible"/>
                                      </p:to>
                                    </p:set>
                                    <p:anim calcmode="lin" valueType="num">
                                      <p:cBhvr>
                                        <p:cTn id="49" dur="500" fill="hold"/>
                                        <p:tgtEl>
                                          <p:spTgt spid="12">
                                            <p:txEl>
                                              <p:pRg st="0" end="0"/>
                                            </p:txEl>
                                          </p:spTgt>
                                        </p:tgtEl>
                                        <p:attrNameLst>
                                          <p:attrName>ppt_w</p:attrName>
                                        </p:attrNameLst>
                                      </p:cBhvr>
                                      <p:tavLst>
                                        <p:tav tm="0">
                                          <p:val>
                                            <p:fltVal val="0"/>
                                          </p:val>
                                        </p:tav>
                                        <p:tav tm="100000">
                                          <p:val>
                                            <p:strVal val="#ppt_w"/>
                                          </p:val>
                                        </p:tav>
                                      </p:tavLst>
                                    </p:anim>
                                    <p:anim calcmode="lin" valueType="num">
                                      <p:cBhvr>
                                        <p:cTn id="50" dur="500" fill="hold"/>
                                        <p:tgtEl>
                                          <p:spTgt spid="12">
                                            <p:txEl>
                                              <p:pRg st="0" end="0"/>
                                            </p:txEl>
                                          </p:spTgt>
                                        </p:tgtEl>
                                        <p:attrNameLst>
                                          <p:attrName>ppt_h</p:attrName>
                                        </p:attrNameLst>
                                      </p:cBhvr>
                                      <p:tavLst>
                                        <p:tav tm="0">
                                          <p:val>
                                            <p:fltVal val="0"/>
                                          </p:val>
                                        </p:tav>
                                        <p:tav tm="100000">
                                          <p:val>
                                            <p:strVal val="#ppt_h"/>
                                          </p:val>
                                        </p:tav>
                                      </p:tavLst>
                                    </p:anim>
                                    <p:animEffect transition="in" filter="fade">
                                      <p:cBhvr>
                                        <p:cTn id="51" dur="500"/>
                                        <p:tgtEl>
                                          <p:spTgt spid="12">
                                            <p:txEl>
                                              <p:pRg st="0" end="0"/>
                                            </p:txEl>
                                          </p:spTgt>
                                        </p:tgtEl>
                                      </p:cBhvr>
                                    </p:animEffect>
                                  </p:childTnLst>
                                </p:cTn>
                              </p:par>
                              <p:par>
                                <p:cTn id="52" presetID="53" presetClass="entr" presetSubtype="16" fill="hold" nodeType="withEffect">
                                  <p:stCondLst>
                                    <p:cond delay="0"/>
                                  </p:stCondLst>
                                  <p:childTnLst>
                                    <p:set>
                                      <p:cBhvr>
                                        <p:cTn id="53" dur="1" fill="hold">
                                          <p:stCondLst>
                                            <p:cond delay="0"/>
                                          </p:stCondLst>
                                        </p:cTn>
                                        <p:tgtEl>
                                          <p:spTgt spid="12">
                                            <p:txEl>
                                              <p:pRg st="1" end="1"/>
                                            </p:txEl>
                                          </p:spTgt>
                                        </p:tgtEl>
                                        <p:attrNameLst>
                                          <p:attrName>style.visibility</p:attrName>
                                        </p:attrNameLst>
                                      </p:cBhvr>
                                      <p:to>
                                        <p:strVal val="visible"/>
                                      </p:to>
                                    </p:set>
                                    <p:anim calcmode="lin" valueType="num">
                                      <p:cBhvr>
                                        <p:cTn id="54" dur="500" fill="hold"/>
                                        <p:tgtEl>
                                          <p:spTgt spid="12">
                                            <p:txEl>
                                              <p:pRg st="1" end="1"/>
                                            </p:txEl>
                                          </p:spTgt>
                                        </p:tgtEl>
                                        <p:attrNameLst>
                                          <p:attrName>ppt_w</p:attrName>
                                        </p:attrNameLst>
                                      </p:cBhvr>
                                      <p:tavLst>
                                        <p:tav tm="0">
                                          <p:val>
                                            <p:fltVal val="0"/>
                                          </p:val>
                                        </p:tav>
                                        <p:tav tm="100000">
                                          <p:val>
                                            <p:strVal val="#ppt_w"/>
                                          </p:val>
                                        </p:tav>
                                      </p:tavLst>
                                    </p:anim>
                                    <p:anim calcmode="lin" valueType="num">
                                      <p:cBhvr>
                                        <p:cTn id="55" dur="500" fill="hold"/>
                                        <p:tgtEl>
                                          <p:spTgt spid="12">
                                            <p:txEl>
                                              <p:pRg st="1" end="1"/>
                                            </p:txEl>
                                          </p:spTgt>
                                        </p:tgtEl>
                                        <p:attrNameLst>
                                          <p:attrName>ppt_h</p:attrName>
                                        </p:attrNameLst>
                                      </p:cBhvr>
                                      <p:tavLst>
                                        <p:tav tm="0">
                                          <p:val>
                                            <p:fltVal val="0"/>
                                          </p:val>
                                        </p:tav>
                                        <p:tav tm="100000">
                                          <p:val>
                                            <p:strVal val="#ppt_h"/>
                                          </p:val>
                                        </p:tav>
                                      </p:tavLst>
                                    </p:anim>
                                    <p:animEffect transition="in" filter="fade">
                                      <p:cBhvr>
                                        <p:cTn id="56" dur="500"/>
                                        <p:tgtEl>
                                          <p:spTgt spid="12">
                                            <p:txEl>
                                              <p:pRg st="1" end="1"/>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 calcmode="lin" valueType="num">
                                      <p:cBhvr>
                                        <p:cTn id="61" dur="500" fill="hold"/>
                                        <p:tgtEl>
                                          <p:spTgt spid="13"/>
                                        </p:tgtEl>
                                        <p:attrNameLst>
                                          <p:attrName>ppt_w</p:attrName>
                                        </p:attrNameLst>
                                      </p:cBhvr>
                                      <p:tavLst>
                                        <p:tav tm="0">
                                          <p:val>
                                            <p:fltVal val="0"/>
                                          </p:val>
                                        </p:tav>
                                        <p:tav tm="100000">
                                          <p:val>
                                            <p:strVal val="#ppt_w"/>
                                          </p:val>
                                        </p:tav>
                                      </p:tavLst>
                                    </p:anim>
                                    <p:anim calcmode="lin" valueType="num">
                                      <p:cBhvr>
                                        <p:cTn id="62" dur="500" fill="hold"/>
                                        <p:tgtEl>
                                          <p:spTgt spid="13"/>
                                        </p:tgtEl>
                                        <p:attrNameLst>
                                          <p:attrName>ppt_h</p:attrName>
                                        </p:attrNameLst>
                                      </p:cBhvr>
                                      <p:tavLst>
                                        <p:tav tm="0">
                                          <p:val>
                                            <p:fltVal val="0"/>
                                          </p:val>
                                        </p:tav>
                                        <p:tav tm="100000">
                                          <p:val>
                                            <p:strVal val="#ppt_h"/>
                                          </p:val>
                                        </p:tav>
                                      </p:tavLst>
                                    </p:anim>
                                    <p:animEffect transition="in" filter="fade">
                                      <p:cBhvr>
                                        <p:cTn id="63" dur="500"/>
                                        <p:tgtEl>
                                          <p:spTgt spid="13"/>
                                        </p:tgtEl>
                                      </p:cBhvr>
                                    </p:animEffect>
                                  </p:childTnLst>
                                </p:cTn>
                              </p:par>
                            </p:childTnLst>
                          </p:cTn>
                        </p:par>
                      </p:childTnLst>
                    </p:cTn>
                  </p:par>
                  <p:par>
                    <p:cTn id="64" fill="hold">
                      <p:stCondLst>
                        <p:cond delay="indefinite"/>
                      </p:stCondLst>
                      <p:childTnLst>
                        <p:par>
                          <p:cTn id="65" fill="hold">
                            <p:stCondLst>
                              <p:cond delay="0"/>
                            </p:stCondLst>
                            <p:childTnLst>
                              <p:par>
                                <p:cTn id="66" presetID="53" presetClass="entr" presetSubtype="16" fill="hold" nodeType="clickEffect">
                                  <p:stCondLst>
                                    <p:cond delay="0"/>
                                  </p:stCondLst>
                                  <p:childTnLst>
                                    <p:set>
                                      <p:cBhvr>
                                        <p:cTn id="67" dur="1" fill="hold">
                                          <p:stCondLst>
                                            <p:cond delay="0"/>
                                          </p:stCondLst>
                                        </p:cTn>
                                        <p:tgtEl>
                                          <p:spTgt spid="14">
                                            <p:txEl>
                                              <p:pRg st="0" end="0"/>
                                            </p:txEl>
                                          </p:spTgt>
                                        </p:tgtEl>
                                        <p:attrNameLst>
                                          <p:attrName>style.visibility</p:attrName>
                                        </p:attrNameLst>
                                      </p:cBhvr>
                                      <p:to>
                                        <p:strVal val="visible"/>
                                      </p:to>
                                    </p:set>
                                    <p:anim calcmode="lin" valueType="num">
                                      <p:cBhvr>
                                        <p:cTn id="68" dur="500" fill="hold"/>
                                        <p:tgtEl>
                                          <p:spTgt spid="14">
                                            <p:txEl>
                                              <p:pRg st="0" end="0"/>
                                            </p:txEl>
                                          </p:spTgt>
                                        </p:tgtEl>
                                        <p:attrNameLst>
                                          <p:attrName>ppt_w</p:attrName>
                                        </p:attrNameLst>
                                      </p:cBhvr>
                                      <p:tavLst>
                                        <p:tav tm="0">
                                          <p:val>
                                            <p:fltVal val="0"/>
                                          </p:val>
                                        </p:tav>
                                        <p:tav tm="100000">
                                          <p:val>
                                            <p:strVal val="#ppt_w"/>
                                          </p:val>
                                        </p:tav>
                                      </p:tavLst>
                                    </p:anim>
                                    <p:anim calcmode="lin" valueType="num">
                                      <p:cBhvr>
                                        <p:cTn id="69" dur="500" fill="hold"/>
                                        <p:tgtEl>
                                          <p:spTgt spid="14">
                                            <p:txEl>
                                              <p:pRg st="0" end="0"/>
                                            </p:txEl>
                                          </p:spTgt>
                                        </p:tgtEl>
                                        <p:attrNameLst>
                                          <p:attrName>ppt_h</p:attrName>
                                        </p:attrNameLst>
                                      </p:cBhvr>
                                      <p:tavLst>
                                        <p:tav tm="0">
                                          <p:val>
                                            <p:fltVal val="0"/>
                                          </p:val>
                                        </p:tav>
                                        <p:tav tm="100000">
                                          <p:val>
                                            <p:strVal val="#ppt_h"/>
                                          </p:val>
                                        </p:tav>
                                      </p:tavLst>
                                    </p:anim>
                                    <p:animEffect transition="in" filter="fade">
                                      <p:cBhvr>
                                        <p:cTn id="70" dur="500"/>
                                        <p:tgtEl>
                                          <p:spTgt spid="14">
                                            <p:txEl>
                                              <p:pRg st="0" end="0"/>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53" presetClass="entr" presetSubtype="16" fill="hold" grpId="0" nodeType="clickEffect">
                                  <p:stCondLst>
                                    <p:cond delay="0"/>
                                  </p:stCondLst>
                                  <p:childTnLst>
                                    <p:set>
                                      <p:cBhvr>
                                        <p:cTn id="74" dur="1" fill="hold">
                                          <p:stCondLst>
                                            <p:cond delay="0"/>
                                          </p:stCondLst>
                                        </p:cTn>
                                        <p:tgtEl>
                                          <p:spTgt spid="15"/>
                                        </p:tgtEl>
                                        <p:attrNameLst>
                                          <p:attrName>style.visibility</p:attrName>
                                        </p:attrNameLst>
                                      </p:cBhvr>
                                      <p:to>
                                        <p:strVal val="visible"/>
                                      </p:to>
                                    </p:set>
                                    <p:anim calcmode="lin" valueType="num">
                                      <p:cBhvr>
                                        <p:cTn id="75" dur="500" fill="hold"/>
                                        <p:tgtEl>
                                          <p:spTgt spid="15"/>
                                        </p:tgtEl>
                                        <p:attrNameLst>
                                          <p:attrName>ppt_w</p:attrName>
                                        </p:attrNameLst>
                                      </p:cBhvr>
                                      <p:tavLst>
                                        <p:tav tm="0">
                                          <p:val>
                                            <p:fltVal val="0"/>
                                          </p:val>
                                        </p:tav>
                                        <p:tav tm="100000">
                                          <p:val>
                                            <p:strVal val="#ppt_w"/>
                                          </p:val>
                                        </p:tav>
                                      </p:tavLst>
                                    </p:anim>
                                    <p:anim calcmode="lin" valueType="num">
                                      <p:cBhvr>
                                        <p:cTn id="76" dur="500" fill="hold"/>
                                        <p:tgtEl>
                                          <p:spTgt spid="15"/>
                                        </p:tgtEl>
                                        <p:attrNameLst>
                                          <p:attrName>ppt_h</p:attrName>
                                        </p:attrNameLst>
                                      </p:cBhvr>
                                      <p:tavLst>
                                        <p:tav tm="0">
                                          <p:val>
                                            <p:fltVal val="0"/>
                                          </p:val>
                                        </p:tav>
                                        <p:tav tm="100000">
                                          <p:val>
                                            <p:strVal val="#ppt_h"/>
                                          </p:val>
                                        </p:tav>
                                      </p:tavLst>
                                    </p:anim>
                                    <p:animEffect transition="in" filter="fade">
                                      <p:cBhvr>
                                        <p:cTn id="77" dur="500"/>
                                        <p:tgtEl>
                                          <p:spTgt spid="15"/>
                                        </p:tgtEl>
                                      </p:cBhvr>
                                    </p:animEffect>
                                  </p:childTnLst>
                                </p:cTn>
                              </p:par>
                            </p:childTnLst>
                          </p:cTn>
                        </p:par>
                      </p:childTnLst>
                    </p:cTn>
                  </p:par>
                  <p:par>
                    <p:cTn id="78" fill="hold">
                      <p:stCondLst>
                        <p:cond delay="indefinite"/>
                      </p:stCondLst>
                      <p:childTnLst>
                        <p:par>
                          <p:cTn id="79" fill="hold">
                            <p:stCondLst>
                              <p:cond delay="0"/>
                            </p:stCondLst>
                            <p:childTnLst>
                              <p:par>
                                <p:cTn id="80" presetID="53" presetClass="entr" presetSubtype="16" fill="hold" nodeType="clickEffect">
                                  <p:stCondLst>
                                    <p:cond delay="0"/>
                                  </p:stCondLst>
                                  <p:childTnLst>
                                    <p:set>
                                      <p:cBhvr>
                                        <p:cTn id="81" dur="1" fill="hold">
                                          <p:stCondLst>
                                            <p:cond delay="0"/>
                                          </p:stCondLst>
                                        </p:cTn>
                                        <p:tgtEl>
                                          <p:spTgt spid="16">
                                            <p:txEl>
                                              <p:pRg st="0" end="0"/>
                                            </p:txEl>
                                          </p:spTgt>
                                        </p:tgtEl>
                                        <p:attrNameLst>
                                          <p:attrName>style.visibility</p:attrName>
                                        </p:attrNameLst>
                                      </p:cBhvr>
                                      <p:to>
                                        <p:strVal val="visible"/>
                                      </p:to>
                                    </p:set>
                                    <p:anim calcmode="lin" valueType="num">
                                      <p:cBhvr>
                                        <p:cTn id="82" dur="500" fill="hold"/>
                                        <p:tgtEl>
                                          <p:spTgt spid="16">
                                            <p:txEl>
                                              <p:pRg st="0" end="0"/>
                                            </p:txEl>
                                          </p:spTgt>
                                        </p:tgtEl>
                                        <p:attrNameLst>
                                          <p:attrName>ppt_w</p:attrName>
                                        </p:attrNameLst>
                                      </p:cBhvr>
                                      <p:tavLst>
                                        <p:tav tm="0">
                                          <p:val>
                                            <p:fltVal val="0"/>
                                          </p:val>
                                        </p:tav>
                                        <p:tav tm="100000">
                                          <p:val>
                                            <p:strVal val="#ppt_w"/>
                                          </p:val>
                                        </p:tav>
                                      </p:tavLst>
                                    </p:anim>
                                    <p:anim calcmode="lin" valueType="num">
                                      <p:cBhvr>
                                        <p:cTn id="83" dur="500" fill="hold"/>
                                        <p:tgtEl>
                                          <p:spTgt spid="16">
                                            <p:txEl>
                                              <p:pRg st="0" end="0"/>
                                            </p:txEl>
                                          </p:spTgt>
                                        </p:tgtEl>
                                        <p:attrNameLst>
                                          <p:attrName>ppt_h</p:attrName>
                                        </p:attrNameLst>
                                      </p:cBhvr>
                                      <p:tavLst>
                                        <p:tav tm="0">
                                          <p:val>
                                            <p:fltVal val="0"/>
                                          </p:val>
                                        </p:tav>
                                        <p:tav tm="100000">
                                          <p:val>
                                            <p:strVal val="#ppt_h"/>
                                          </p:val>
                                        </p:tav>
                                      </p:tavLst>
                                    </p:anim>
                                    <p:animEffect transition="in" filter="fade">
                                      <p:cBhvr>
                                        <p:cTn id="84" dur="500"/>
                                        <p:tgtEl>
                                          <p:spTgt spid="16">
                                            <p:txEl>
                                              <p:pRg st="0" end="0"/>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53" presetClass="entr" presetSubtype="16" fill="hold" nodeType="clickEffect">
                                  <p:stCondLst>
                                    <p:cond delay="0"/>
                                  </p:stCondLst>
                                  <p:childTnLst>
                                    <p:set>
                                      <p:cBhvr>
                                        <p:cTn id="88" dur="1" fill="hold">
                                          <p:stCondLst>
                                            <p:cond delay="0"/>
                                          </p:stCondLst>
                                        </p:cTn>
                                        <p:tgtEl>
                                          <p:spTgt spid="17">
                                            <p:txEl>
                                              <p:pRg st="0" end="0"/>
                                            </p:txEl>
                                          </p:spTgt>
                                        </p:tgtEl>
                                        <p:attrNameLst>
                                          <p:attrName>style.visibility</p:attrName>
                                        </p:attrNameLst>
                                      </p:cBhvr>
                                      <p:to>
                                        <p:strVal val="visible"/>
                                      </p:to>
                                    </p:set>
                                    <p:anim calcmode="lin" valueType="num">
                                      <p:cBhvr>
                                        <p:cTn id="8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90" dur="500" fill="hold"/>
                                        <p:tgtEl>
                                          <p:spTgt spid="17">
                                            <p:txEl>
                                              <p:pRg st="0" end="0"/>
                                            </p:txEl>
                                          </p:spTgt>
                                        </p:tgtEl>
                                        <p:attrNameLst>
                                          <p:attrName>ppt_h</p:attrName>
                                        </p:attrNameLst>
                                      </p:cBhvr>
                                      <p:tavLst>
                                        <p:tav tm="0">
                                          <p:val>
                                            <p:fltVal val="0"/>
                                          </p:val>
                                        </p:tav>
                                        <p:tav tm="100000">
                                          <p:val>
                                            <p:strVal val="#ppt_h"/>
                                          </p:val>
                                        </p:tav>
                                      </p:tavLst>
                                    </p:anim>
                                    <p:animEffect transition="in" filter="fade">
                                      <p:cBhvr>
                                        <p:cTn id="91" dur="5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3" grpId="0" animBg="1"/>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10164366" y="90368"/>
            <a:ext cx="3445550" cy="8048863"/>
          </a:xfrm>
          <a:prstGeom prst="rect">
            <a:avLst/>
          </a:prstGeom>
        </p:spPr>
      </p:pic>
      <p:sp>
        <p:nvSpPr>
          <p:cNvPr id="4" name="Text 0"/>
          <p:cNvSpPr/>
          <p:nvPr/>
        </p:nvSpPr>
        <p:spPr>
          <a:xfrm>
            <a:off x="632579" y="576858"/>
            <a:ext cx="6190774" cy="564713"/>
          </a:xfrm>
          <a:prstGeom prst="rect">
            <a:avLst/>
          </a:prstGeom>
          <a:noFill/>
          <a:ln/>
        </p:spPr>
        <p:txBody>
          <a:bodyPr wrap="none" lIns="0" tIns="0" rIns="0" bIns="0" rtlCol="0" anchor="t"/>
          <a:lstStyle/>
          <a:p>
            <a:pPr marL="0" indent="0" algn="l">
              <a:lnSpc>
                <a:spcPts val="4400"/>
              </a:lnSpc>
              <a:buNone/>
            </a:pPr>
            <a:r>
              <a:rPr lang="en-US" sz="3550" b="1" dirty="0">
                <a:solidFill>
                  <a:srgbClr val="000000"/>
                </a:solidFill>
                <a:latin typeface="Inter Bold" pitchFamily="34" charset="0"/>
                <a:ea typeface="Inter Bold" pitchFamily="34" charset="-122"/>
                <a:cs typeface="Inter Bold" pitchFamily="34" charset="-120"/>
              </a:rPr>
              <a:t>The Current BRIDGE System</a:t>
            </a:r>
            <a:endParaRPr lang="en-US" sz="3550" dirty="0"/>
          </a:p>
        </p:txBody>
      </p:sp>
      <p:sp>
        <p:nvSpPr>
          <p:cNvPr id="5" name="Text 1"/>
          <p:cNvSpPr/>
          <p:nvPr/>
        </p:nvSpPr>
        <p:spPr>
          <a:xfrm>
            <a:off x="632579" y="1357551"/>
            <a:ext cx="7878842" cy="519589"/>
          </a:xfrm>
          <a:prstGeom prst="rect">
            <a:avLst/>
          </a:prstGeom>
          <a:noFill/>
          <a:ln/>
        </p:spPr>
        <p:txBody>
          <a:bodyPr wrap="squar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Six specialized agents respond in parallel to every student question, each bringing their profession's perspective.</a:t>
            </a:r>
            <a:endParaRPr lang="en-US" sz="1400" dirty="0"/>
          </a:p>
        </p:txBody>
      </p:sp>
      <p:sp>
        <p:nvSpPr>
          <p:cNvPr id="6" name="Text 2"/>
          <p:cNvSpPr/>
          <p:nvPr/>
        </p:nvSpPr>
        <p:spPr>
          <a:xfrm>
            <a:off x="632579" y="2093119"/>
            <a:ext cx="3272433" cy="338852"/>
          </a:xfrm>
          <a:prstGeom prst="rect">
            <a:avLst/>
          </a:prstGeom>
          <a:noFill/>
          <a:ln/>
        </p:spPr>
        <p:txBody>
          <a:bodyPr wrap="none" lIns="0" tIns="0" rIns="0" bIns="0" rtlCol="0" anchor="t"/>
          <a:lstStyle/>
          <a:p>
            <a:pPr marL="0" indent="0" algn="l">
              <a:lnSpc>
                <a:spcPts val="2650"/>
              </a:lnSpc>
              <a:buNone/>
            </a:pPr>
            <a:r>
              <a:rPr lang="en-US" sz="2100" b="1" dirty="0">
                <a:solidFill>
                  <a:srgbClr val="000000"/>
                </a:solidFill>
                <a:latin typeface="Inter Bold" pitchFamily="34" charset="0"/>
                <a:ea typeface="Inter Bold" pitchFamily="34" charset="-122"/>
                <a:cs typeface="Inter Bold" pitchFamily="34" charset="-120"/>
              </a:rPr>
              <a:t>Six Role-Specific Agents</a:t>
            </a:r>
            <a:endParaRPr lang="en-US" sz="2100" dirty="0"/>
          </a:p>
        </p:txBody>
      </p:sp>
      <p:sp>
        <p:nvSpPr>
          <p:cNvPr id="7" name="Shape 3"/>
          <p:cNvSpPr/>
          <p:nvPr/>
        </p:nvSpPr>
        <p:spPr>
          <a:xfrm>
            <a:off x="632579" y="2647950"/>
            <a:ext cx="7878842" cy="3194685"/>
          </a:xfrm>
          <a:prstGeom prst="roundRect">
            <a:avLst>
              <a:gd name="adj" fmla="val 2376"/>
            </a:avLst>
          </a:prstGeom>
          <a:noFill/>
          <a:ln w="7620">
            <a:solidFill>
              <a:srgbClr val="000000">
                <a:alpha val="8000"/>
              </a:srgbClr>
            </a:solidFill>
            <a:prstDash val="solid"/>
          </a:ln>
        </p:spPr>
        <p:txBody>
          <a:bodyPr/>
          <a:lstStyle/>
          <a:p>
            <a:endParaRPr lang="en-US"/>
          </a:p>
        </p:txBody>
      </p:sp>
      <p:sp>
        <p:nvSpPr>
          <p:cNvPr id="8" name="Text 4"/>
          <p:cNvSpPr/>
          <p:nvPr/>
        </p:nvSpPr>
        <p:spPr>
          <a:xfrm>
            <a:off x="821055" y="2749510"/>
            <a:ext cx="2780109" cy="259794"/>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Agent Role</a:t>
            </a:r>
            <a:endParaRPr lang="en-US" sz="1400" dirty="0"/>
          </a:p>
        </p:txBody>
      </p:sp>
      <p:sp>
        <p:nvSpPr>
          <p:cNvPr id="9" name="Text 5"/>
          <p:cNvSpPr/>
          <p:nvPr/>
        </p:nvSpPr>
        <p:spPr>
          <a:xfrm>
            <a:off x="3970258" y="2749510"/>
            <a:ext cx="4352806" cy="259794"/>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Focus Area</a:t>
            </a:r>
            <a:endParaRPr lang="en-US" sz="1400" dirty="0"/>
          </a:p>
        </p:txBody>
      </p:sp>
      <p:sp>
        <p:nvSpPr>
          <p:cNvPr id="10" name="Text 6"/>
          <p:cNvSpPr/>
          <p:nvPr/>
        </p:nvSpPr>
        <p:spPr>
          <a:xfrm>
            <a:off x="821055" y="3204805"/>
            <a:ext cx="2780109" cy="259794"/>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Nurse</a:t>
            </a:r>
            <a:endParaRPr lang="en-US" sz="1400" dirty="0"/>
          </a:p>
        </p:txBody>
      </p:sp>
      <p:sp>
        <p:nvSpPr>
          <p:cNvPr id="11" name="Text 7"/>
          <p:cNvSpPr/>
          <p:nvPr/>
        </p:nvSpPr>
        <p:spPr>
          <a:xfrm>
            <a:off x="3970258" y="3204805"/>
            <a:ext cx="4352806" cy="259794"/>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Patient care, nursing observations</a:t>
            </a:r>
            <a:endParaRPr lang="en-US" sz="1400" dirty="0"/>
          </a:p>
        </p:txBody>
      </p:sp>
      <p:sp>
        <p:nvSpPr>
          <p:cNvPr id="12" name="Text 8"/>
          <p:cNvSpPr/>
          <p:nvPr/>
        </p:nvSpPr>
        <p:spPr>
          <a:xfrm>
            <a:off x="821055" y="3660100"/>
            <a:ext cx="2780109" cy="259794"/>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Physician Assistant</a:t>
            </a:r>
            <a:endParaRPr lang="en-US" sz="1400" dirty="0"/>
          </a:p>
        </p:txBody>
      </p:sp>
      <p:sp>
        <p:nvSpPr>
          <p:cNvPr id="13" name="Text 9"/>
          <p:cNvSpPr/>
          <p:nvPr/>
        </p:nvSpPr>
        <p:spPr>
          <a:xfrm>
            <a:off x="3970258" y="3660100"/>
            <a:ext cx="4352806" cy="259794"/>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Diagnostics, treatment planning</a:t>
            </a:r>
            <a:endParaRPr lang="en-US" sz="1400" dirty="0"/>
          </a:p>
        </p:txBody>
      </p:sp>
      <p:sp>
        <p:nvSpPr>
          <p:cNvPr id="14" name="Text 10"/>
          <p:cNvSpPr/>
          <p:nvPr/>
        </p:nvSpPr>
        <p:spPr>
          <a:xfrm>
            <a:off x="821055" y="4115395"/>
            <a:ext cx="2780109" cy="259794"/>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Medical Social Worker</a:t>
            </a:r>
            <a:endParaRPr lang="en-US" sz="1400" dirty="0"/>
          </a:p>
        </p:txBody>
      </p:sp>
      <p:sp>
        <p:nvSpPr>
          <p:cNvPr id="15" name="Text 11"/>
          <p:cNvSpPr/>
          <p:nvPr/>
        </p:nvSpPr>
        <p:spPr>
          <a:xfrm>
            <a:off x="3970258" y="4115395"/>
            <a:ext cx="4352806" cy="259794"/>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Social care, community resources</a:t>
            </a:r>
            <a:endParaRPr lang="en-US" sz="1400" dirty="0"/>
          </a:p>
        </p:txBody>
      </p:sp>
      <p:sp>
        <p:nvSpPr>
          <p:cNvPr id="16" name="Text 12"/>
          <p:cNvSpPr/>
          <p:nvPr/>
        </p:nvSpPr>
        <p:spPr>
          <a:xfrm>
            <a:off x="821055" y="4570690"/>
            <a:ext cx="2780109" cy="259794"/>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Physical Therapist</a:t>
            </a:r>
            <a:endParaRPr lang="en-US" sz="1400" dirty="0"/>
          </a:p>
        </p:txBody>
      </p:sp>
      <p:sp>
        <p:nvSpPr>
          <p:cNvPr id="17" name="Text 13"/>
          <p:cNvSpPr/>
          <p:nvPr/>
        </p:nvSpPr>
        <p:spPr>
          <a:xfrm>
            <a:off x="3970258" y="4570690"/>
            <a:ext cx="4352806" cy="259794"/>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Rehabilitation, recovery</a:t>
            </a:r>
            <a:endParaRPr lang="en-US" sz="1400" dirty="0"/>
          </a:p>
        </p:txBody>
      </p:sp>
      <p:sp>
        <p:nvSpPr>
          <p:cNvPr id="18" name="Text 14"/>
          <p:cNvSpPr/>
          <p:nvPr/>
        </p:nvSpPr>
        <p:spPr>
          <a:xfrm>
            <a:off x="821055" y="5025985"/>
            <a:ext cx="2780109" cy="259794"/>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Public Health Professional</a:t>
            </a:r>
            <a:endParaRPr lang="en-US" sz="1400" dirty="0"/>
          </a:p>
        </p:txBody>
      </p:sp>
      <p:sp>
        <p:nvSpPr>
          <p:cNvPr id="19" name="Text 15"/>
          <p:cNvSpPr/>
          <p:nvPr/>
        </p:nvSpPr>
        <p:spPr>
          <a:xfrm>
            <a:off x="3970258" y="5025985"/>
            <a:ext cx="4352806" cy="259794"/>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Prevention, population health</a:t>
            </a:r>
            <a:endParaRPr lang="en-US" sz="1400" dirty="0"/>
          </a:p>
        </p:txBody>
      </p:sp>
      <p:sp>
        <p:nvSpPr>
          <p:cNvPr id="20" name="Text 16"/>
          <p:cNvSpPr/>
          <p:nvPr/>
        </p:nvSpPr>
        <p:spPr>
          <a:xfrm>
            <a:off x="821055" y="5481280"/>
            <a:ext cx="2780109" cy="259794"/>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Health Administrator</a:t>
            </a:r>
            <a:endParaRPr lang="en-US" sz="1400" dirty="0"/>
          </a:p>
        </p:txBody>
      </p:sp>
      <p:sp>
        <p:nvSpPr>
          <p:cNvPr id="21" name="Text 17"/>
          <p:cNvSpPr/>
          <p:nvPr/>
        </p:nvSpPr>
        <p:spPr>
          <a:xfrm>
            <a:off x="3970258" y="5481280"/>
            <a:ext cx="4352806" cy="259794"/>
          </a:xfrm>
          <a:prstGeom prst="rect">
            <a:avLst/>
          </a:prstGeom>
          <a:noFill/>
          <a:ln/>
        </p:spPr>
        <p:txBody>
          <a:bodyPr wrap="non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Policy, resource coordination</a:t>
            </a:r>
            <a:endParaRPr lang="en-US" sz="1400" dirty="0"/>
          </a:p>
        </p:txBody>
      </p:sp>
      <p:sp>
        <p:nvSpPr>
          <p:cNvPr id="22" name="Text 18"/>
          <p:cNvSpPr/>
          <p:nvPr/>
        </p:nvSpPr>
        <p:spPr>
          <a:xfrm>
            <a:off x="632579" y="6058614"/>
            <a:ext cx="2711291" cy="338852"/>
          </a:xfrm>
          <a:prstGeom prst="rect">
            <a:avLst/>
          </a:prstGeom>
          <a:noFill/>
          <a:ln/>
        </p:spPr>
        <p:txBody>
          <a:bodyPr wrap="none" lIns="0" tIns="0" rIns="0" bIns="0" rtlCol="0" anchor="t"/>
          <a:lstStyle/>
          <a:p>
            <a:pPr marL="0" indent="0" algn="l">
              <a:lnSpc>
                <a:spcPts val="2650"/>
              </a:lnSpc>
              <a:buNone/>
            </a:pPr>
            <a:r>
              <a:rPr lang="en-US" sz="2100" b="1" dirty="0">
                <a:solidFill>
                  <a:srgbClr val="000000"/>
                </a:solidFill>
                <a:latin typeface="Inter Bold" pitchFamily="34" charset="0"/>
                <a:ea typeface="Inter Bold" pitchFamily="34" charset="-122"/>
                <a:cs typeface="Inter Bold" pitchFamily="34" charset="-120"/>
              </a:rPr>
              <a:t>Personalization</a:t>
            </a:r>
            <a:endParaRPr lang="en-US" sz="2100" dirty="0"/>
          </a:p>
        </p:txBody>
      </p:sp>
      <p:sp>
        <p:nvSpPr>
          <p:cNvPr id="23" name="Text 19"/>
          <p:cNvSpPr/>
          <p:nvPr/>
        </p:nvSpPr>
        <p:spPr>
          <a:xfrm>
            <a:off x="632579" y="6613446"/>
            <a:ext cx="7878842" cy="1039178"/>
          </a:xfrm>
          <a:prstGeom prst="rect">
            <a:avLst/>
          </a:prstGeom>
          <a:noFill/>
          <a:ln/>
        </p:spPr>
        <p:txBody>
          <a:bodyPr wrap="square" lIns="0" tIns="0" rIns="0" bIns="0" rtlCol="0" anchor="t"/>
          <a:lstStyle/>
          <a:p>
            <a:pPr marL="0" indent="0" algn="l">
              <a:lnSpc>
                <a:spcPts val="2000"/>
              </a:lnSpc>
              <a:buNone/>
            </a:pPr>
            <a:r>
              <a:rPr lang="en-US" sz="1400" dirty="0">
                <a:solidFill>
                  <a:srgbClr val="272525"/>
                </a:solidFill>
                <a:latin typeface="Inter" pitchFamily="34" charset="0"/>
                <a:ea typeface="Inter" pitchFamily="34" charset="-122"/>
                <a:cs typeface="Inter" pitchFamily="34" charset="-120"/>
              </a:rPr>
              <a:t>A student intake form (role, years of experience, academic credentials, opioid-related clinical exposure) is injected into every agent's system prompt. A nursing student with one year of experience gets explanations framed differently than a practicing public-health professional asking the same question.</a:t>
            </a:r>
            <a:endParaRPr lang="en-US" sz="14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811417"/>
            <a:ext cx="9417487"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What's Broken in Baseline BRIDGE</a:t>
            </a:r>
            <a:endParaRPr lang="en-US" sz="4450" dirty="0"/>
          </a:p>
        </p:txBody>
      </p:sp>
      <p:sp>
        <p:nvSpPr>
          <p:cNvPr id="3" name="Text 1"/>
          <p:cNvSpPr/>
          <p:nvPr/>
        </p:nvSpPr>
        <p:spPr>
          <a:xfrm>
            <a:off x="793790" y="2610922"/>
            <a:ext cx="5721310" cy="425291"/>
          </a:xfrm>
          <a:prstGeom prst="rect">
            <a:avLst/>
          </a:prstGeom>
          <a:noFill/>
          <a:ln/>
        </p:spPr>
        <p:txBody>
          <a:bodyPr wrap="none" lIns="0" tIns="0" rIns="0" bIns="0" rtlCol="0" anchor="t"/>
          <a:lstStyle/>
          <a:p>
            <a:pPr marL="0" indent="0" algn="l">
              <a:lnSpc>
                <a:spcPts val="3300"/>
              </a:lnSpc>
              <a:buNone/>
            </a:pPr>
            <a:r>
              <a:rPr lang="en-US" sz="2650" b="1" dirty="0">
                <a:solidFill>
                  <a:srgbClr val="000000"/>
                </a:solidFill>
                <a:latin typeface="Inter Bold" pitchFamily="34" charset="0"/>
                <a:ea typeface="Inter Bold" pitchFamily="34" charset="-122"/>
                <a:cs typeface="Inter Bold" pitchFamily="34" charset="-120"/>
              </a:rPr>
              <a:t>Four limitations motivate this work</a:t>
            </a:r>
            <a:endParaRPr lang="en-US" sz="2650" dirty="0"/>
          </a:p>
        </p:txBody>
      </p:sp>
      <p:sp>
        <p:nvSpPr>
          <p:cNvPr id="4" name="Shape 2"/>
          <p:cNvSpPr/>
          <p:nvPr/>
        </p:nvSpPr>
        <p:spPr>
          <a:xfrm>
            <a:off x="793790" y="3376374"/>
            <a:ext cx="510302" cy="510302"/>
          </a:xfrm>
          <a:prstGeom prst="roundRect">
            <a:avLst>
              <a:gd name="adj" fmla="val 18669"/>
            </a:avLst>
          </a:prstGeom>
          <a:solidFill>
            <a:srgbClr val="DADBF1"/>
          </a:solidFill>
          <a:ln w="7620">
            <a:solidFill>
              <a:srgbClr val="C0C1D7"/>
            </a:solidFill>
            <a:prstDash val="solid"/>
          </a:ln>
        </p:spPr>
        <p:txBody>
          <a:bodyPr/>
          <a:lstStyle/>
          <a:p>
            <a:endParaRPr lang="en-US"/>
          </a:p>
        </p:txBody>
      </p:sp>
      <p:sp>
        <p:nvSpPr>
          <p:cNvPr id="5" name="Text 3"/>
          <p:cNvSpPr/>
          <p:nvPr/>
        </p:nvSpPr>
        <p:spPr>
          <a:xfrm>
            <a:off x="878860" y="3418880"/>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Inter Bold" pitchFamily="34" charset="0"/>
                <a:ea typeface="Inter Bold" pitchFamily="34" charset="-122"/>
                <a:cs typeface="Inter Bold" pitchFamily="34" charset="-120"/>
              </a:rPr>
              <a:t>1</a:t>
            </a:r>
            <a:endParaRPr lang="en-US" sz="2650" dirty="0"/>
          </a:p>
        </p:txBody>
      </p:sp>
      <p:sp>
        <p:nvSpPr>
          <p:cNvPr id="6" name="Text 4"/>
          <p:cNvSpPr/>
          <p:nvPr/>
        </p:nvSpPr>
        <p:spPr>
          <a:xfrm>
            <a:off x="1530906" y="3454241"/>
            <a:ext cx="3128129"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No External Grounding</a:t>
            </a:r>
            <a:br>
              <a:rPr lang="en-US" sz="2200" b="1" dirty="0">
                <a:solidFill>
                  <a:srgbClr val="272525"/>
                </a:solidFill>
                <a:latin typeface="Inter Bold" pitchFamily="34" charset="0"/>
                <a:ea typeface="Inter Bold" pitchFamily="34" charset="-122"/>
                <a:cs typeface="Inter Bold" pitchFamily="34" charset="-120"/>
              </a:rPr>
            </a:br>
            <a:endParaRPr lang="en-US" sz="2200" dirty="0"/>
          </a:p>
        </p:txBody>
      </p:sp>
      <p:sp>
        <p:nvSpPr>
          <p:cNvPr id="7" name="Text 5"/>
          <p:cNvSpPr/>
          <p:nvPr/>
        </p:nvSpPr>
        <p:spPr>
          <a:xfrm>
            <a:off x="1530906" y="3944660"/>
            <a:ext cx="564249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Responses come from model memory, not current clinical guidelines.</a:t>
            </a:r>
            <a:endParaRPr lang="en-US" sz="1750" dirty="0"/>
          </a:p>
        </p:txBody>
      </p:sp>
      <p:sp>
        <p:nvSpPr>
          <p:cNvPr id="8" name="Shape 6"/>
          <p:cNvSpPr/>
          <p:nvPr/>
        </p:nvSpPr>
        <p:spPr>
          <a:xfrm>
            <a:off x="7456884" y="3376374"/>
            <a:ext cx="510302" cy="510302"/>
          </a:xfrm>
          <a:prstGeom prst="roundRect">
            <a:avLst>
              <a:gd name="adj" fmla="val 18669"/>
            </a:avLst>
          </a:prstGeom>
          <a:solidFill>
            <a:srgbClr val="DADBF1"/>
          </a:solidFill>
          <a:ln w="7620">
            <a:solidFill>
              <a:srgbClr val="C0C1D7"/>
            </a:solidFill>
            <a:prstDash val="solid"/>
          </a:ln>
        </p:spPr>
        <p:txBody>
          <a:bodyPr/>
          <a:lstStyle/>
          <a:p>
            <a:endParaRPr lang="en-US"/>
          </a:p>
        </p:txBody>
      </p:sp>
      <p:sp>
        <p:nvSpPr>
          <p:cNvPr id="9" name="Text 7"/>
          <p:cNvSpPr/>
          <p:nvPr/>
        </p:nvSpPr>
        <p:spPr>
          <a:xfrm>
            <a:off x="7541955" y="3418880"/>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Inter Bold" pitchFamily="34" charset="0"/>
                <a:ea typeface="Inter Bold" pitchFamily="34" charset="-122"/>
                <a:cs typeface="Inter Bold" pitchFamily="34" charset="-120"/>
              </a:rPr>
              <a:t>2</a:t>
            </a:r>
            <a:endParaRPr lang="en-US" sz="2650" dirty="0"/>
          </a:p>
        </p:txBody>
      </p:sp>
      <p:sp>
        <p:nvSpPr>
          <p:cNvPr id="10" name="Text 8"/>
          <p:cNvSpPr/>
          <p:nvPr/>
        </p:nvSpPr>
        <p:spPr>
          <a:xfrm>
            <a:off x="8194000" y="3454241"/>
            <a:ext cx="3404592"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Single Hard-Coded Case</a:t>
            </a:r>
            <a:endParaRPr lang="en-US" sz="2200" dirty="0"/>
          </a:p>
        </p:txBody>
      </p:sp>
      <p:sp>
        <p:nvSpPr>
          <p:cNvPr id="11" name="Text 9"/>
          <p:cNvSpPr/>
          <p:nvPr/>
        </p:nvSpPr>
        <p:spPr>
          <a:xfrm>
            <a:off x="8194000" y="3944660"/>
            <a:ext cx="5642610"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Only one opioid scenario; adding new cases requires a developer.</a:t>
            </a:r>
            <a:endParaRPr lang="en-US" sz="1750" dirty="0"/>
          </a:p>
        </p:txBody>
      </p:sp>
      <p:sp>
        <p:nvSpPr>
          <p:cNvPr id="12" name="Shape 10"/>
          <p:cNvSpPr/>
          <p:nvPr/>
        </p:nvSpPr>
        <p:spPr>
          <a:xfrm>
            <a:off x="793790" y="5124093"/>
            <a:ext cx="510302" cy="510302"/>
          </a:xfrm>
          <a:prstGeom prst="roundRect">
            <a:avLst>
              <a:gd name="adj" fmla="val 18669"/>
            </a:avLst>
          </a:prstGeom>
          <a:solidFill>
            <a:srgbClr val="DADBF1"/>
          </a:solidFill>
          <a:ln w="7620">
            <a:solidFill>
              <a:srgbClr val="C0C1D7"/>
            </a:solidFill>
            <a:prstDash val="solid"/>
          </a:ln>
        </p:spPr>
        <p:txBody>
          <a:bodyPr/>
          <a:lstStyle/>
          <a:p>
            <a:endParaRPr lang="en-US"/>
          </a:p>
        </p:txBody>
      </p:sp>
      <p:sp>
        <p:nvSpPr>
          <p:cNvPr id="13" name="Text 11"/>
          <p:cNvSpPr/>
          <p:nvPr/>
        </p:nvSpPr>
        <p:spPr>
          <a:xfrm>
            <a:off x="878860" y="5166598"/>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Inter Bold" pitchFamily="34" charset="0"/>
                <a:ea typeface="Inter Bold" pitchFamily="34" charset="-122"/>
                <a:cs typeface="Inter Bold" pitchFamily="34" charset="-120"/>
              </a:rPr>
              <a:t>3</a:t>
            </a:r>
            <a:endParaRPr lang="en-US" sz="2650" dirty="0"/>
          </a:p>
        </p:txBody>
      </p:sp>
      <p:sp>
        <p:nvSpPr>
          <p:cNvPr id="14" name="Text 12"/>
          <p:cNvSpPr/>
          <p:nvPr/>
        </p:nvSpPr>
        <p:spPr>
          <a:xfrm>
            <a:off x="1530906" y="5201960"/>
            <a:ext cx="3863221"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Unreliable Referral Behavior</a:t>
            </a:r>
            <a:endParaRPr lang="en-US" sz="2200" dirty="0"/>
          </a:p>
        </p:txBody>
      </p:sp>
      <p:sp>
        <p:nvSpPr>
          <p:cNvPr id="15" name="Text 13"/>
          <p:cNvSpPr/>
          <p:nvPr/>
        </p:nvSpPr>
        <p:spPr>
          <a:xfrm>
            <a:off x="1530906" y="5692378"/>
            <a:ext cx="564249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Inter-agent handoffs break because text parsing is fragile.</a:t>
            </a:r>
            <a:endParaRPr lang="en-US" sz="1750" dirty="0"/>
          </a:p>
        </p:txBody>
      </p:sp>
      <p:sp>
        <p:nvSpPr>
          <p:cNvPr id="16" name="Shape 14"/>
          <p:cNvSpPr/>
          <p:nvPr/>
        </p:nvSpPr>
        <p:spPr>
          <a:xfrm>
            <a:off x="7456884" y="5124093"/>
            <a:ext cx="510302" cy="510302"/>
          </a:xfrm>
          <a:prstGeom prst="roundRect">
            <a:avLst>
              <a:gd name="adj" fmla="val 18669"/>
            </a:avLst>
          </a:prstGeom>
          <a:solidFill>
            <a:srgbClr val="DADBF1"/>
          </a:solidFill>
          <a:ln w="7620">
            <a:solidFill>
              <a:srgbClr val="C0C1D7"/>
            </a:solidFill>
            <a:prstDash val="solid"/>
          </a:ln>
        </p:spPr>
        <p:txBody>
          <a:bodyPr/>
          <a:lstStyle/>
          <a:p>
            <a:endParaRPr lang="en-US"/>
          </a:p>
        </p:txBody>
      </p:sp>
      <p:sp>
        <p:nvSpPr>
          <p:cNvPr id="17" name="Text 15"/>
          <p:cNvSpPr/>
          <p:nvPr/>
        </p:nvSpPr>
        <p:spPr>
          <a:xfrm>
            <a:off x="7541955" y="5166598"/>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Inter Bold" pitchFamily="34" charset="0"/>
                <a:ea typeface="Inter Bold" pitchFamily="34" charset="-122"/>
                <a:cs typeface="Inter Bold" pitchFamily="34" charset="-120"/>
              </a:rPr>
              <a:t>4</a:t>
            </a:r>
            <a:endParaRPr lang="en-US" sz="2650" dirty="0"/>
          </a:p>
        </p:txBody>
      </p:sp>
      <p:sp>
        <p:nvSpPr>
          <p:cNvPr id="18" name="Text 16"/>
          <p:cNvSpPr/>
          <p:nvPr/>
        </p:nvSpPr>
        <p:spPr>
          <a:xfrm>
            <a:off x="8194000" y="5201960"/>
            <a:ext cx="3531632"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No Evaluation Framework</a:t>
            </a:r>
            <a:endParaRPr lang="en-US" sz="2200" dirty="0"/>
          </a:p>
        </p:txBody>
      </p:sp>
      <p:sp>
        <p:nvSpPr>
          <p:cNvPr id="19" name="Text 17"/>
          <p:cNvSpPr/>
          <p:nvPr/>
        </p:nvSpPr>
        <p:spPr>
          <a:xfrm>
            <a:off x="8194000" y="5692378"/>
            <a:ext cx="5642610"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No measurement of response quality or learning outcomes.</a:t>
            </a:r>
            <a:endParaRPr lang="en-US" sz="1750" dirty="0"/>
          </a:p>
        </p:txBody>
      </p:sp>
      <p:sp>
        <p:nvSpPr>
          <p:cNvPr id="20" name="Rectangle 19">
            <a:extLst>
              <a:ext uri="{FF2B5EF4-FFF2-40B4-BE49-F238E27FC236}">
                <a16:creationId xmlns:a16="http://schemas.microsoft.com/office/drawing/2014/main" id="{111E65DE-AC0B-28E9-FF10-4270B761BB4E}"/>
              </a:ext>
            </a:extLst>
          </p:cNvPr>
          <p:cNvSpPr/>
          <p:nvPr/>
        </p:nvSpPr>
        <p:spPr>
          <a:xfrm>
            <a:off x="12839178" y="7640877"/>
            <a:ext cx="1791222" cy="588723"/>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6">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 calcmode="lin" valueType="num">
                                      <p:cBhvr>
                                        <p:cTn id="14" dur="500" fill="hold"/>
                                        <p:tgtEl>
                                          <p:spTgt spid="7">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7">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7">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 calcmode="lin" valueType="num">
                                      <p:cBhvr>
                                        <p:cTn id="21" dur="500" fill="hold"/>
                                        <p:tgtEl>
                                          <p:spTgt spid="10">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10">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10">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1">
                                            <p:txEl>
                                              <p:pRg st="0" end="0"/>
                                            </p:txEl>
                                          </p:spTgt>
                                        </p:tgtEl>
                                        <p:attrNameLst>
                                          <p:attrName>style.visibility</p:attrName>
                                        </p:attrNameLst>
                                      </p:cBhvr>
                                      <p:to>
                                        <p:strVal val="visible"/>
                                      </p:to>
                                    </p:set>
                                    <p:anim calcmode="lin" valueType="num">
                                      <p:cBhvr>
                                        <p:cTn id="28" dur="500" fill="hold"/>
                                        <p:tgtEl>
                                          <p:spTgt spid="11">
                                            <p:txEl>
                                              <p:pRg st="0" end="0"/>
                                            </p:txEl>
                                          </p:spTgt>
                                        </p:tgtEl>
                                        <p:attrNameLst>
                                          <p:attrName>ppt_w</p:attrName>
                                        </p:attrNameLst>
                                      </p:cBhvr>
                                      <p:tavLst>
                                        <p:tav tm="0">
                                          <p:val>
                                            <p:fltVal val="0"/>
                                          </p:val>
                                        </p:tav>
                                        <p:tav tm="100000">
                                          <p:val>
                                            <p:strVal val="#ppt_w"/>
                                          </p:val>
                                        </p:tav>
                                      </p:tavLst>
                                    </p:anim>
                                    <p:anim calcmode="lin" valueType="num">
                                      <p:cBhvr>
                                        <p:cTn id="29" dur="500" fill="hold"/>
                                        <p:tgtEl>
                                          <p:spTgt spid="11">
                                            <p:txEl>
                                              <p:pRg st="0" end="0"/>
                                            </p:txEl>
                                          </p:spTgt>
                                        </p:tgtEl>
                                        <p:attrNameLst>
                                          <p:attrName>ppt_h</p:attrName>
                                        </p:attrNameLst>
                                      </p:cBhvr>
                                      <p:tavLst>
                                        <p:tav tm="0">
                                          <p:val>
                                            <p:fltVal val="0"/>
                                          </p:val>
                                        </p:tav>
                                        <p:tav tm="100000">
                                          <p:val>
                                            <p:strVal val="#ppt_h"/>
                                          </p:val>
                                        </p:tav>
                                      </p:tavLst>
                                    </p:anim>
                                    <p:animEffect transition="in" filter="fade">
                                      <p:cBhvr>
                                        <p:cTn id="30" dur="500"/>
                                        <p:tgtEl>
                                          <p:spTgt spid="11">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14">
                                            <p:txEl>
                                              <p:pRg st="0" end="0"/>
                                            </p:txEl>
                                          </p:spTgt>
                                        </p:tgtEl>
                                        <p:attrNameLst>
                                          <p:attrName>style.visibility</p:attrName>
                                        </p:attrNameLst>
                                      </p:cBhvr>
                                      <p:to>
                                        <p:strVal val="visible"/>
                                      </p:to>
                                    </p:set>
                                    <p:anim calcmode="lin" valueType="num">
                                      <p:cBhvr>
                                        <p:cTn id="35" dur="500" fill="hold"/>
                                        <p:tgtEl>
                                          <p:spTgt spid="14">
                                            <p:txEl>
                                              <p:pRg st="0" end="0"/>
                                            </p:txEl>
                                          </p:spTgt>
                                        </p:tgtEl>
                                        <p:attrNameLst>
                                          <p:attrName>ppt_w</p:attrName>
                                        </p:attrNameLst>
                                      </p:cBhvr>
                                      <p:tavLst>
                                        <p:tav tm="0">
                                          <p:val>
                                            <p:fltVal val="0"/>
                                          </p:val>
                                        </p:tav>
                                        <p:tav tm="100000">
                                          <p:val>
                                            <p:strVal val="#ppt_w"/>
                                          </p:val>
                                        </p:tav>
                                      </p:tavLst>
                                    </p:anim>
                                    <p:anim calcmode="lin" valueType="num">
                                      <p:cBhvr>
                                        <p:cTn id="36" dur="500" fill="hold"/>
                                        <p:tgtEl>
                                          <p:spTgt spid="14">
                                            <p:txEl>
                                              <p:pRg st="0" end="0"/>
                                            </p:txEl>
                                          </p:spTgt>
                                        </p:tgtEl>
                                        <p:attrNameLst>
                                          <p:attrName>ppt_h</p:attrName>
                                        </p:attrNameLst>
                                      </p:cBhvr>
                                      <p:tavLst>
                                        <p:tav tm="0">
                                          <p:val>
                                            <p:fltVal val="0"/>
                                          </p:val>
                                        </p:tav>
                                        <p:tav tm="100000">
                                          <p:val>
                                            <p:strVal val="#ppt_h"/>
                                          </p:val>
                                        </p:tav>
                                      </p:tavLst>
                                    </p:anim>
                                    <p:animEffect transition="in" filter="fade">
                                      <p:cBhvr>
                                        <p:cTn id="37" dur="500"/>
                                        <p:tgtEl>
                                          <p:spTgt spid="1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15">
                                            <p:txEl>
                                              <p:pRg st="0" end="0"/>
                                            </p:txEl>
                                          </p:spTgt>
                                        </p:tgtEl>
                                        <p:attrNameLst>
                                          <p:attrName>style.visibility</p:attrName>
                                        </p:attrNameLst>
                                      </p:cBhvr>
                                      <p:to>
                                        <p:strVal val="visible"/>
                                      </p:to>
                                    </p:set>
                                    <p:anim calcmode="lin" valueType="num">
                                      <p:cBhvr>
                                        <p:cTn id="42" dur="500" fill="hold"/>
                                        <p:tgtEl>
                                          <p:spTgt spid="15">
                                            <p:txEl>
                                              <p:pRg st="0" end="0"/>
                                            </p:txEl>
                                          </p:spTgt>
                                        </p:tgtEl>
                                        <p:attrNameLst>
                                          <p:attrName>ppt_w</p:attrName>
                                        </p:attrNameLst>
                                      </p:cBhvr>
                                      <p:tavLst>
                                        <p:tav tm="0">
                                          <p:val>
                                            <p:fltVal val="0"/>
                                          </p:val>
                                        </p:tav>
                                        <p:tav tm="100000">
                                          <p:val>
                                            <p:strVal val="#ppt_w"/>
                                          </p:val>
                                        </p:tav>
                                      </p:tavLst>
                                    </p:anim>
                                    <p:anim calcmode="lin" valueType="num">
                                      <p:cBhvr>
                                        <p:cTn id="43" dur="500" fill="hold"/>
                                        <p:tgtEl>
                                          <p:spTgt spid="15">
                                            <p:txEl>
                                              <p:pRg st="0" end="0"/>
                                            </p:txEl>
                                          </p:spTgt>
                                        </p:tgtEl>
                                        <p:attrNameLst>
                                          <p:attrName>ppt_h</p:attrName>
                                        </p:attrNameLst>
                                      </p:cBhvr>
                                      <p:tavLst>
                                        <p:tav tm="0">
                                          <p:val>
                                            <p:fltVal val="0"/>
                                          </p:val>
                                        </p:tav>
                                        <p:tav tm="100000">
                                          <p:val>
                                            <p:strVal val="#ppt_h"/>
                                          </p:val>
                                        </p:tav>
                                      </p:tavLst>
                                    </p:anim>
                                    <p:animEffect transition="in" filter="fade">
                                      <p:cBhvr>
                                        <p:cTn id="44" dur="500"/>
                                        <p:tgtEl>
                                          <p:spTgt spid="15">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18">
                                            <p:txEl>
                                              <p:pRg st="0" end="0"/>
                                            </p:txEl>
                                          </p:spTgt>
                                        </p:tgtEl>
                                        <p:attrNameLst>
                                          <p:attrName>style.visibility</p:attrName>
                                        </p:attrNameLst>
                                      </p:cBhvr>
                                      <p:to>
                                        <p:strVal val="visible"/>
                                      </p:to>
                                    </p:set>
                                    <p:anim calcmode="lin" valueType="num">
                                      <p:cBhvr>
                                        <p:cTn id="49" dur="500" fill="hold"/>
                                        <p:tgtEl>
                                          <p:spTgt spid="18">
                                            <p:txEl>
                                              <p:pRg st="0" end="0"/>
                                            </p:txEl>
                                          </p:spTgt>
                                        </p:tgtEl>
                                        <p:attrNameLst>
                                          <p:attrName>ppt_w</p:attrName>
                                        </p:attrNameLst>
                                      </p:cBhvr>
                                      <p:tavLst>
                                        <p:tav tm="0">
                                          <p:val>
                                            <p:fltVal val="0"/>
                                          </p:val>
                                        </p:tav>
                                        <p:tav tm="100000">
                                          <p:val>
                                            <p:strVal val="#ppt_w"/>
                                          </p:val>
                                        </p:tav>
                                      </p:tavLst>
                                    </p:anim>
                                    <p:anim calcmode="lin" valueType="num">
                                      <p:cBhvr>
                                        <p:cTn id="50" dur="500" fill="hold"/>
                                        <p:tgtEl>
                                          <p:spTgt spid="18">
                                            <p:txEl>
                                              <p:pRg st="0" end="0"/>
                                            </p:txEl>
                                          </p:spTgt>
                                        </p:tgtEl>
                                        <p:attrNameLst>
                                          <p:attrName>ppt_h</p:attrName>
                                        </p:attrNameLst>
                                      </p:cBhvr>
                                      <p:tavLst>
                                        <p:tav tm="0">
                                          <p:val>
                                            <p:fltVal val="0"/>
                                          </p:val>
                                        </p:tav>
                                        <p:tav tm="100000">
                                          <p:val>
                                            <p:strVal val="#ppt_h"/>
                                          </p:val>
                                        </p:tav>
                                      </p:tavLst>
                                    </p:anim>
                                    <p:animEffect transition="in" filter="fade">
                                      <p:cBhvr>
                                        <p:cTn id="51" dur="500"/>
                                        <p:tgtEl>
                                          <p:spTgt spid="18">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19">
                                            <p:txEl>
                                              <p:pRg st="0" end="0"/>
                                            </p:txEl>
                                          </p:spTgt>
                                        </p:tgtEl>
                                        <p:attrNameLst>
                                          <p:attrName>style.visibility</p:attrName>
                                        </p:attrNameLst>
                                      </p:cBhvr>
                                      <p:to>
                                        <p:strVal val="visible"/>
                                      </p:to>
                                    </p:set>
                                    <p:anim calcmode="lin" valueType="num">
                                      <p:cBhvr>
                                        <p:cTn id="56" dur="500" fill="hold"/>
                                        <p:tgtEl>
                                          <p:spTgt spid="19">
                                            <p:txEl>
                                              <p:pRg st="0" end="0"/>
                                            </p:txEl>
                                          </p:spTgt>
                                        </p:tgtEl>
                                        <p:attrNameLst>
                                          <p:attrName>ppt_w</p:attrName>
                                        </p:attrNameLst>
                                      </p:cBhvr>
                                      <p:tavLst>
                                        <p:tav tm="0">
                                          <p:val>
                                            <p:fltVal val="0"/>
                                          </p:val>
                                        </p:tav>
                                        <p:tav tm="100000">
                                          <p:val>
                                            <p:strVal val="#ppt_w"/>
                                          </p:val>
                                        </p:tav>
                                      </p:tavLst>
                                    </p:anim>
                                    <p:anim calcmode="lin" valueType="num">
                                      <p:cBhvr>
                                        <p:cTn id="57" dur="500" fill="hold"/>
                                        <p:tgtEl>
                                          <p:spTgt spid="19">
                                            <p:txEl>
                                              <p:pRg st="0" end="0"/>
                                            </p:txEl>
                                          </p:spTgt>
                                        </p:tgtEl>
                                        <p:attrNameLst>
                                          <p:attrName>ppt_h</p:attrName>
                                        </p:attrNameLst>
                                      </p:cBhvr>
                                      <p:tavLst>
                                        <p:tav tm="0">
                                          <p:val>
                                            <p:fltVal val="0"/>
                                          </p:val>
                                        </p:tav>
                                        <p:tav tm="100000">
                                          <p:val>
                                            <p:strVal val="#ppt_h"/>
                                          </p:val>
                                        </p:tav>
                                      </p:tavLst>
                                    </p:anim>
                                    <p:animEffect transition="in" filter="fade">
                                      <p:cBhvr>
                                        <p:cTn id="58" dur="500"/>
                                        <p:tgtEl>
                                          <p:spTgt spid="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12351" y="748189"/>
            <a:ext cx="13051631" cy="598051"/>
          </a:xfrm>
          <a:prstGeom prst="rect">
            <a:avLst/>
          </a:prstGeom>
          <a:noFill/>
          <a:ln/>
        </p:spPr>
        <p:txBody>
          <a:bodyPr wrap="none" lIns="0" tIns="0" rIns="0" bIns="0" rtlCol="0" anchor="t"/>
          <a:lstStyle/>
          <a:p>
            <a:pPr marL="0" indent="0" algn="l">
              <a:lnSpc>
                <a:spcPts val="4700"/>
              </a:lnSpc>
              <a:buNone/>
            </a:pPr>
            <a:r>
              <a:rPr lang="en-US" sz="3750" b="1" dirty="0">
                <a:solidFill>
                  <a:srgbClr val="000000"/>
                </a:solidFill>
                <a:latin typeface="Inter Bold" pitchFamily="34" charset="0"/>
                <a:ea typeface="Inter Bold" pitchFamily="34" charset="-122"/>
                <a:cs typeface="Inter Bold" pitchFamily="34" charset="-120"/>
              </a:rPr>
              <a:t>From Generic Answers to Evidence-Grounded Guidance</a:t>
            </a:r>
            <a:endParaRPr lang="en-US" sz="3750" dirty="0"/>
          </a:p>
        </p:txBody>
      </p:sp>
      <p:sp>
        <p:nvSpPr>
          <p:cNvPr id="3" name="Text 1"/>
          <p:cNvSpPr/>
          <p:nvPr/>
        </p:nvSpPr>
        <p:spPr>
          <a:xfrm>
            <a:off x="712351" y="1410772"/>
            <a:ext cx="6068378" cy="358735"/>
          </a:xfrm>
          <a:prstGeom prst="rect">
            <a:avLst/>
          </a:prstGeom>
          <a:noFill/>
          <a:ln/>
        </p:spPr>
        <p:txBody>
          <a:bodyPr wrap="none" lIns="0" tIns="0" rIns="0" bIns="0" rtlCol="0" anchor="t"/>
          <a:lstStyle/>
          <a:p>
            <a:pPr marL="0" indent="0" algn="l">
              <a:lnSpc>
                <a:spcPts val="2800"/>
              </a:lnSpc>
              <a:buNone/>
            </a:pPr>
            <a:r>
              <a:rPr lang="en-US" sz="2250" b="1" dirty="0">
                <a:solidFill>
                  <a:srgbClr val="000000"/>
                </a:solidFill>
                <a:latin typeface="Inter Bold" pitchFamily="34" charset="0"/>
                <a:ea typeface="Inter Bold" pitchFamily="34" charset="-122"/>
                <a:cs typeface="Inter Bold" pitchFamily="34" charset="-120"/>
              </a:rPr>
              <a:t>A demo of the quality jump BRIDGE delivers</a:t>
            </a:r>
            <a:endParaRPr lang="en-US" sz="2250" dirty="0"/>
          </a:p>
        </p:txBody>
      </p:sp>
      <p:sp>
        <p:nvSpPr>
          <p:cNvPr id="4" name="Shape 2"/>
          <p:cNvSpPr/>
          <p:nvPr/>
        </p:nvSpPr>
        <p:spPr>
          <a:xfrm>
            <a:off x="712351" y="2059424"/>
            <a:ext cx="13205579" cy="14288"/>
          </a:xfrm>
          <a:prstGeom prst="rect">
            <a:avLst/>
          </a:prstGeom>
          <a:solidFill>
            <a:srgbClr val="272525">
              <a:alpha val="50000"/>
            </a:srgbClr>
          </a:solidFill>
          <a:ln/>
        </p:spPr>
        <p:txBody>
          <a:bodyPr/>
          <a:lstStyle/>
          <a:p>
            <a:endParaRPr lang="en-US"/>
          </a:p>
        </p:txBody>
      </p:sp>
      <p:sp>
        <p:nvSpPr>
          <p:cNvPr id="5" name="Shape 3"/>
          <p:cNvSpPr/>
          <p:nvPr/>
        </p:nvSpPr>
        <p:spPr>
          <a:xfrm>
            <a:off x="712351" y="2484596"/>
            <a:ext cx="6369248" cy="3176230"/>
          </a:xfrm>
          <a:prstGeom prst="roundRect">
            <a:avLst>
              <a:gd name="adj" fmla="val 2531"/>
            </a:avLst>
          </a:prstGeom>
          <a:solidFill>
            <a:srgbClr val="FCF2B5"/>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03684" y="2713077"/>
            <a:ext cx="298966" cy="239197"/>
          </a:xfrm>
          <a:prstGeom prst="rect">
            <a:avLst/>
          </a:prstGeom>
        </p:spPr>
      </p:pic>
      <p:sp>
        <p:nvSpPr>
          <p:cNvPr id="7" name="Text 4"/>
          <p:cNvSpPr/>
          <p:nvPr/>
        </p:nvSpPr>
        <p:spPr>
          <a:xfrm>
            <a:off x="1393984" y="2693789"/>
            <a:ext cx="2564963" cy="298966"/>
          </a:xfrm>
          <a:prstGeom prst="rect">
            <a:avLst/>
          </a:prstGeom>
          <a:noFill/>
          <a:ln/>
        </p:spPr>
        <p:txBody>
          <a:bodyPr wrap="none" lIns="0" tIns="0" rIns="0" bIns="0" rtlCol="0" anchor="t"/>
          <a:lstStyle/>
          <a:p>
            <a:pPr marL="0" indent="0" algn="l">
              <a:lnSpc>
                <a:spcPts val="2350"/>
              </a:lnSpc>
              <a:buNone/>
            </a:pPr>
            <a:r>
              <a:rPr lang="en-US" sz="1850" b="1" dirty="0">
                <a:solidFill>
                  <a:srgbClr val="000000"/>
                </a:solidFill>
                <a:latin typeface="Inter Bold" pitchFamily="34" charset="0"/>
                <a:ea typeface="Inter Bold" pitchFamily="34" charset="-122"/>
                <a:cs typeface="Inter Bold" pitchFamily="34" charset="-120"/>
              </a:rPr>
              <a:t>Before RAG (Baseline)</a:t>
            </a:r>
            <a:endParaRPr lang="en-US" sz="1850" dirty="0"/>
          </a:p>
        </p:txBody>
      </p:sp>
      <p:sp>
        <p:nvSpPr>
          <p:cNvPr id="8" name="Text 5"/>
          <p:cNvSpPr/>
          <p:nvPr/>
        </p:nvSpPr>
        <p:spPr>
          <a:xfrm>
            <a:off x="1393984" y="3154204"/>
            <a:ext cx="5496282" cy="564356"/>
          </a:xfrm>
          <a:prstGeom prst="rect">
            <a:avLst/>
          </a:prstGeom>
          <a:noFill/>
          <a:ln/>
        </p:spPr>
        <p:txBody>
          <a:bodyPr wrap="square" lIns="0" tIns="0" rIns="0" bIns="0" rtlCol="0" anchor="t"/>
          <a:lstStyle/>
          <a:p>
            <a:pPr marL="0" indent="0" algn="l">
              <a:lnSpc>
                <a:spcPts val="2200"/>
              </a:lnSpc>
              <a:buNone/>
            </a:pPr>
            <a:r>
              <a:rPr lang="en-US" sz="1500" b="1" dirty="0">
                <a:solidFill>
                  <a:srgbClr val="000000"/>
                </a:solidFill>
                <a:latin typeface="Inter" pitchFamily="34" charset="0"/>
                <a:ea typeface="Inter" pitchFamily="34" charset="-122"/>
                <a:cs typeface="Inter" pitchFamily="34" charset="-120"/>
              </a:rPr>
              <a:t>Student question:</a:t>
            </a:r>
            <a:r>
              <a:rPr lang="en-US" sz="1500" dirty="0">
                <a:solidFill>
                  <a:srgbClr val="000000"/>
                </a:solidFill>
                <a:latin typeface="Inter" pitchFamily="34" charset="0"/>
                <a:ea typeface="Inter" pitchFamily="34" charset="-122"/>
                <a:cs typeface="Inter" pitchFamily="34" charset="-120"/>
              </a:rPr>
              <a:t> “What medications are used for opioid use disorder?”</a:t>
            </a:r>
            <a:endParaRPr lang="en-US" sz="1500" dirty="0"/>
          </a:p>
        </p:txBody>
      </p:sp>
      <p:sp>
        <p:nvSpPr>
          <p:cNvPr id="9" name="Text 6"/>
          <p:cNvSpPr/>
          <p:nvPr/>
        </p:nvSpPr>
        <p:spPr>
          <a:xfrm>
            <a:off x="1393984" y="3863816"/>
            <a:ext cx="5496282" cy="1128713"/>
          </a:xfrm>
          <a:prstGeom prst="rect">
            <a:avLst/>
          </a:prstGeom>
          <a:noFill/>
          <a:ln/>
        </p:spPr>
        <p:txBody>
          <a:bodyPr wrap="square" lIns="0" tIns="0" rIns="0" bIns="0" rtlCol="0" anchor="t"/>
          <a:lstStyle/>
          <a:p>
            <a:pPr marL="0" indent="0" algn="l">
              <a:lnSpc>
                <a:spcPts val="2200"/>
              </a:lnSpc>
              <a:buNone/>
            </a:pPr>
            <a:r>
              <a:rPr lang="en-US" sz="1500" b="1" dirty="0">
                <a:solidFill>
                  <a:srgbClr val="000000"/>
                </a:solidFill>
                <a:latin typeface="Inter" pitchFamily="34" charset="0"/>
                <a:ea typeface="Inter" pitchFamily="34" charset="-122"/>
                <a:cs typeface="Inter" pitchFamily="34" charset="-120"/>
              </a:rPr>
              <a:t>Agent response:</a:t>
            </a:r>
            <a:r>
              <a:rPr lang="en-US" sz="1500" dirty="0">
                <a:solidFill>
                  <a:srgbClr val="000000"/>
                </a:solidFill>
                <a:latin typeface="Inter" pitchFamily="34" charset="0"/>
                <a:ea typeface="Inter" pitchFamily="34" charset="-122"/>
                <a:cs typeface="Inter" pitchFamily="34" charset="-120"/>
              </a:rPr>
              <a:t> “There are several medications that can help with opioid use disorder, including methadone and buprenorphine. These are commonly used in treatment programs.”</a:t>
            </a:r>
            <a:endParaRPr lang="en-US" sz="1500" dirty="0"/>
          </a:p>
        </p:txBody>
      </p:sp>
      <p:sp>
        <p:nvSpPr>
          <p:cNvPr id="10" name="Text 7"/>
          <p:cNvSpPr/>
          <p:nvPr/>
        </p:nvSpPr>
        <p:spPr>
          <a:xfrm>
            <a:off x="1393984" y="5137785"/>
            <a:ext cx="5496282" cy="282178"/>
          </a:xfrm>
          <a:prstGeom prst="rect">
            <a:avLst/>
          </a:prstGeom>
          <a:noFill/>
          <a:ln/>
        </p:spPr>
        <p:txBody>
          <a:bodyPr wrap="none" lIns="0" tIns="0" rIns="0" bIns="0" rtlCol="0" anchor="t"/>
          <a:lstStyle/>
          <a:p>
            <a:pPr marL="0" indent="0" algn="l">
              <a:lnSpc>
                <a:spcPts val="2200"/>
              </a:lnSpc>
              <a:buNone/>
            </a:pPr>
            <a:r>
              <a:rPr lang="en-US" sz="1500" dirty="0">
                <a:solidFill>
                  <a:srgbClr val="000000"/>
                </a:solidFill>
                <a:latin typeface="Inter" pitchFamily="34" charset="0"/>
                <a:ea typeface="Inter" pitchFamily="34" charset="-122"/>
                <a:cs typeface="Inter" pitchFamily="34" charset="-120"/>
              </a:rPr>
              <a:t>[Vague, generic, sometimes incorrect]</a:t>
            </a:r>
            <a:endParaRPr lang="en-US" sz="1500" dirty="0"/>
          </a:p>
        </p:txBody>
      </p:sp>
      <p:sp>
        <p:nvSpPr>
          <p:cNvPr id="11" name="Shape 8"/>
          <p:cNvSpPr/>
          <p:nvPr/>
        </p:nvSpPr>
        <p:spPr>
          <a:xfrm>
            <a:off x="7556183" y="2484596"/>
            <a:ext cx="6369248" cy="3176230"/>
          </a:xfrm>
          <a:prstGeom prst="roundRect">
            <a:avLst>
              <a:gd name="adj" fmla="val 2531"/>
            </a:avLst>
          </a:prstGeom>
          <a:solidFill>
            <a:srgbClr val="B6FCB8"/>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7747516" y="2713077"/>
            <a:ext cx="298966" cy="239197"/>
          </a:xfrm>
          <a:prstGeom prst="rect">
            <a:avLst/>
          </a:prstGeom>
        </p:spPr>
      </p:pic>
      <p:sp>
        <p:nvSpPr>
          <p:cNvPr id="13" name="Text 9"/>
          <p:cNvSpPr/>
          <p:nvPr/>
        </p:nvSpPr>
        <p:spPr>
          <a:xfrm>
            <a:off x="8237815" y="2693789"/>
            <a:ext cx="2392323" cy="298966"/>
          </a:xfrm>
          <a:prstGeom prst="rect">
            <a:avLst/>
          </a:prstGeom>
          <a:noFill/>
          <a:ln/>
        </p:spPr>
        <p:txBody>
          <a:bodyPr wrap="none" lIns="0" tIns="0" rIns="0" bIns="0" rtlCol="0" anchor="t"/>
          <a:lstStyle/>
          <a:p>
            <a:pPr marL="0" indent="0" algn="l">
              <a:lnSpc>
                <a:spcPts val="2350"/>
              </a:lnSpc>
              <a:buNone/>
            </a:pPr>
            <a:r>
              <a:rPr lang="en-US" sz="1850" b="1" dirty="0">
                <a:solidFill>
                  <a:srgbClr val="000000"/>
                </a:solidFill>
                <a:latin typeface="Inter Bold" pitchFamily="34" charset="0"/>
                <a:ea typeface="Inter Bold" pitchFamily="34" charset="-122"/>
                <a:cs typeface="Inter Bold" pitchFamily="34" charset="-120"/>
              </a:rPr>
              <a:t>After RAG (BRIDGE)</a:t>
            </a:r>
            <a:endParaRPr lang="en-US" sz="1850" dirty="0"/>
          </a:p>
        </p:txBody>
      </p:sp>
      <p:sp>
        <p:nvSpPr>
          <p:cNvPr id="14" name="Text 10"/>
          <p:cNvSpPr/>
          <p:nvPr/>
        </p:nvSpPr>
        <p:spPr>
          <a:xfrm>
            <a:off x="8237815" y="3154204"/>
            <a:ext cx="5496282" cy="282178"/>
          </a:xfrm>
          <a:prstGeom prst="rect">
            <a:avLst/>
          </a:prstGeom>
          <a:noFill/>
          <a:ln/>
        </p:spPr>
        <p:txBody>
          <a:bodyPr wrap="none" lIns="0" tIns="0" rIns="0" bIns="0" rtlCol="0" anchor="t"/>
          <a:lstStyle/>
          <a:p>
            <a:pPr marL="0" indent="0" algn="l">
              <a:lnSpc>
                <a:spcPts val="2200"/>
              </a:lnSpc>
              <a:buNone/>
            </a:pPr>
            <a:r>
              <a:rPr lang="en-US" sz="1500" b="1" dirty="0">
                <a:solidFill>
                  <a:srgbClr val="000000"/>
                </a:solidFill>
                <a:latin typeface="Inter" pitchFamily="34" charset="0"/>
                <a:ea typeface="Inter" pitchFamily="34" charset="-122"/>
                <a:cs typeface="Inter" pitchFamily="34" charset="-120"/>
              </a:rPr>
              <a:t>Same student question</a:t>
            </a:r>
            <a:endParaRPr lang="en-US" sz="1500" dirty="0"/>
          </a:p>
        </p:txBody>
      </p:sp>
      <p:sp>
        <p:nvSpPr>
          <p:cNvPr id="15" name="Text 11"/>
          <p:cNvSpPr/>
          <p:nvPr/>
        </p:nvSpPr>
        <p:spPr>
          <a:xfrm>
            <a:off x="8237815" y="3581638"/>
            <a:ext cx="5496282" cy="1410891"/>
          </a:xfrm>
          <a:prstGeom prst="rect">
            <a:avLst/>
          </a:prstGeom>
          <a:noFill/>
          <a:ln/>
        </p:spPr>
        <p:txBody>
          <a:bodyPr wrap="square" lIns="0" tIns="0" rIns="0" bIns="0" rtlCol="0" anchor="t"/>
          <a:lstStyle/>
          <a:p>
            <a:pPr marL="0" indent="0" algn="l">
              <a:lnSpc>
                <a:spcPts val="2200"/>
              </a:lnSpc>
              <a:buNone/>
            </a:pPr>
            <a:r>
              <a:rPr lang="en-US" sz="1500" b="1" dirty="0">
                <a:solidFill>
                  <a:srgbClr val="000000"/>
                </a:solidFill>
                <a:latin typeface="Inter" pitchFamily="34" charset="0"/>
                <a:ea typeface="Inter" pitchFamily="34" charset="-122"/>
                <a:cs typeface="Inter" pitchFamily="34" charset="-120"/>
              </a:rPr>
              <a:t>Agent response:</a:t>
            </a:r>
            <a:r>
              <a:rPr lang="en-US" sz="1500" dirty="0">
                <a:solidFill>
                  <a:srgbClr val="000000"/>
                </a:solidFill>
                <a:latin typeface="Inter" pitchFamily="34" charset="0"/>
                <a:ea typeface="Inter" pitchFamily="34" charset="-122"/>
                <a:cs typeface="Inter" pitchFamily="34" charset="-120"/>
              </a:rPr>
              <a:t> “According to SAMHSA guidelines, buprenorphine is a first-line treatment. The typical induction dose is 2–4 mg sublingual on day one, increased to 8–16 mg daily by day three. It has a lower overdose risk than methadone and is preferred for office-based treatment.”</a:t>
            </a:r>
            <a:endParaRPr lang="en-US" sz="1500" dirty="0"/>
          </a:p>
        </p:txBody>
      </p:sp>
      <p:sp>
        <p:nvSpPr>
          <p:cNvPr id="16" name="Text 12"/>
          <p:cNvSpPr/>
          <p:nvPr/>
        </p:nvSpPr>
        <p:spPr>
          <a:xfrm>
            <a:off x="8237815" y="5137785"/>
            <a:ext cx="5496282" cy="282178"/>
          </a:xfrm>
          <a:prstGeom prst="rect">
            <a:avLst/>
          </a:prstGeom>
          <a:noFill/>
          <a:ln/>
        </p:spPr>
        <p:txBody>
          <a:bodyPr wrap="none" lIns="0" tIns="0" rIns="0" bIns="0" rtlCol="0" anchor="t"/>
          <a:lstStyle/>
          <a:p>
            <a:pPr marL="0" indent="0" algn="l">
              <a:lnSpc>
                <a:spcPts val="2200"/>
              </a:lnSpc>
              <a:buNone/>
            </a:pPr>
            <a:r>
              <a:rPr lang="en-US" sz="1500" dirty="0">
                <a:solidFill>
                  <a:srgbClr val="000000"/>
                </a:solidFill>
                <a:latin typeface="Inter" pitchFamily="34" charset="0"/>
                <a:ea typeface="Inter" pitchFamily="34" charset="-122"/>
                <a:cs typeface="Inter" pitchFamily="34" charset="-120"/>
              </a:rPr>
              <a:t>[Specific, evidence-grounded, cites sources]</a:t>
            </a:r>
            <a:endParaRPr lang="en-US" sz="1500" dirty="0"/>
          </a:p>
        </p:txBody>
      </p:sp>
      <p:sp>
        <p:nvSpPr>
          <p:cNvPr id="17" name="Shape 13"/>
          <p:cNvSpPr/>
          <p:nvPr/>
        </p:nvSpPr>
        <p:spPr>
          <a:xfrm>
            <a:off x="712351" y="6071711"/>
            <a:ext cx="13205579" cy="14288"/>
          </a:xfrm>
          <a:prstGeom prst="rect">
            <a:avLst/>
          </a:prstGeom>
          <a:solidFill>
            <a:srgbClr val="272525">
              <a:alpha val="50000"/>
            </a:srgbClr>
          </a:solidFill>
          <a:ln/>
        </p:spPr>
        <p:txBody>
          <a:bodyPr/>
          <a:lstStyle/>
          <a:p>
            <a:endParaRPr lang="en-US"/>
          </a:p>
        </p:txBody>
      </p:sp>
      <p:sp>
        <p:nvSpPr>
          <p:cNvPr id="18" name="Text 14"/>
          <p:cNvSpPr/>
          <p:nvPr/>
        </p:nvSpPr>
        <p:spPr>
          <a:xfrm>
            <a:off x="712351" y="6375916"/>
            <a:ext cx="2392323" cy="298966"/>
          </a:xfrm>
          <a:prstGeom prst="rect">
            <a:avLst/>
          </a:prstGeom>
          <a:noFill/>
          <a:ln/>
        </p:spPr>
        <p:txBody>
          <a:bodyPr wrap="none" lIns="0" tIns="0" rIns="0" bIns="0" rtlCol="0" anchor="t"/>
          <a:lstStyle/>
          <a:p>
            <a:pPr marL="0" indent="0" algn="l">
              <a:lnSpc>
                <a:spcPts val="2350"/>
              </a:lnSpc>
              <a:buNone/>
            </a:pPr>
            <a:r>
              <a:rPr lang="en-US" sz="1850" b="1" dirty="0">
                <a:solidFill>
                  <a:srgbClr val="000000"/>
                </a:solidFill>
                <a:latin typeface="Inter Bold" pitchFamily="34" charset="0"/>
                <a:ea typeface="Inter Bold" pitchFamily="34" charset="-122"/>
                <a:cs typeface="Inter Bold" pitchFamily="34" charset="-120"/>
              </a:rPr>
              <a:t>How It Works</a:t>
            </a:r>
            <a:endParaRPr lang="en-US" sz="1850" dirty="0"/>
          </a:p>
        </p:txBody>
      </p:sp>
      <p:sp>
        <p:nvSpPr>
          <p:cNvPr id="19" name="Text 15"/>
          <p:cNvSpPr/>
          <p:nvPr/>
        </p:nvSpPr>
        <p:spPr>
          <a:xfrm>
            <a:off x="712351" y="6917055"/>
            <a:ext cx="13205579" cy="564356"/>
          </a:xfrm>
          <a:prstGeom prst="rect">
            <a:avLst/>
          </a:prstGeom>
          <a:noFill/>
          <a:ln/>
        </p:spPr>
        <p:txBody>
          <a:bodyPr wrap="square" lIns="0" tIns="0" rIns="0" bIns="0" rtlCol="0" anchor="t"/>
          <a:lstStyle/>
          <a:p>
            <a:pPr marL="0" indent="0" algn="l">
              <a:lnSpc>
                <a:spcPts val="2200"/>
              </a:lnSpc>
              <a:buNone/>
            </a:pPr>
            <a:r>
              <a:rPr lang="en-US" sz="1500" dirty="0">
                <a:solidFill>
                  <a:srgbClr val="272525"/>
                </a:solidFill>
                <a:latin typeface="Inter" pitchFamily="34" charset="0"/>
                <a:ea typeface="Inter" pitchFamily="34" charset="-122"/>
                <a:cs typeface="Inter" pitchFamily="34" charset="-120"/>
              </a:rPr>
              <a:t>Each agent retrieves evidence only from its own profession’s curated sources: a nurse sees nursing literature, a physician sees clinical guidelines, a social worker sees community resources. Same question, six different evidence-grounded perspectives.</a:t>
            </a:r>
            <a:endParaRPr lang="en-US" sz="1500" dirty="0"/>
          </a:p>
        </p:txBody>
      </p:sp>
      <p:sp>
        <p:nvSpPr>
          <p:cNvPr id="20" name="Rectangle 19">
            <a:extLst>
              <a:ext uri="{FF2B5EF4-FFF2-40B4-BE49-F238E27FC236}">
                <a16:creationId xmlns:a16="http://schemas.microsoft.com/office/drawing/2014/main" id="{A12D2CD0-BDA7-A9D4-9DF8-F8B194C1333D}"/>
              </a:ext>
            </a:extLst>
          </p:cNvPr>
          <p:cNvSpPr/>
          <p:nvPr/>
        </p:nvSpPr>
        <p:spPr>
          <a:xfrm>
            <a:off x="12839178" y="7678455"/>
            <a:ext cx="1791222" cy="551145"/>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p:cTn id="7" dur="500" fill="hold"/>
                                        <p:tgtEl>
                                          <p:spTgt spid="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9">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5">
                                            <p:txEl>
                                              <p:pRg st="0" end="0"/>
                                            </p:txEl>
                                          </p:spTgt>
                                        </p:tgtEl>
                                        <p:attrNameLst>
                                          <p:attrName>style.visibility</p:attrName>
                                        </p:attrNameLst>
                                      </p:cBhvr>
                                      <p:to>
                                        <p:strVal val="visible"/>
                                      </p:to>
                                    </p:set>
                                    <p:anim calcmode="lin" valueType="num">
                                      <p:cBhvr>
                                        <p:cTn id="14" dur="500" fill="hold"/>
                                        <p:tgtEl>
                                          <p:spTgt spid="15">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15">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15">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 calcmode="lin" valueType="num">
                                      <p:cBhvr>
                                        <p:cTn id="21" dur="500" fill="hold"/>
                                        <p:tgtEl>
                                          <p:spTgt spid="10">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10">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10">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6">
                                            <p:txEl>
                                              <p:pRg st="0" end="0"/>
                                            </p:txEl>
                                          </p:spTgt>
                                        </p:tgtEl>
                                        <p:attrNameLst>
                                          <p:attrName>style.visibility</p:attrName>
                                        </p:attrNameLst>
                                      </p:cBhvr>
                                      <p:to>
                                        <p:strVal val="visible"/>
                                      </p:to>
                                    </p:set>
                                    <p:anim calcmode="lin" valueType="num">
                                      <p:cBhvr>
                                        <p:cTn id="28" dur="500" fill="hold"/>
                                        <p:tgtEl>
                                          <p:spTgt spid="16">
                                            <p:txEl>
                                              <p:pRg st="0" end="0"/>
                                            </p:txEl>
                                          </p:spTgt>
                                        </p:tgtEl>
                                        <p:attrNameLst>
                                          <p:attrName>ppt_w</p:attrName>
                                        </p:attrNameLst>
                                      </p:cBhvr>
                                      <p:tavLst>
                                        <p:tav tm="0">
                                          <p:val>
                                            <p:fltVal val="0"/>
                                          </p:val>
                                        </p:tav>
                                        <p:tav tm="100000">
                                          <p:val>
                                            <p:strVal val="#ppt_w"/>
                                          </p:val>
                                        </p:tav>
                                      </p:tavLst>
                                    </p:anim>
                                    <p:anim calcmode="lin" valueType="num">
                                      <p:cBhvr>
                                        <p:cTn id="29" dur="500" fill="hold"/>
                                        <p:tgtEl>
                                          <p:spTgt spid="16">
                                            <p:txEl>
                                              <p:pRg st="0" end="0"/>
                                            </p:txEl>
                                          </p:spTgt>
                                        </p:tgtEl>
                                        <p:attrNameLst>
                                          <p:attrName>ppt_h</p:attrName>
                                        </p:attrNameLst>
                                      </p:cBhvr>
                                      <p:tavLst>
                                        <p:tav tm="0">
                                          <p:val>
                                            <p:fltVal val="0"/>
                                          </p:val>
                                        </p:tav>
                                        <p:tav tm="100000">
                                          <p:val>
                                            <p:strVal val="#ppt_h"/>
                                          </p:val>
                                        </p:tav>
                                      </p:tavLst>
                                    </p:anim>
                                    <p:animEffect transition="in" filter="fade">
                                      <p:cBhvr>
                                        <p:cTn id="30" dur="500"/>
                                        <p:tgtEl>
                                          <p:spTgt spid="16">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p:cTn id="35" dur="500" fill="hold"/>
                                        <p:tgtEl>
                                          <p:spTgt spid="17"/>
                                        </p:tgtEl>
                                        <p:attrNameLst>
                                          <p:attrName>ppt_w</p:attrName>
                                        </p:attrNameLst>
                                      </p:cBhvr>
                                      <p:tavLst>
                                        <p:tav tm="0">
                                          <p:val>
                                            <p:fltVal val="0"/>
                                          </p:val>
                                        </p:tav>
                                        <p:tav tm="100000">
                                          <p:val>
                                            <p:strVal val="#ppt_w"/>
                                          </p:val>
                                        </p:tav>
                                      </p:tavLst>
                                    </p:anim>
                                    <p:anim calcmode="lin" valueType="num">
                                      <p:cBhvr>
                                        <p:cTn id="36" dur="500" fill="hold"/>
                                        <p:tgtEl>
                                          <p:spTgt spid="17"/>
                                        </p:tgtEl>
                                        <p:attrNameLst>
                                          <p:attrName>ppt_h</p:attrName>
                                        </p:attrNameLst>
                                      </p:cBhvr>
                                      <p:tavLst>
                                        <p:tav tm="0">
                                          <p:val>
                                            <p:fltVal val="0"/>
                                          </p:val>
                                        </p:tav>
                                        <p:tav tm="100000">
                                          <p:val>
                                            <p:strVal val="#ppt_h"/>
                                          </p:val>
                                        </p:tav>
                                      </p:tavLst>
                                    </p:anim>
                                    <p:animEffect transition="in" filter="fade">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18">
                                            <p:txEl>
                                              <p:pRg st="0" end="0"/>
                                            </p:txEl>
                                          </p:spTgt>
                                        </p:tgtEl>
                                        <p:attrNameLst>
                                          <p:attrName>style.visibility</p:attrName>
                                        </p:attrNameLst>
                                      </p:cBhvr>
                                      <p:to>
                                        <p:strVal val="visible"/>
                                      </p:to>
                                    </p:set>
                                    <p:anim calcmode="lin" valueType="num">
                                      <p:cBhvr>
                                        <p:cTn id="42" dur="500" fill="hold"/>
                                        <p:tgtEl>
                                          <p:spTgt spid="18">
                                            <p:txEl>
                                              <p:pRg st="0" end="0"/>
                                            </p:txEl>
                                          </p:spTgt>
                                        </p:tgtEl>
                                        <p:attrNameLst>
                                          <p:attrName>ppt_w</p:attrName>
                                        </p:attrNameLst>
                                      </p:cBhvr>
                                      <p:tavLst>
                                        <p:tav tm="0">
                                          <p:val>
                                            <p:fltVal val="0"/>
                                          </p:val>
                                        </p:tav>
                                        <p:tav tm="100000">
                                          <p:val>
                                            <p:strVal val="#ppt_w"/>
                                          </p:val>
                                        </p:tav>
                                      </p:tavLst>
                                    </p:anim>
                                    <p:anim calcmode="lin" valueType="num">
                                      <p:cBhvr>
                                        <p:cTn id="43" dur="500" fill="hold"/>
                                        <p:tgtEl>
                                          <p:spTgt spid="18">
                                            <p:txEl>
                                              <p:pRg st="0" end="0"/>
                                            </p:txEl>
                                          </p:spTgt>
                                        </p:tgtEl>
                                        <p:attrNameLst>
                                          <p:attrName>ppt_h</p:attrName>
                                        </p:attrNameLst>
                                      </p:cBhvr>
                                      <p:tavLst>
                                        <p:tav tm="0">
                                          <p:val>
                                            <p:fltVal val="0"/>
                                          </p:val>
                                        </p:tav>
                                        <p:tav tm="100000">
                                          <p:val>
                                            <p:strVal val="#ppt_h"/>
                                          </p:val>
                                        </p:tav>
                                      </p:tavLst>
                                    </p:anim>
                                    <p:animEffect transition="in" filter="fade">
                                      <p:cBhvr>
                                        <p:cTn id="44" dur="500"/>
                                        <p:tgtEl>
                                          <p:spTgt spid="18">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19">
                                            <p:txEl>
                                              <p:pRg st="0" end="0"/>
                                            </p:txEl>
                                          </p:spTgt>
                                        </p:tgtEl>
                                        <p:attrNameLst>
                                          <p:attrName>style.visibility</p:attrName>
                                        </p:attrNameLst>
                                      </p:cBhvr>
                                      <p:to>
                                        <p:strVal val="visible"/>
                                      </p:to>
                                    </p:set>
                                    <p:anim calcmode="lin" valueType="num">
                                      <p:cBhvr>
                                        <p:cTn id="49" dur="500" fill="hold"/>
                                        <p:tgtEl>
                                          <p:spTgt spid="19">
                                            <p:txEl>
                                              <p:pRg st="0" end="0"/>
                                            </p:txEl>
                                          </p:spTgt>
                                        </p:tgtEl>
                                        <p:attrNameLst>
                                          <p:attrName>ppt_w</p:attrName>
                                        </p:attrNameLst>
                                      </p:cBhvr>
                                      <p:tavLst>
                                        <p:tav tm="0">
                                          <p:val>
                                            <p:fltVal val="0"/>
                                          </p:val>
                                        </p:tav>
                                        <p:tav tm="100000">
                                          <p:val>
                                            <p:strVal val="#ppt_w"/>
                                          </p:val>
                                        </p:tav>
                                      </p:tavLst>
                                    </p:anim>
                                    <p:anim calcmode="lin" valueType="num">
                                      <p:cBhvr>
                                        <p:cTn id="50" dur="500" fill="hold"/>
                                        <p:tgtEl>
                                          <p:spTgt spid="19">
                                            <p:txEl>
                                              <p:pRg st="0" end="0"/>
                                            </p:txEl>
                                          </p:spTgt>
                                        </p:tgtEl>
                                        <p:attrNameLst>
                                          <p:attrName>ppt_h</p:attrName>
                                        </p:attrNameLst>
                                      </p:cBhvr>
                                      <p:tavLst>
                                        <p:tav tm="0">
                                          <p:val>
                                            <p:fltVal val="0"/>
                                          </p:val>
                                        </p:tav>
                                        <p:tav tm="100000">
                                          <p:val>
                                            <p:strVal val="#ppt_h"/>
                                          </p:val>
                                        </p:tav>
                                      </p:tavLst>
                                    </p:anim>
                                    <p:animEffect transition="in" filter="fade">
                                      <p:cBhvr>
                                        <p:cTn id="51" dur="500"/>
                                        <p:tgtEl>
                                          <p:spTgt spid="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812846" y="512683"/>
            <a:ext cx="6820614" cy="498396"/>
          </a:xfrm>
          <a:prstGeom prst="rect">
            <a:avLst/>
          </a:prstGeom>
          <a:noFill/>
          <a:ln/>
        </p:spPr>
        <p:txBody>
          <a:bodyPr wrap="none" lIns="0" tIns="0" rIns="0" bIns="0" rtlCol="0" anchor="t"/>
          <a:lstStyle/>
          <a:p>
            <a:pPr marL="0" indent="0" algn="l">
              <a:lnSpc>
                <a:spcPts val="3900"/>
              </a:lnSpc>
              <a:buNone/>
            </a:pPr>
            <a:r>
              <a:rPr lang="en-US" sz="3100" b="1" dirty="0">
                <a:solidFill>
                  <a:srgbClr val="000000"/>
                </a:solidFill>
                <a:latin typeface="Inter Bold" pitchFamily="34" charset="0"/>
                <a:ea typeface="Inter Bold" pitchFamily="34" charset="-122"/>
                <a:cs typeface="Inter Bold" pitchFamily="34" charset="-120"/>
              </a:rPr>
              <a:t>Structured-Output Referral System</a:t>
            </a:r>
            <a:endParaRPr lang="en-US" sz="3100" dirty="0"/>
          </a:p>
        </p:txBody>
      </p:sp>
      <p:sp>
        <p:nvSpPr>
          <p:cNvPr id="3" name="Text 1"/>
          <p:cNvSpPr/>
          <p:nvPr/>
        </p:nvSpPr>
        <p:spPr>
          <a:xfrm>
            <a:off x="1812846" y="1055846"/>
            <a:ext cx="5923598" cy="298966"/>
          </a:xfrm>
          <a:prstGeom prst="rect">
            <a:avLst/>
          </a:prstGeom>
          <a:noFill/>
          <a:ln/>
        </p:spPr>
        <p:txBody>
          <a:bodyPr wrap="none" lIns="0" tIns="0" rIns="0" bIns="0" rtlCol="0" anchor="t"/>
          <a:lstStyle/>
          <a:p>
            <a:pPr marL="0" indent="0" algn="l">
              <a:lnSpc>
                <a:spcPts val="2350"/>
              </a:lnSpc>
              <a:buNone/>
            </a:pPr>
            <a:r>
              <a:rPr lang="en-US" sz="1850" b="1" dirty="0">
                <a:solidFill>
                  <a:srgbClr val="000000"/>
                </a:solidFill>
                <a:latin typeface="Inter Bold" pitchFamily="34" charset="0"/>
                <a:ea typeface="Inter Bold" pitchFamily="34" charset="-122"/>
                <a:cs typeface="Inter Bold" pitchFamily="34" charset="-120"/>
              </a:rPr>
              <a:t>Making expert handoffs feel seamless for students</a:t>
            </a:r>
            <a:endParaRPr lang="en-US" sz="1850" dirty="0"/>
          </a:p>
        </p:txBody>
      </p:sp>
      <p:sp>
        <p:nvSpPr>
          <p:cNvPr id="4" name="Shape 2"/>
          <p:cNvSpPr/>
          <p:nvPr/>
        </p:nvSpPr>
        <p:spPr>
          <a:xfrm>
            <a:off x="1812846" y="1562695"/>
            <a:ext cx="11004590" cy="11906"/>
          </a:xfrm>
          <a:prstGeom prst="rect">
            <a:avLst/>
          </a:prstGeom>
          <a:solidFill>
            <a:srgbClr val="272525">
              <a:alpha val="50000"/>
            </a:srgbClr>
          </a:solidFill>
          <a:ln/>
        </p:spPr>
        <p:txBody>
          <a:bodyPr/>
          <a:lstStyle/>
          <a:p>
            <a:endParaRPr lang="en-US"/>
          </a:p>
        </p:txBody>
      </p:sp>
      <p:sp>
        <p:nvSpPr>
          <p:cNvPr id="5" name="Text 3"/>
          <p:cNvSpPr/>
          <p:nvPr/>
        </p:nvSpPr>
        <p:spPr>
          <a:xfrm>
            <a:off x="1812846" y="1782485"/>
            <a:ext cx="1993583" cy="249079"/>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The Problem</a:t>
            </a:r>
            <a:endParaRPr lang="en-US" sz="1550" dirty="0"/>
          </a:p>
        </p:txBody>
      </p:sp>
      <p:sp>
        <p:nvSpPr>
          <p:cNvPr id="6" name="Text 4"/>
          <p:cNvSpPr/>
          <p:nvPr/>
        </p:nvSpPr>
        <p:spPr>
          <a:xfrm>
            <a:off x="1812846" y="2199680"/>
            <a:ext cx="11004590" cy="434578"/>
          </a:xfrm>
          <a:prstGeom prst="rect">
            <a:avLst/>
          </a:prstGeom>
          <a:noFill/>
          <a:ln/>
        </p:spPr>
        <p:txBody>
          <a:bodyPr wrap="square" lIns="0" tIns="0" rIns="0" bIns="0" rtlCol="0" anchor="t"/>
          <a:lstStyle/>
          <a:p>
            <a:pPr>
              <a:lnSpc>
                <a:spcPts val="1700"/>
              </a:lnSpc>
            </a:pPr>
            <a:r>
              <a:rPr lang="en-US" sz="1250" dirty="0">
                <a:solidFill>
                  <a:srgbClr val="272525"/>
                </a:solidFill>
                <a:latin typeface="Inter" pitchFamily="34" charset="0"/>
                <a:ea typeface="Inter" pitchFamily="34" charset="-122"/>
                <a:cs typeface="Inter" pitchFamily="34" charset="-120"/>
              </a:rPr>
              <a:t>Unreliable Referral Behavior - Mimic the r</a:t>
            </a:r>
            <a:r>
              <a:rPr lang="en-US" sz="1400" dirty="0">
                <a:effectLst/>
                <a:latin typeface="Helvetica Neue" panose="02000503000000020004" pitchFamily="2" charset="0"/>
              </a:rPr>
              <a:t>eal clinical setting</a:t>
            </a:r>
          </a:p>
          <a:p>
            <a:pPr marL="0" indent="0" algn="l">
              <a:lnSpc>
                <a:spcPts val="1700"/>
              </a:lnSpc>
              <a:buNone/>
            </a:pPr>
            <a:endParaRPr lang="en-US" sz="1250" dirty="0"/>
          </a:p>
        </p:txBody>
      </p:sp>
      <p:sp>
        <p:nvSpPr>
          <p:cNvPr id="7" name="Shape 5"/>
          <p:cNvSpPr/>
          <p:nvPr/>
        </p:nvSpPr>
        <p:spPr>
          <a:xfrm>
            <a:off x="1812846" y="2800112"/>
            <a:ext cx="11004590" cy="11906"/>
          </a:xfrm>
          <a:prstGeom prst="rect">
            <a:avLst/>
          </a:prstGeom>
          <a:solidFill>
            <a:srgbClr val="272525">
              <a:alpha val="50000"/>
            </a:srgbClr>
          </a:solidFill>
          <a:ln/>
        </p:spPr>
        <p:txBody>
          <a:bodyPr/>
          <a:lstStyle/>
          <a:p>
            <a:endParaRPr lang="en-US"/>
          </a:p>
        </p:txBody>
      </p:sp>
      <p:sp>
        <p:nvSpPr>
          <p:cNvPr id="8" name="Text 6"/>
          <p:cNvSpPr/>
          <p:nvPr/>
        </p:nvSpPr>
        <p:spPr>
          <a:xfrm>
            <a:off x="1812846" y="3019901"/>
            <a:ext cx="2618780" cy="249079"/>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Reliable Handoffs in Action</a:t>
            </a:r>
            <a:endParaRPr lang="en-US" sz="1550" dirty="0"/>
          </a:p>
        </p:txBody>
      </p:sp>
      <p:sp>
        <p:nvSpPr>
          <p:cNvPr id="9" name="Text 7"/>
          <p:cNvSpPr/>
          <p:nvPr/>
        </p:nvSpPr>
        <p:spPr>
          <a:xfrm>
            <a:off x="1812846" y="3437096"/>
            <a:ext cx="11004590" cy="217289"/>
          </a:xfrm>
          <a:prstGeom prst="rect">
            <a:avLst/>
          </a:prstGeom>
          <a:noFill/>
          <a:ln/>
        </p:spPr>
        <p:txBody>
          <a:bodyPr wrap="none" lIns="0" tIns="0" rIns="0" bIns="0" rtlCol="0" anchor="t"/>
          <a:lstStyle/>
          <a:p>
            <a:pPr marL="0" indent="0" algn="l">
              <a:lnSpc>
                <a:spcPts val="1700"/>
              </a:lnSpc>
              <a:buNone/>
            </a:pPr>
            <a:r>
              <a:rPr lang="en-US" sz="1250" b="1" dirty="0">
                <a:solidFill>
                  <a:srgbClr val="272525"/>
                </a:solidFill>
                <a:latin typeface="Inter" pitchFamily="34" charset="0"/>
                <a:ea typeface="Inter" pitchFamily="34" charset="-122"/>
                <a:cs typeface="Inter" pitchFamily="34" charset="-120"/>
              </a:rPr>
              <a:t>Student asks the Nurse agent:</a:t>
            </a:r>
            <a:r>
              <a:rPr lang="en-US" sz="1250" dirty="0">
                <a:solidFill>
                  <a:srgbClr val="272525"/>
                </a:solidFill>
                <a:latin typeface="Inter" pitchFamily="34" charset="0"/>
                <a:ea typeface="Inter" pitchFamily="34" charset="-122"/>
                <a:cs typeface="Inter" pitchFamily="34" charset="-120"/>
              </a:rPr>
              <a:t> “How should hospital leadership allocate funding for addiction treatment programs?”</a:t>
            </a:r>
            <a:endParaRPr lang="en-US" sz="1250" dirty="0"/>
          </a:p>
        </p:txBody>
      </p:sp>
      <p:sp>
        <p:nvSpPr>
          <p:cNvPr id="10" name="Text 8"/>
          <p:cNvSpPr/>
          <p:nvPr/>
        </p:nvSpPr>
        <p:spPr>
          <a:xfrm>
            <a:off x="1812846" y="3780473"/>
            <a:ext cx="11004590" cy="434578"/>
          </a:xfrm>
          <a:prstGeom prst="rect">
            <a:avLst/>
          </a:prstGeom>
          <a:noFill/>
          <a:ln/>
        </p:spPr>
        <p:txBody>
          <a:bodyPr wrap="square" lIns="0" tIns="0" rIns="0" bIns="0" rtlCol="0" anchor="t"/>
          <a:lstStyle/>
          <a:p>
            <a:pPr marL="0" indent="0" algn="l">
              <a:lnSpc>
                <a:spcPts val="1700"/>
              </a:lnSpc>
              <a:buNone/>
            </a:pPr>
            <a:r>
              <a:rPr lang="en-US" sz="1250" b="1" dirty="0">
                <a:solidFill>
                  <a:srgbClr val="272525"/>
                </a:solidFill>
                <a:latin typeface="Inter" pitchFamily="34" charset="0"/>
                <a:ea typeface="Inter" pitchFamily="34" charset="-122"/>
                <a:cs typeface="Inter" pitchFamily="34" charset="-120"/>
              </a:rPr>
              <a:t>Nurse responds:</a:t>
            </a:r>
            <a:r>
              <a:rPr lang="en-US" sz="1250" dirty="0">
                <a:solidFill>
                  <a:srgbClr val="272525"/>
                </a:solidFill>
                <a:latin typeface="Inter" pitchFamily="34" charset="0"/>
                <a:ea typeface="Inter" pitchFamily="34" charset="-122"/>
                <a:cs typeface="Inter" pitchFamily="34" charset="-120"/>
              </a:rPr>
              <a:t> “That’s a hospital strategy and budgeting decision that sits outside my nursing scope. A health administrator should address funding allocation frameworks”</a:t>
            </a:r>
            <a:endParaRPr lang="en-US" sz="1250" dirty="0"/>
          </a:p>
        </p:txBody>
      </p:sp>
      <p:sp>
        <p:nvSpPr>
          <p:cNvPr id="11" name="Text 9"/>
          <p:cNvSpPr/>
          <p:nvPr/>
        </p:nvSpPr>
        <p:spPr>
          <a:xfrm>
            <a:off x="1812846" y="4341138"/>
            <a:ext cx="11004590" cy="217289"/>
          </a:xfrm>
          <a:prstGeom prst="rect">
            <a:avLst/>
          </a:prstGeom>
          <a:noFill/>
          <a:ln/>
        </p:spPr>
        <p:txBody>
          <a:bodyPr wrap="none" lIns="0" tIns="0" rIns="0" bIns="0" rtlCol="0" anchor="t"/>
          <a:lstStyle/>
          <a:p>
            <a:pPr marL="0" indent="0" algn="l">
              <a:lnSpc>
                <a:spcPts val="1700"/>
              </a:lnSpc>
              <a:buNone/>
            </a:pPr>
            <a:r>
              <a:rPr lang="en-US" sz="1250" b="1" dirty="0">
                <a:solidFill>
                  <a:srgbClr val="272525"/>
                </a:solidFill>
                <a:latin typeface="Inter" pitchFamily="34" charset="0"/>
                <a:ea typeface="Inter" pitchFamily="34" charset="-122"/>
                <a:cs typeface="Inter" pitchFamily="34" charset="-120"/>
              </a:rPr>
              <a:t>A button appears:</a:t>
            </a:r>
            <a:r>
              <a:rPr lang="en-US" sz="1250" dirty="0">
                <a:solidFill>
                  <a:srgbClr val="272525"/>
                </a:solidFill>
                <a:latin typeface="Inter" pitchFamily="34" charset="0"/>
                <a:ea typeface="Inter" pitchFamily="34" charset="-122"/>
                <a:cs typeface="Inter" pitchFamily="34" charset="-120"/>
              </a:rPr>
              <a:t> </a:t>
            </a:r>
            <a:r>
              <a:rPr lang="en-US" sz="1250" i="1" dirty="0">
                <a:solidFill>
                  <a:srgbClr val="272525"/>
                </a:solidFill>
                <a:latin typeface="Inter" pitchFamily="34" charset="0"/>
                <a:ea typeface="Inter" pitchFamily="34" charset="-122"/>
                <a:cs typeface="Inter" pitchFamily="34" charset="-120"/>
              </a:rPr>
              <a:t>Talk to Health Administrator</a:t>
            </a:r>
            <a:endParaRPr lang="en-US" sz="1250" dirty="0"/>
          </a:p>
        </p:txBody>
      </p:sp>
      <p:sp>
        <p:nvSpPr>
          <p:cNvPr id="12" name="Text 10"/>
          <p:cNvSpPr/>
          <p:nvPr/>
        </p:nvSpPr>
        <p:spPr>
          <a:xfrm>
            <a:off x="1812846" y="4684514"/>
            <a:ext cx="11004590" cy="217289"/>
          </a:xfrm>
          <a:prstGeom prst="rect">
            <a:avLst/>
          </a:prstGeom>
          <a:noFill/>
          <a:ln/>
        </p:spPr>
        <p:txBody>
          <a:bodyPr wrap="none" lIns="0" tIns="0" rIns="0" bIns="0" rtlCol="0" anchor="t"/>
          <a:lstStyle/>
          <a:p>
            <a:pPr marL="0" indent="0" algn="l">
              <a:lnSpc>
                <a:spcPts val="1700"/>
              </a:lnSpc>
              <a:buNone/>
            </a:pPr>
            <a:r>
              <a:rPr lang="en-US" sz="1250" b="1" dirty="0">
                <a:solidFill>
                  <a:srgbClr val="272525"/>
                </a:solidFill>
                <a:latin typeface="Inter" pitchFamily="34" charset="0"/>
                <a:ea typeface="Inter" pitchFamily="34" charset="-122"/>
                <a:cs typeface="Inter" pitchFamily="34" charset="-120"/>
              </a:rPr>
              <a:t>Student clicks</a:t>
            </a:r>
            <a:r>
              <a:rPr lang="en-US" sz="1250" dirty="0">
                <a:solidFill>
                  <a:srgbClr val="272525"/>
                </a:solidFill>
                <a:latin typeface="Inter" pitchFamily="34" charset="0"/>
                <a:ea typeface="Inter" pitchFamily="34" charset="-122"/>
                <a:cs typeface="Inter" pitchFamily="34" charset="-120"/>
              </a:rPr>
              <a:t> and the Health Administrator responds with a policy-grounded answer about liability protection and Good Samaritan laws.</a:t>
            </a:r>
            <a:endParaRPr lang="en-US" sz="1250" dirty="0"/>
          </a:p>
        </p:txBody>
      </p:sp>
      <p:sp>
        <p:nvSpPr>
          <p:cNvPr id="13" name="Shape 11"/>
          <p:cNvSpPr/>
          <p:nvPr/>
        </p:nvSpPr>
        <p:spPr>
          <a:xfrm>
            <a:off x="1812846" y="5067657"/>
            <a:ext cx="11004590" cy="11906"/>
          </a:xfrm>
          <a:prstGeom prst="rect">
            <a:avLst/>
          </a:prstGeom>
          <a:solidFill>
            <a:srgbClr val="272525">
              <a:alpha val="50000"/>
            </a:srgbClr>
          </a:solidFill>
          <a:ln/>
        </p:spPr>
        <p:txBody>
          <a:bodyPr/>
          <a:lstStyle/>
          <a:p>
            <a:endParaRPr lang="en-US"/>
          </a:p>
        </p:txBody>
      </p:sp>
      <p:sp>
        <p:nvSpPr>
          <p:cNvPr id="14" name="Text 12"/>
          <p:cNvSpPr/>
          <p:nvPr/>
        </p:nvSpPr>
        <p:spPr>
          <a:xfrm>
            <a:off x="1812846" y="5287447"/>
            <a:ext cx="1993583" cy="249079"/>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Why It Matters</a:t>
            </a:r>
            <a:endParaRPr lang="en-US" sz="1550" dirty="0"/>
          </a:p>
        </p:txBody>
      </p:sp>
      <p:sp>
        <p:nvSpPr>
          <p:cNvPr id="15" name="Text 13"/>
          <p:cNvSpPr/>
          <p:nvPr/>
        </p:nvSpPr>
        <p:spPr>
          <a:xfrm>
            <a:off x="1812846" y="5704642"/>
            <a:ext cx="11004590" cy="217289"/>
          </a:xfrm>
          <a:prstGeom prst="rect">
            <a:avLst/>
          </a:prstGeom>
          <a:noFill/>
          <a:ln/>
        </p:spPr>
        <p:txBody>
          <a:bodyPr wrap="none" lIns="0" tIns="0" rIns="0" bIns="0" rtlCol="0" anchor="t"/>
          <a:lstStyle/>
          <a:p>
            <a:pPr marL="0" indent="0" algn="l">
              <a:lnSpc>
                <a:spcPts val="1700"/>
              </a:lnSpc>
              <a:buNone/>
            </a:pPr>
            <a:r>
              <a:rPr lang="en-US" sz="1250" dirty="0">
                <a:solidFill>
                  <a:srgbClr val="272525"/>
                </a:solidFill>
                <a:latin typeface="Inter" pitchFamily="34" charset="0"/>
                <a:ea typeface="Inter" pitchFamily="34" charset="-122"/>
                <a:cs typeface="Inter" pitchFamily="34" charset="-120"/>
              </a:rPr>
              <a:t>Students get a smooth, trustworthy experience: the right question reaches the right expert, every time, regardless of which model is responding.</a:t>
            </a:r>
            <a:endParaRPr lang="en-US" sz="1250" dirty="0"/>
          </a:p>
        </p:txBody>
      </p:sp>
      <p:pic>
        <p:nvPicPr>
          <p:cNvPr id="16" name="Image 0" descr="preencoded.png"/>
          <p:cNvPicPr>
            <a:picLocks noChangeAspect="1"/>
          </p:cNvPicPr>
          <p:nvPr/>
        </p:nvPicPr>
        <p:blipFill>
          <a:blip r:embed="rId3"/>
          <a:stretch>
            <a:fillRect/>
          </a:stretch>
        </p:blipFill>
        <p:spPr>
          <a:xfrm>
            <a:off x="5232916" y="6048018"/>
            <a:ext cx="4164330" cy="1668899"/>
          </a:xfrm>
          <a:prstGeom prst="rect">
            <a:avLst/>
          </a:prstGeom>
        </p:spPr>
      </p:pic>
      <p:sp>
        <p:nvSpPr>
          <p:cNvPr id="17" name="Rectangle 16">
            <a:extLst>
              <a:ext uri="{FF2B5EF4-FFF2-40B4-BE49-F238E27FC236}">
                <a16:creationId xmlns:a16="http://schemas.microsoft.com/office/drawing/2014/main" id="{F83C9EF7-D6EF-C495-2AFF-FC44E107165B}"/>
              </a:ext>
            </a:extLst>
          </p:cNvPr>
          <p:cNvSpPr/>
          <p:nvPr/>
        </p:nvSpPr>
        <p:spPr>
          <a:xfrm>
            <a:off x="12817436" y="7628351"/>
            <a:ext cx="1812964" cy="60124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8">
                                            <p:txEl>
                                              <p:pRg st="0" end="0"/>
                                            </p:txEl>
                                          </p:spTgt>
                                        </p:tgtEl>
                                        <p:attrNameLst>
                                          <p:attrName>style.visibility</p:attrName>
                                        </p:attrNameLst>
                                      </p:cBhvr>
                                      <p:to>
                                        <p:strVal val="visible"/>
                                      </p:to>
                                    </p:set>
                                    <p:anim calcmode="lin" valueType="num">
                                      <p:cBhvr>
                                        <p:cTn id="14" dur="500" fill="hold"/>
                                        <p:tgtEl>
                                          <p:spTgt spid="8">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8">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8">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9">
                                            <p:txEl>
                                              <p:pRg st="0" end="0"/>
                                            </p:txEl>
                                          </p:spTgt>
                                        </p:tgtEl>
                                        <p:attrNameLst>
                                          <p:attrName>style.visibility</p:attrName>
                                        </p:attrNameLst>
                                      </p:cBhvr>
                                      <p:to>
                                        <p:strVal val="visible"/>
                                      </p:to>
                                    </p:set>
                                    <p:anim calcmode="lin" valueType="num">
                                      <p:cBhvr>
                                        <p:cTn id="21" dur="500" fill="hold"/>
                                        <p:tgtEl>
                                          <p:spTgt spid="9">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9">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9">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 calcmode="lin" valueType="num">
                                      <p:cBhvr>
                                        <p:cTn id="28" dur="500" fill="hold"/>
                                        <p:tgtEl>
                                          <p:spTgt spid="10">
                                            <p:txEl>
                                              <p:pRg st="0" end="0"/>
                                            </p:txEl>
                                          </p:spTgt>
                                        </p:tgtEl>
                                        <p:attrNameLst>
                                          <p:attrName>ppt_w</p:attrName>
                                        </p:attrNameLst>
                                      </p:cBhvr>
                                      <p:tavLst>
                                        <p:tav tm="0">
                                          <p:val>
                                            <p:fltVal val="0"/>
                                          </p:val>
                                        </p:tav>
                                        <p:tav tm="100000">
                                          <p:val>
                                            <p:strVal val="#ppt_w"/>
                                          </p:val>
                                        </p:tav>
                                      </p:tavLst>
                                    </p:anim>
                                    <p:anim calcmode="lin" valueType="num">
                                      <p:cBhvr>
                                        <p:cTn id="29" dur="500" fill="hold"/>
                                        <p:tgtEl>
                                          <p:spTgt spid="10">
                                            <p:txEl>
                                              <p:pRg st="0" end="0"/>
                                            </p:txEl>
                                          </p:spTgt>
                                        </p:tgtEl>
                                        <p:attrNameLst>
                                          <p:attrName>ppt_h</p:attrName>
                                        </p:attrNameLst>
                                      </p:cBhvr>
                                      <p:tavLst>
                                        <p:tav tm="0">
                                          <p:val>
                                            <p:fltVal val="0"/>
                                          </p:val>
                                        </p:tav>
                                        <p:tav tm="100000">
                                          <p:val>
                                            <p:strVal val="#ppt_h"/>
                                          </p:val>
                                        </p:tav>
                                      </p:tavLst>
                                    </p:anim>
                                    <p:animEffect transition="in" filter="fade">
                                      <p:cBhvr>
                                        <p:cTn id="30" dur="500"/>
                                        <p:tgtEl>
                                          <p:spTgt spid="10">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11">
                                            <p:txEl>
                                              <p:pRg st="0" end="0"/>
                                            </p:txEl>
                                          </p:spTgt>
                                        </p:tgtEl>
                                        <p:attrNameLst>
                                          <p:attrName>style.visibility</p:attrName>
                                        </p:attrNameLst>
                                      </p:cBhvr>
                                      <p:to>
                                        <p:strVal val="visible"/>
                                      </p:to>
                                    </p:set>
                                    <p:anim calcmode="lin" valueType="num">
                                      <p:cBhvr>
                                        <p:cTn id="35" dur="500" fill="hold"/>
                                        <p:tgtEl>
                                          <p:spTgt spid="11">
                                            <p:txEl>
                                              <p:pRg st="0" end="0"/>
                                            </p:txEl>
                                          </p:spTgt>
                                        </p:tgtEl>
                                        <p:attrNameLst>
                                          <p:attrName>ppt_w</p:attrName>
                                        </p:attrNameLst>
                                      </p:cBhvr>
                                      <p:tavLst>
                                        <p:tav tm="0">
                                          <p:val>
                                            <p:fltVal val="0"/>
                                          </p:val>
                                        </p:tav>
                                        <p:tav tm="100000">
                                          <p:val>
                                            <p:strVal val="#ppt_w"/>
                                          </p:val>
                                        </p:tav>
                                      </p:tavLst>
                                    </p:anim>
                                    <p:anim calcmode="lin" valueType="num">
                                      <p:cBhvr>
                                        <p:cTn id="36" dur="500" fill="hold"/>
                                        <p:tgtEl>
                                          <p:spTgt spid="11">
                                            <p:txEl>
                                              <p:pRg st="0" end="0"/>
                                            </p:txEl>
                                          </p:spTgt>
                                        </p:tgtEl>
                                        <p:attrNameLst>
                                          <p:attrName>ppt_h</p:attrName>
                                        </p:attrNameLst>
                                      </p:cBhvr>
                                      <p:tavLst>
                                        <p:tav tm="0">
                                          <p:val>
                                            <p:fltVal val="0"/>
                                          </p:val>
                                        </p:tav>
                                        <p:tav tm="100000">
                                          <p:val>
                                            <p:strVal val="#ppt_h"/>
                                          </p:val>
                                        </p:tav>
                                      </p:tavLst>
                                    </p:anim>
                                    <p:animEffect transition="in" filter="fade">
                                      <p:cBhvr>
                                        <p:cTn id="37" dur="500"/>
                                        <p:tgtEl>
                                          <p:spTgt spid="11">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12">
                                            <p:txEl>
                                              <p:pRg st="0" end="0"/>
                                            </p:txEl>
                                          </p:spTgt>
                                        </p:tgtEl>
                                        <p:attrNameLst>
                                          <p:attrName>style.visibility</p:attrName>
                                        </p:attrNameLst>
                                      </p:cBhvr>
                                      <p:to>
                                        <p:strVal val="visible"/>
                                      </p:to>
                                    </p:set>
                                    <p:anim calcmode="lin" valueType="num">
                                      <p:cBhvr>
                                        <p:cTn id="42" dur="500" fill="hold"/>
                                        <p:tgtEl>
                                          <p:spTgt spid="12">
                                            <p:txEl>
                                              <p:pRg st="0" end="0"/>
                                            </p:txEl>
                                          </p:spTgt>
                                        </p:tgtEl>
                                        <p:attrNameLst>
                                          <p:attrName>ppt_w</p:attrName>
                                        </p:attrNameLst>
                                      </p:cBhvr>
                                      <p:tavLst>
                                        <p:tav tm="0">
                                          <p:val>
                                            <p:fltVal val="0"/>
                                          </p:val>
                                        </p:tav>
                                        <p:tav tm="100000">
                                          <p:val>
                                            <p:strVal val="#ppt_w"/>
                                          </p:val>
                                        </p:tav>
                                      </p:tavLst>
                                    </p:anim>
                                    <p:anim calcmode="lin" valueType="num">
                                      <p:cBhvr>
                                        <p:cTn id="43" dur="500" fill="hold"/>
                                        <p:tgtEl>
                                          <p:spTgt spid="12">
                                            <p:txEl>
                                              <p:pRg st="0" end="0"/>
                                            </p:txEl>
                                          </p:spTgt>
                                        </p:tgtEl>
                                        <p:attrNameLst>
                                          <p:attrName>ppt_h</p:attrName>
                                        </p:attrNameLst>
                                      </p:cBhvr>
                                      <p:tavLst>
                                        <p:tav tm="0">
                                          <p:val>
                                            <p:fltVal val="0"/>
                                          </p:val>
                                        </p:tav>
                                        <p:tav tm="100000">
                                          <p:val>
                                            <p:strVal val="#ppt_h"/>
                                          </p:val>
                                        </p:tav>
                                      </p:tavLst>
                                    </p:anim>
                                    <p:animEffect transition="in" filter="fade">
                                      <p:cBhvr>
                                        <p:cTn id="44" dur="500"/>
                                        <p:tgtEl>
                                          <p:spTgt spid="12">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p:cTn id="49" dur="500" fill="hold"/>
                                        <p:tgtEl>
                                          <p:spTgt spid="13"/>
                                        </p:tgtEl>
                                        <p:attrNameLst>
                                          <p:attrName>ppt_w</p:attrName>
                                        </p:attrNameLst>
                                      </p:cBhvr>
                                      <p:tavLst>
                                        <p:tav tm="0">
                                          <p:val>
                                            <p:fltVal val="0"/>
                                          </p:val>
                                        </p:tav>
                                        <p:tav tm="100000">
                                          <p:val>
                                            <p:strVal val="#ppt_w"/>
                                          </p:val>
                                        </p:tav>
                                      </p:tavLst>
                                    </p:anim>
                                    <p:anim calcmode="lin" valueType="num">
                                      <p:cBhvr>
                                        <p:cTn id="50" dur="500" fill="hold"/>
                                        <p:tgtEl>
                                          <p:spTgt spid="13"/>
                                        </p:tgtEl>
                                        <p:attrNameLst>
                                          <p:attrName>ppt_h</p:attrName>
                                        </p:attrNameLst>
                                      </p:cBhvr>
                                      <p:tavLst>
                                        <p:tav tm="0">
                                          <p:val>
                                            <p:fltVal val="0"/>
                                          </p:val>
                                        </p:tav>
                                        <p:tav tm="100000">
                                          <p:val>
                                            <p:strVal val="#ppt_h"/>
                                          </p:val>
                                        </p:tav>
                                      </p:tavLst>
                                    </p:anim>
                                    <p:animEffect transition="in" filter="fade">
                                      <p:cBhvr>
                                        <p:cTn id="51" dur="500"/>
                                        <p:tgtEl>
                                          <p:spTgt spid="13"/>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14">
                                            <p:txEl>
                                              <p:pRg st="0" end="0"/>
                                            </p:txEl>
                                          </p:spTgt>
                                        </p:tgtEl>
                                        <p:attrNameLst>
                                          <p:attrName>style.visibility</p:attrName>
                                        </p:attrNameLst>
                                      </p:cBhvr>
                                      <p:to>
                                        <p:strVal val="visible"/>
                                      </p:to>
                                    </p:set>
                                    <p:anim calcmode="lin" valueType="num">
                                      <p:cBhvr>
                                        <p:cTn id="56" dur="500" fill="hold"/>
                                        <p:tgtEl>
                                          <p:spTgt spid="14">
                                            <p:txEl>
                                              <p:pRg st="0" end="0"/>
                                            </p:txEl>
                                          </p:spTgt>
                                        </p:tgtEl>
                                        <p:attrNameLst>
                                          <p:attrName>ppt_w</p:attrName>
                                        </p:attrNameLst>
                                      </p:cBhvr>
                                      <p:tavLst>
                                        <p:tav tm="0">
                                          <p:val>
                                            <p:fltVal val="0"/>
                                          </p:val>
                                        </p:tav>
                                        <p:tav tm="100000">
                                          <p:val>
                                            <p:strVal val="#ppt_w"/>
                                          </p:val>
                                        </p:tav>
                                      </p:tavLst>
                                    </p:anim>
                                    <p:anim calcmode="lin" valueType="num">
                                      <p:cBhvr>
                                        <p:cTn id="57" dur="500" fill="hold"/>
                                        <p:tgtEl>
                                          <p:spTgt spid="14">
                                            <p:txEl>
                                              <p:pRg st="0" end="0"/>
                                            </p:txEl>
                                          </p:spTgt>
                                        </p:tgtEl>
                                        <p:attrNameLst>
                                          <p:attrName>ppt_h</p:attrName>
                                        </p:attrNameLst>
                                      </p:cBhvr>
                                      <p:tavLst>
                                        <p:tav tm="0">
                                          <p:val>
                                            <p:fltVal val="0"/>
                                          </p:val>
                                        </p:tav>
                                        <p:tav tm="100000">
                                          <p:val>
                                            <p:strVal val="#ppt_h"/>
                                          </p:val>
                                        </p:tav>
                                      </p:tavLst>
                                    </p:anim>
                                    <p:animEffect transition="in" filter="fade">
                                      <p:cBhvr>
                                        <p:cTn id="58" dur="500"/>
                                        <p:tgtEl>
                                          <p:spTgt spid="14">
                                            <p:txEl>
                                              <p:pRg st="0" end="0"/>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nodeType="clickEffect">
                                  <p:stCondLst>
                                    <p:cond delay="0"/>
                                  </p:stCondLst>
                                  <p:childTnLst>
                                    <p:set>
                                      <p:cBhvr>
                                        <p:cTn id="62" dur="1" fill="hold">
                                          <p:stCondLst>
                                            <p:cond delay="0"/>
                                          </p:stCondLst>
                                        </p:cTn>
                                        <p:tgtEl>
                                          <p:spTgt spid="15">
                                            <p:txEl>
                                              <p:pRg st="0" end="0"/>
                                            </p:txEl>
                                          </p:spTgt>
                                        </p:tgtEl>
                                        <p:attrNameLst>
                                          <p:attrName>style.visibility</p:attrName>
                                        </p:attrNameLst>
                                      </p:cBhvr>
                                      <p:to>
                                        <p:strVal val="visible"/>
                                      </p:to>
                                    </p:set>
                                    <p:anim calcmode="lin" valueType="num">
                                      <p:cBhvr>
                                        <p:cTn id="63" dur="500" fill="hold"/>
                                        <p:tgtEl>
                                          <p:spTgt spid="15">
                                            <p:txEl>
                                              <p:pRg st="0" end="0"/>
                                            </p:txEl>
                                          </p:spTgt>
                                        </p:tgtEl>
                                        <p:attrNameLst>
                                          <p:attrName>ppt_w</p:attrName>
                                        </p:attrNameLst>
                                      </p:cBhvr>
                                      <p:tavLst>
                                        <p:tav tm="0">
                                          <p:val>
                                            <p:fltVal val="0"/>
                                          </p:val>
                                        </p:tav>
                                        <p:tav tm="100000">
                                          <p:val>
                                            <p:strVal val="#ppt_w"/>
                                          </p:val>
                                        </p:tav>
                                      </p:tavLst>
                                    </p:anim>
                                    <p:anim calcmode="lin" valueType="num">
                                      <p:cBhvr>
                                        <p:cTn id="64" dur="500" fill="hold"/>
                                        <p:tgtEl>
                                          <p:spTgt spid="15">
                                            <p:txEl>
                                              <p:pRg st="0" end="0"/>
                                            </p:txEl>
                                          </p:spTgt>
                                        </p:tgtEl>
                                        <p:attrNameLst>
                                          <p:attrName>ppt_h</p:attrName>
                                        </p:attrNameLst>
                                      </p:cBhvr>
                                      <p:tavLst>
                                        <p:tav tm="0">
                                          <p:val>
                                            <p:fltVal val="0"/>
                                          </p:val>
                                        </p:tav>
                                        <p:tav tm="100000">
                                          <p:val>
                                            <p:strVal val="#ppt_h"/>
                                          </p:val>
                                        </p:tav>
                                      </p:tavLst>
                                    </p:anim>
                                    <p:animEffect transition="in" filter="fade">
                                      <p:cBhvr>
                                        <p:cTn id="65" dur="500"/>
                                        <p:tgtEl>
                                          <p:spTgt spid="15">
                                            <p:txEl>
                                              <p:pRg st="0" end="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nodeType="clickEffect">
                                  <p:stCondLst>
                                    <p:cond delay="0"/>
                                  </p:stCondLst>
                                  <p:childTnLst>
                                    <p:set>
                                      <p:cBhvr>
                                        <p:cTn id="69" dur="1" fill="hold">
                                          <p:stCondLst>
                                            <p:cond delay="0"/>
                                          </p:stCondLst>
                                        </p:cTn>
                                        <p:tgtEl>
                                          <p:spTgt spid="16"/>
                                        </p:tgtEl>
                                        <p:attrNameLst>
                                          <p:attrName>style.visibility</p:attrName>
                                        </p:attrNameLst>
                                      </p:cBhvr>
                                      <p:to>
                                        <p:strVal val="visible"/>
                                      </p:to>
                                    </p:set>
                                    <p:anim calcmode="lin" valueType="num">
                                      <p:cBhvr>
                                        <p:cTn id="70" dur="500" fill="hold"/>
                                        <p:tgtEl>
                                          <p:spTgt spid="16"/>
                                        </p:tgtEl>
                                        <p:attrNameLst>
                                          <p:attrName>ppt_w</p:attrName>
                                        </p:attrNameLst>
                                      </p:cBhvr>
                                      <p:tavLst>
                                        <p:tav tm="0">
                                          <p:val>
                                            <p:fltVal val="0"/>
                                          </p:val>
                                        </p:tav>
                                        <p:tav tm="100000">
                                          <p:val>
                                            <p:strVal val="#ppt_w"/>
                                          </p:val>
                                        </p:tav>
                                      </p:tavLst>
                                    </p:anim>
                                    <p:anim calcmode="lin" valueType="num">
                                      <p:cBhvr>
                                        <p:cTn id="71" dur="500" fill="hold"/>
                                        <p:tgtEl>
                                          <p:spTgt spid="16"/>
                                        </p:tgtEl>
                                        <p:attrNameLst>
                                          <p:attrName>ppt_h</p:attrName>
                                        </p:attrNameLst>
                                      </p:cBhvr>
                                      <p:tavLst>
                                        <p:tav tm="0">
                                          <p:val>
                                            <p:fltVal val="0"/>
                                          </p:val>
                                        </p:tav>
                                        <p:tav tm="100000">
                                          <p:val>
                                            <p:strVal val="#ppt_h"/>
                                          </p:val>
                                        </p:tav>
                                      </p:tavLst>
                                    </p:anim>
                                    <p:animEffect transition="in" filter="fade">
                                      <p:cBhvr>
                                        <p:cTn id="7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10465832" y="86797"/>
            <a:ext cx="2842617" cy="8056007"/>
          </a:xfrm>
          <a:prstGeom prst="rect">
            <a:avLst/>
          </a:prstGeom>
        </p:spPr>
      </p:pic>
      <p:sp>
        <p:nvSpPr>
          <p:cNvPr id="4" name="Text 0"/>
          <p:cNvSpPr/>
          <p:nvPr/>
        </p:nvSpPr>
        <p:spPr>
          <a:xfrm>
            <a:off x="607814" y="705207"/>
            <a:ext cx="7815143" cy="542687"/>
          </a:xfrm>
          <a:prstGeom prst="rect">
            <a:avLst/>
          </a:prstGeom>
          <a:noFill/>
          <a:ln/>
        </p:spPr>
        <p:txBody>
          <a:bodyPr wrap="none" lIns="0" tIns="0" rIns="0" bIns="0" rtlCol="0" anchor="t"/>
          <a:lstStyle/>
          <a:p>
            <a:pPr marL="0" indent="0" algn="l">
              <a:lnSpc>
                <a:spcPts val="4250"/>
              </a:lnSpc>
              <a:buNone/>
            </a:pPr>
            <a:r>
              <a:rPr lang="en-US" sz="3400" b="1" dirty="0">
                <a:solidFill>
                  <a:srgbClr val="000000"/>
                </a:solidFill>
                <a:latin typeface="Inter Bold" pitchFamily="34" charset="0"/>
                <a:ea typeface="Inter Bold" pitchFamily="34" charset="-122"/>
                <a:cs typeface="Inter Bold" pitchFamily="34" charset="-120"/>
              </a:rPr>
              <a:t>Admin-Driven Case Study Expansion</a:t>
            </a:r>
            <a:endParaRPr lang="en-US" sz="3400" dirty="0"/>
          </a:p>
        </p:txBody>
      </p:sp>
      <p:sp>
        <p:nvSpPr>
          <p:cNvPr id="5" name="Text 1"/>
          <p:cNvSpPr/>
          <p:nvPr/>
        </p:nvSpPr>
        <p:spPr>
          <a:xfrm>
            <a:off x="607814" y="1300996"/>
            <a:ext cx="4778097" cy="325636"/>
          </a:xfrm>
          <a:prstGeom prst="rect">
            <a:avLst/>
          </a:prstGeom>
          <a:noFill/>
          <a:ln/>
        </p:spPr>
        <p:txBody>
          <a:bodyPr wrap="none" lIns="0" tIns="0" rIns="0" bIns="0" rtlCol="0" anchor="t"/>
          <a:lstStyle/>
          <a:p>
            <a:pPr marL="0" indent="0" algn="l">
              <a:lnSpc>
                <a:spcPts val="2550"/>
              </a:lnSpc>
              <a:buNone/>
            </a:pPr>
            <a:r>
              <a:rPr lang="en-US" sz="2050" b="1" dirty="0">
                <a:solidFill>
                  <a:srgbClr val="000000"/>
                </a:solidFill>
                <a:latin typeface="Inter Bold" pitchFamily="34" charset="0"/>
                <a:ea typeface="Inter Bold" pitchFamily="34" charset="-122"/>
                <a:cs typeface="Inter Bold" pitchFamily="34" charset="-120"/>
              </a:rPr>
              <a:t>Unlocking BRIDGE beyond Julia Baker</a:t>
            </a:r>
            <a:endParaRPr lang="en-US" sz="2050" dirty="0"/>
          </a:p>
        </p:txBody>
      </p:sp>
      <p:sp>
        <p:nvSpPr>
          <p:cNvPr id="6" name="Shape 2"/>
          <p:cNvSpPr/>
          <p:nvPr/>
        </p:nvSpPr>
        <p:spPr>
          <a:xfrm>
            <a:off x="607814" y="1869400"/>
            <a:ext cx="7928372" cy="12978"/>
          </a:xfrm>
          <a:prstGeom prst="rect">
            <a:avLst/>
          </a:prstGeom>
          <a:solidFill>
            <a:srgbClr val="272525">
              <a:alpha val="50000"/>
            </a:srgbClr>
          </a:solidFill>
          <a:ln/>
        </p:spPr>
        <p:txBody>
          <a:bodyPr/>
          <a:lstStyle/>
          <a:p>
            <a:endParaRPr lang="en-US"/>
          </a:p>
        </p:txBody>
      </p:sp>
      <p:sp>
        <p:nvSpPr>
          <p:cNvPr id="7" name="Text 3"/>
          <p:cNvSpPr/>
          <p:nvPr/>
        </p:nvSpPr>
        <p:spPr>
          <a:xfrm>
            <a:off x="607814" y="2125147"/>
            <a:ext cx="2170748" cy="271224"/>
          </a:xfrm>
          <a:prstGeom prst="rect">
            <a:avLst/>
          </a:prstGeom>
          <a:noFill/>
          <a:ln/>
        </p:spPr>
        <p:txBody>
          <a:bodyPr wrap="none" lIns="0" tIns="0" rIns="0" bIns="0" rtlCol="0" anchor="t"/>
          <a:lstStyle/>
          <a:p>
            <a:pPr marL="0" indent="0" algn="l">
              <a:lnSpc>
                <a:spcPts val="2100"/>
              </a:lnSpc>
              <a:buNone/>
            </a:pPr>
            <a:r>
              <a:rPr lang="en-US" sz="1700" b="1" dirty="0">
                <a:solidFill>
                  <a:srgbClr val="000000"/>
                </a:solidFill>
                <a:latin typeface="Inter Bold" pitchFamily="34" charset="0"/>
                <a:ea typeface="Inter Bold" pitchFamily="34" charset="-122"/>
                <a:cs typeface="Inter Bold" pitchFamily="34" charset="-120"/>
              </a:rPr>
              <a:t>The Problem</a:t>
            </a:r>
            <a:endParaRPr lang="en-US" sz="1700" dirty="0"/>
          </a:p>
        </p:txBody>
      </p:sp>
      <p:sp>
        <p:nvSpPr>
          <p:cNvPr id="8" name="Text 4"/>
          <p:cNvSpPr/>
          <p:nvPr/>
        </p:nvSpPr>
        <p:spPr>
          <a:xfrm>
            <a:off x="607814" y="2595801"/>
            <a:ext cx="7928372" cy="490538"/>
          </a:xfrm>
          <a:prstGeom prst="rect">
            <a:avLst/>
          </a:prstGeom>
          <a:noFill/>
          <a:ln/>
        </p:spPr>
        <p:txBody>
          <a:bodyPr wrap="square" lIns="0" tIns="0" rIns="0" bIns="0" rtlCol="0" anchor="t"/>
          <a:lstStyle/>
          <a:p>
            <a:pPr marL="0" indent="0" algn="l">
              <a:lnSpc>
                <a:spcPts val="1900"/>
              </a:lnSpc>
              <a:buNone/>
            </a:pPr>
            <a:r>
              <a:rPr lang="en-US" sz="1350" dirty="0">
                <a:solidFill>
                  <a:srgbClr val="272525"/>
                </a:solidFill>
                <a:latin typeface="Inter" pitchFamily="34" charset="0"/>
                <a:ea typeface="Inter" pitchFamily="34" charset="-122"/>
                <a:cs typeface="Inter" pitchFamily="34" charset="-120"/>
              </a:rPr>
              <a:t>Baseline BRIDGE ships with a single opioid overdose scenario. Adding new cases required a code deploy and developer involvement.</a:t>
            </a:r>
            <a:endParaRPr lang="en-US" sz="1350" dirty="0"/>
          </a:p>
        </p:txBody>
      </p:sp>
      <p:sp>
        <p:nvSpPr>
          <p:cNvPr id="9" name="Shape 5"/>
          <p:cNvSpPr/>
          <p:nvPr/>
        </p:nvSpPr>
        <p:spPr>
          <a:xfrm>
            <a:off x="607814" y="3279219"/>
            <a:ext cx="7928372" cy="12978"/>
          </a:xfrm>
          <a:prstGeom prst="rect">
            <a:avLst/>
          </a:prstGeom>
          <a:solidFill>
            <a:srgbClr val="272525">
              <a:alpha val="50000"/>
            </a:srgbClr>
          </a:solidFill>
          <a:ln/>
        </p:spPr>
        <p:txBody>
          <a:bodyPr/>
          <a:lstStyle/>
          <a:p>
            <a:endParaRPr lang="en-US"/>
          </a:p>
        </p:txBody>
      </p:sp>
      <p:sp>
        <p:nvSpPr>
          <p:cNvPr id="10" name="Text 6"/>
          <p:cNvSpPr/>
          <p:nvPr/>
        </p:nvSpPr>
        <p:spPr>
          <a:xfrm>
            <a:off x="607814" y="3534966"/>
            <a:ext cx="2170748" cy="271224"/>
          </a:xfrm>
          <a:prstGeom prst="rect">
            <a:avLst/>
          </a:prstGeom>
          <a:noFill/>
          <a:ln/>
        </p:spPr>
        <p:txBody>
          <a:bodyPr wrap="none" lIns="0" tIns="0" rIns="0" bIns="0" rtlCol="0" anchor="t"/>
          <a:lstStyle/>
          <a:p>
            <a:pPr marL="0" indent="0" algn="l">
              <a:lnSpc>
                <a:spcPts val="2100"/>
              </a:lnSpc>
              <a:buNone/>
            </a:pPr>
            <a:r>
              <a:rPr lang="en-US" sz="1700" b="1" dirty="0">
                <a:solidFill>
                  <a:srgbClr val="000000"/>
                </a:solidFill>
                <a:latin typeface="Inter Bold" pitchFamily="34" charset="0"/>
                <a:ea typeface="Inter Bold" pitchFamily="34" charset="-122"/>
                <a:cs typeface="Inter Bold" pitchFamily="34" charset="-120"/>
              </a:rPr>
              <a:t>The Solution</a:t>
            </a:r>
            <a:endParaRPr lang="en-US" sz="1700" dirty="0"/>
          </a:p>
        </p:txBody>
      </p:sp>
      <p:sp>
        <p:nvSpPr>
          <p:cNvPr id="11" name="Text 7"/>
          <p:cNvSpPr/>
          <p:nvPr/>
        </p:nvSpPr>
        <p:spPr>
          <a:xfrm>
            <a:off x="607814" y="4005620"/>
            <a:ext cx="7928372" cy="490538"/>
          </a:xfrm>
          <a:prstGeom prst="rect">
            <a:avLst/>
          </a:prstGeom>
          <a:noFill/>
          <a:ln/>
        </p:spPr>
        <p:txBody>
          <a:bodyPr wrap="square" lIns="0" tIns="0" rIns="0" bIns="0" rtlCol="0" anchor="t"/>
          <a:lstStyle/>
          <a:p>
            <a:pPr marL="0" indent="0" algn="l">
              <a:lnSpc>
                <a:spcPts val="1900"/>
              </a:lnSpc>
              <a:buNone/>
            </a:pPr>
            <a:r>
              <a:rPr lang="en-US" sz="1350" dirty="0">
                <a:solidFill>
                  <a:srgbClr val="272525"/>
                </a:solidFill>
                <a:latin typeface="Inter" pitchFamily="34" charset="0"/>
                <a:ea typeface="Inter" pitchFamily="34" charset="-122"/>
                <a:cs typeface="Inter" pitchFamily="34" charset="-120"/>
              </a:rPr>
              <a:t>Instructors add new patient cases from a sidebar form: no code, no developer needed. New cases go live instantly for all students.</a:t>
            </a:r>
            <a:endParaRPr lang="en-US" sz="1350" dirty="0"/>
          </a:p>
        </p:txBody>
      </p:sp>
      <p:sp>
        <p:nvSpPr>
          <p:cNvPr id="12" name="Text 8"/>
          <p:cNvSpPr/>
          <p:nvPr/>
        </p:nvSpPr>
        <p:spPr>
          <a:xfrm>
            <a:off x="607814" y="4645700"/>
            <a:ext cx="7928372" cy="245269"/>
          </a:xfrm>
          <a:prstGeom prst="rect">
            <a:avLst/>
          </a:prstGeom>
          <a:noFill/>
          <a:ln/>
        </p:spPr>
        <p:txBody>
          <a:bodyPr wrap="none" lIns="0" tIns="0" rIns="0" bIns="0" rtlCol="0" anchor="t"/>
          <a:lstStyle/>
          <a:p>
            <a:pPr marL="0" indent="0" algn="l">
              <a:lnSpc>
                <a:spcPts val="1900"/>
              </a:lnSpc>
              <a:buNone/>
            </a:pPr>
            <a:r>
              <a:rPr lang="en-US" sz="1350" b="1" dirty="0">
                <a:solidFill>
                  <a:srgbClr val="272525"/>
                </a:solidFill>
                <a:latin typeface="Inter" pitchFamily="34" charset="0"/>
                <a:ea typeface="Inter" pitchFamily="34" charset="-122"/>
                <a:cs typeface="Inter" pitchFamily="34" charset="-120"/>
              </a:rPr>
              <a:t>Supported case types:</a:t>
            </a:r>
            <a:endParaRPr lang="en-US" sz="1350" dirty="0"/>
          </a:p>
        </p:txBody>
      </p:sp>
      <p:sp>
        <p:nvSpPr>
          <p:cNvPr id="13" name="Text 9"/>
          <p:cNvSpPr/>
          <p:nvPr/>
        </p:nvSpPr>
        <p:spPr>
          <a:xfrm>
            <a:off x="607814" y="5040511"/>
            <a:ext cx="7928372" cy="828675"/>
          </a:xfrm>
          <a:prstGeom prst="rect">
            <a:avLst/>
          </a:prstGeom>
          <a:noFill/>
          <a:ln/>
        </p:spPr>
        <p:txBody>
          <a:bodyPr wrap="square" lIns="0" tIns="0" rIns="0" bIns="0" rtlCol="0" anchor="t"/>
          <a:lstStyle/>
          <a:p>
            <a:pPr marL="342900" indent="-342900" algn="l">
              <a:lnSpc>
                <a:spcPts val="1900"/>
              </a:lnSpc>
              <a:buSzPct val="100000"/>
              <a:buChar char="•"/>
            </a:pPr>
            <a:r>
              <a:rPr lang="en-US" sz="1350" dirty="0">
                <a:solidFill>
                  <a:srgbClr val="272525"/>
                </a:solidFill>
                <a:latin typeface="Inter" pitchFamily="34" charset="0"/>
                <a:ea typeface="Inter" pitchFamily="34" charset="-122"/>
                <a:cs typeface="Inter" pitchFamily="34" charset="-120"/>
              </a:rPr>
              <a:t>Text-based scenarios (HPI, exam findings, labs)</a:t>
            </a:r>
            <a:endParaRPr lang="en-US" sz="1350" dirty="0"/>
          </a:p>
          <a:p>
            <a:pPr marL="342900" indent="-342900" algn="l">
              <a:lnSpc>
                <a:spcPts val="1900"/>
              </a:lnSpc>
              <a:buSzPct val="100000"/>
              <a:buChar char="•"/>
            </a:pPr>
            <a:r>
              <a:rPr lang="en-US" sz="1350" dirty="0">
                <a:solidFill>
                  <a:srgbClr val="272525"/>
                </a:solidFill>
                <a:latin typeface="Inter" pitchFamily="34" charset="0"/>
                <a:ea typeface="Inter" pitchFamily="34" charset="-122"/>
                <a:cs typeface="Inter" pitchFamily="34" charset="-120"/>
              </a:rPr>
              <a:t>Audio recordings of patient interviews</a:t>
            </a:r>
            <a:endParaRPr lang="en-US" sz="1350" dirty="0"/>
          </a:p>
          <a:p>
            <a:pPr marL="342900" indent="-342900" algn="l">
              <a:lnSpc>
                <a:spcPts val="1900"/>
              </a:lnSpc>
              <a:buSzPct val="100000"/>
              <a:buChar char="•"/>
            </a:pPr>
            <a:r>
              <a:rPr lang="en-US" sz="1350" dirty="0">
                <a:solidFill>
                  <a:srgbClr val="272525"/>
                </a:solidFill>
                <a:latin typeface="Inter" pitchFamily="34" charset="0"/>
                <a:ea typeface="Inter" pitchFamily="34" charset="-122"/>
                <a:cs typeface="Inter" pitchFamily="34" charset="-120"/>
              </a:rPr>
              <a:t>Video of clinical simulations or procedures</a:t>
            </a:r>
            <a:endParaRPr lang="en-US" sz="1350" dirty="0"/>
          </a:p>
        </p:txBody>
      </p:sp>
      <p:sp>
        <p:nvSpPr>
          <p:cNvPr id="14" name="Shape 10"/>
          <p:cNvSpPr/>
          <p:nvPr/>
        </p:nvSpPr>
        <p:spPr>
          <a:xfrm>
            <a:off x="607814" y="6062067"/>
            <a:ext cx="7928372" cy="12978"/>
          </a:xfrm>
          <a:prstGeom prst="rect">
            <a:avLst/>
          </a:prstGeom>
          <a:solidFill>
            <a:srgbClr val="272525">
              <a:alpha val="50000"/>
            </a:srgbClr>
          </a:solidFill>
          <a:ln/>
        </p:spPr>
        <p:txBody>
          <a:bodyPr/>
          <a:lstStyle/>
          <a:p>
            <a:endParaRPr lang="en-US"/>
          </a:p>
        </p:txBody>
      </p:sp>
      <p:sp>
        <p:nvSpPr>
          <p:cNvPr id="15" name="Text 11"/>
          <p:cNvSpPr/>
          <p:nvPr/>
        </p:nvSpPr>
        <p:spPr>
          <a:xfrm>
            <a:off x="607814" y="6317813"/>
            <a:ext cx="2170748" cy="271224"/>
          </a:xfrm>
          <a:prstGeom prst="rect">
            <a:avLst/>
          </a:prstGeom>
          <a:noFill/>
          <a:ln/>
        </p:spPr>
        <p:txBody>
          <a:bodyPr wrap="none" lIns="0" tIns="0" rIns="0" bIns="0" rtlCol="0" anchor="t"/>
          <a:lstStyle/>
          <a:p>
            <a:pPr marL="0" indent="0" algn="l">
              <a:lnSpc>
                <a:spcPts val="2100"/>
              </a:lnSpc>
              <a:buNone/>
            </a:pPr>
            <a:r>
              <a:rPr lang="en-US" sz="1700" b="1" dirty="0">
                <a:solidFill>
                  <a:srgbClr val="000000"/>
                </a:solidFill>
                <a:latin typeface="Inter Bold" pitchFamily="34" charset="0"/>
                <a:ea typeface="Inter Bold" pitchFamily="34" charset="-122"/>
                <a:cs typeface="Inter Bold" pitchFamily="34" charset="-120"/>
              </a:rPr>
              <a:t>Impact</a:t>
            </a:r>
            <a:endParaRPr lang="en-US" sz="1700" dirty="0"/>
          </a:p>
        </p:txBody>
      </p:sp>
      <p:sp>
        <p:nvSpPr>
          <p:cNvPr id="16" name="Text 12"/>
          <p:cNvSpPr/>
          <p:nvPr/>
        </p:nvSpPr>
        <p:spPr>
          <a:xfrm>
            <a:off x="607814" y="6788468"/>
            <a:ext cx="7928372" cy="735806"/>
          </a:xfrm>
          <a:prstGeom prst="rect">
            <a:avLst/>
          </a:prstGeom>
          <a:noFill/>
          <a:ln/>
        </p:spPr>
        <p:txBody>
          <a:bodyPr wrap="square" lIns="0" tIns="0" rIns="0" bIns="0" rtlCol="0" anchor="t"/>
          <a:lstStyle/>
          <a:p>
            <a:pPr marL="0" indent="0" algn="l">
              <a:lnSpc>
                <a:spcPts val="1900"/>
              </a:lnSpc>
              <a:buNone/>
            </a:pPr>
            <a:r>
              <a:rPr lang="en-US" sz="1350" dirty="0">
                <a:solidFill>
                  <a:srgbClr val="272525"/>
                </a:solidFill>
                <a:latin typeface="Inter" pitchFamily="34" charset="0"/>
                <a:ea typeface="Inter" pitchFamily="34" charset="-122"/>
                <a:cs typeface="Inter" pitchFamily="34" charset="-120"/>
              </a:rPr>
              <a:t>Separates content authoring from software engineering: instructors own the curriculum. Future-proofs BRIDGE for new domains: diabetes management, pediatric emergency, multi-morbidity cases.</a:t>
            </a:r>
            <a:endParaRPr lang="en-US" sz="135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0">
                                            <p:txEl>
                                              <p:pRg st="0" end="0"/>
                                            </p:txEl>
                                          </p:spTgt>
                                        </p:tgtEl>
                                        <p:attrNameLst>
                                          <p:attrName>style.visibility</p:attrName>
                                        </p:attrNameLst>
                                      </p:cBhvr>
                                      <p:to>
                                        <p:strVal val="visible"/>
                                      </p:to>
                                    </p:set>
                                    <p:anim calcmode="lin" valueType="num">
                                      <p:cBhvr>
                                        <p:cTn id="14" dur="500" fill="hold"/>
                                        <p:tgtEl>
                                          <p:spTgt spid="10">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10">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10">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1">
                                            <p:txEl>
                                              <p:pRg st="0" end="0"/>
                                            </p:txEl>
                                          </p:spTgt>
                                        </p:tgtEl>
                                        <p:attrNameLst>
                                          <p:attrName>style.visibility</p:attrName>
                                        </p:attrNameLst>
                                      </p:cBhvr>
                                      <p:to>
                                        <p:strVal val="visible"/>
                                      </p:to>
                                    </p:set>
                                    <p:anim calcmode="lin" valueType="num">
                                      <p:cBhvr>
                                        <p:cTn id="21" dur="500" fill="hold"/>
                                        <p:tgtEl>
                                          <p:spTgt spid="11">
                                            <p:txEl>
                                              <p:pRg st="0" end="0"/>
                                            </p:txEl>
                                          </p:spTgt>
                                        </p:tgtEl>
                                        <p:attrNameLst>
                                          <p:attrName>ppt_w</p:attrName>
                                        </p:attrNameLst>
                                      </p:cBhvr>
                                      <p:tavLst>
                                        <p:tav tm="0">
                                          <p:val>
                                            <p:fltVal val="0"/>
                                          </p:val>
                                        </p:tav>
                                        <p:tav tm="100000">
                                          <p:val>
                                            <p:strVal val="#ppt_w"/>
                                          </p:val>
                                        </p:tav>
                                      </p:tavLst>
                                    </p:anim>
                                    <p:anim calcmode="lin" valueType="num">
                                      <p:cBhvr>
                                        <p:cTn id="22" dur="500" fill="hold"/>
                                        <p:tgtEl>
                                          <p:spTgt spid="11">
                                            <p:txEl>
                                              <p:pRg st="0" end="0"/>
                                            </p:txEl>
                                          </p:spTgt>
                                        </p:tgtEl>
                                        <p:attrNameLst>
                                          <p:attrName>ppt_h</p:attrName>
                                        </p:attrNameLst>
                                      </p:cBhvr>
                                      <p:tavLst>
                                        <p:tav tm="0">
                                          <p:val>
                                            <p:fltVal val="0"/>
                                          </p:val>
                                        </p:tav>
                                        <p:tav tm="100000">
                                          <p:val>
                                            <p:strVal val="#ppt_h"/>
                                          </p:val>
                                        </p:tav>
                                      </p:tavLst>
                                    </p:anim>
                                    <p:animEffect transition="in" filter="fade">
                                      <p:cBhvr>
                                        <p:cTn id="23" dur="500"/>
                                        <p:tgtEl>
                                          <p:spTgt spid="11">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2">
                                            <p:txEl>
                                              <p:pRg st="0" end="0"/>
                                            </p:txEl>
                                          </p:spTgt>
                                        </p:tgtEl>
                                        <p:attrNameLst>
                                          <p:attrName>style.visibility</p:attrName>
                                        </p:attrNameLst>
                                      </p:cBhvr>
                                      <p:to>
                                        <p:strVal val="visible"/>
                                      </p:to>
                                    </p:set>
                                    <p:anim calcmode="lin" valueType="num">
                                      <p:cBhvr>
                                        <p:cTn id="28" dur="500" fill="hold"/>
                                        <p:tgtEl>
                                          <p:spTgt spid="12">
                                            <p:txEl>
                                              <p:pRg st="0" end="0"/>
                                            </p:txEl>
                                          </p:spTgt>
                                        </p:tgtEl>
                                        <p:attrNameLst>
                                          <p:attrName>ppt_w</p:attrName>
                                        </p:attrNameLst>
                                      </p:cBhvr>
                                      <p:tavLst>
                                        <p:tav tm="0">
                                          <p:val>
                                            <p:fltVal val="0"/>
                                          </p:val>
                                        </p:tav>
                                        <p:tav tm="100000">
                                          <p:val>
                                            <p:strVal val="#ppt_w"/>
                                          </p:val>
                                        </p:tav>
                                      </p:tavLst>
                                    </p:anim>
                                    <p:anim calcmode="lin" valueType="num">
                                      <p:cBhvr>
                                        <p:cTn id="29" dur="500" fill="hold"/>
                                        <p:tgtEl>
                                          <p:spTgt spid="12">
                                            <p:txEl>
                                              <p:pRg st="0" end="0"/>
                                            </p:txEl>
                                          </p:spTgt>
                                        </p:tgtEl>
                                        <p:attrNameLst>
                                          <p:attrName>ppt_h</p:attrName>
                                        </p:attrNameLst>
                                      </p:cBhvr>
                                      <p:tavLst>
                                        <p:tav tm="0">
                                          <p:val>
                                            <p:fltVal val="0"/>
                                          </p:val>
                                        </p:tav>
                                        <p:tav tm="100000">
                                          <p:val>
                                            <p:strVal val="#ppt_h"/>
                                          </p:val>
                                        </p:tav>
                                      </p:tavLst>
                                    </p:anim>
                                    <p:animEffect transition="in" filter="fade">
                                      <p:cBhvr>
                                        <p:cTn id="30" dur="500"/>
                                        <p:tgtEl>
                                          <p:spTgt spid="12">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13">
                                            <p:txEl>
                                              <p:pRg st="0" end="0"/>
                                            </p:txEl>
                                          </p:spTgt>
                                        </p:tgtEl>
                                        <p:attrNameLst>
                                          <p:attrName>style.visibility</p:attrName>
                                        </p:attrNameLst>
                                      </p:cBhvr>
                                      <p:to>
                                        <p:strVal val="visible"/>
                                      </p:to>
                                    </p:set>
                                    <p:anim calcmode="lin" valueType="num">
                                      <p:cBhvr>
                                        <p:cTn id="35" dur="500" fill="hold"/>
                                        <p:tgtEl>
                                          <p:spTgt spid="13">
                                            <p:txEl>
                                              <p:pRg st="0" end="0"/>
                                            </p:txEl>
                                          </p:spTgt>
                                        </p:tgtEl>
                                        <p:attrNameLst>
                                          <p:attrName>ppt_w</p:attrName>
                                        </p:attrNameLst>
                                      </p:cBhvr>
                                      <p:tavLst>
                                        <p:tav tm="0">
                                          <p:val>
                                            <p:fltVal val="0"/>
                                          </p:val>
                                        </p:tav>
                                        <p:tav tm="100000">
                                          <p:val>
                                            <p:strVal val="#ppt_w"/>
                                          </p:val>
                                        </p:tav>
                                      </p:tavLst>
                                    </p:anim>
                                    <p:anim calcmode="lin" valueType="num">
                                      <p:cBhvr>
                                        <p:cTn id="36" dur="500" fill="hold"/>
                                        <p:tgtEl>
                                          <p:spTgt spid="13">
                                            <p:txEl>
                                              <p:pRg st="0" end="0"/>
                                            </p:txEl>
                                          </p:spTgt>
                                        </p:tgtEl>
                                        <p:attrNameLst>
                                          <p:attrName>ppt_h</p:attrName>
                                        </p:attrNameLst>
                                      </p:cBhvr>
                                      <p:tavLst>
                                        <p:tav tm="0">
                                          <p:val>
                                            <p:fltVal val="0"/>
                                          </p:val>
                                        </p:tav>
                                        <p:tav tm="100000">
                                          <p:val>
                                            <p:strVal val="#ppt_h"/>
                                          </p:val>
                                        </p:tav>
                                      </p:tavLst>
                                    </p:anim>
                                    <p:animEffect transition="in" filter="fade">
                                      <p:cBhvr>
                                        <p:cTn id="37" dur="500"/>
                                        <p:tgtEl>
                                          <p:spTgt spid="13">
                                            <p:txEl>
                                              <p:pRg st="0" end="0"/>
                                            </p:txEl>
                                          </p:spTgt>
                                        </p:tgtEl>
                                      </p:cBhvr>
                                    </p:animEffect>
                                  </p:childTnLst>
                                </p:cTn>
                              </p:par>
                              <p:par>
                                <p:cTn id="38" presetID="53" presetClass="entr" presetSubtype="16" fill="hold" nodeType="withEffect">
                                  <p:stCondLst>
                                    <p:cond delay="0"/>
                                  </p:stCondLst>
                                  <p:childTnLst>
                                    <p:set>
                                      <p:cBhvr>
                                        <p:cTn id="39" dur="1" fill="hold">
                                          <p:stCondLst>
                                            <p:cond delay="0"/>
                                          </p:stCondLst>
                                        </p:cTn>
                                        <p:tgtEl>
                                          <p:spTgt spid="13">
                                            <p:txEl>
                                              <p:pRg st="1" end="1"/>
                                            </p:txEl>
                                          </p:spTgt>
                                        </p:tgtEl>
                                        <p:attrNameLst>
                                          <p:attrName>style.visibility</p:attrName>
                                        </p:attrNameLst>
                                      </p:cBhvr>
                                      <p:to>
                                        <p:strVal val="visible"/>
                                      </p:to>
                                    </p:set>
                                    <p:anim calcmode="lin" valueType="num">
                                      <p:cBhvr>
                                        <p:cTn id="40" dur="500" fill="hold"/>
                                        <p:tgtEl>
                                          <p:spTgt spid="13">
                                            <p:txEl>
                                              <p:pRg st="1" end="1"/>
                                            </p:txEl>
                                          </p:spTgt>
                                        </p:tgtEl>
                                        <p:attrNameLst>
                                          <p:attrName>ppt_w</p:attrName>
                                        </p:attrNameLst>
                                      </p:cBhvr>
                                      <p:tavLst>
                                        <p:tav tm="0">
                                          <p:val>
                                            <p:fltVal val="0"/>
                                          </p:val>
                                        </p:tav>
                                        <p:tav tm="100000">
                                          <p:val>
                                            <p:strVal val="#ppt_w"/>
                                          </p:val>
                                        </p:tav>
                                      </p:tavLst>
                                    </p:anim>
                                    <p:anim calcmode="lin" valueType="num">
                                      <p:cBhvr>
                                        <p:cTn id="41" dur="500" fill="hold"/>
                                        <p:tgtEl>
                                          <p:spTgt spid="13">
                                            <p:txEl>
                                              <p:pRg st="1" end="1"/>
                                            </p:txEl>
                                          </p:spTgt>
                                        </p:tgtEl>
                                        <p:attrNameLst>
                                          <p:attrName>ppt_h</p:attrName>
                                        </p:attrNameLst>
                                      </p:cBhvr>
                                      <p:tavLst>
                                        <p:tav tm="0">
                                          <p:val>
                                            <p:fltVal val="0"/>
                                          </p:val>
                                        </p:tav>
                                        <p:tav tm="100000">
                                          <p:val>
                                            <p:strVal val="#ppt_h"/>
                                          </p:val>
                                        </p:tav>
                                      </p:tavLst>
                                    </p:anim>
                                    <p:animEffect transition="in" filter="fade">
                                      <p:cBhvr>
                                        <p:cTn id="42" dur="500"/>
                                        <p:tgtEl>
                                          <p:spTgt spid="13">
                                            <p:txEl>
                                              <p:pRg st="1" end="1"/>
                                            </p:txEl>
                                          </p:spTgt>
                                        </p:tgtEl>
                                      </p:cBhvr>
                                    </p:animEffect>
                                  </p:childTnLst>
                                </p:cTn>
                              </p:par>
                              <p:par>
                                <p:cTn id="43" presetID="53" presetClass="entr" presetSubtype="16" fill="hold" nodeType="withEffect">
                                  <p:stCondLst>
                                    <p:cond delay="0"/>
                                  </p:stCondLst>
                                  <p:childTnLst>
                                    <p:set>
                                      <p:cBhvr>
                                        <p:cTn id="44" dur="1" fill="hold">
                                          <p:stCondLst>
                                            <p:cond delay="0"/>
                                          </p:stCondLst>
                                        </p:cTn>
                                        <p:tgtEl>
                                          <p:spTgt spid="13">
                                            <p:txEl>
                                              <p:pRg st="2" end="2"/>
                                            </p:txEl>
                                          </p:spTgt>
                                        </p:tgtEl>
                                        <p:attrNameLst>
                                          <p:attrName>style.visibility</p:attrName>
                                        </p:attrNameLst>
                                      </p:cBhvr>
                                      <p:to>
                                        <p:strVal val="visible"/>
                                      </p:to>
                                    </p:set>
                                    <p:anim calcmode="lin" valueType="num">
                                      <p:cBhvr>
                                        <p:cTn id="45" dur="500" fill="hold"/>
                                        <p:tgtEl>
                                          <p:spTgt spid="13">
                                            <p:txEl>
                                              <p:pRg st="2" end="2"/>
                                            </p:txEl>
                                          </p:spTgt>
                                        </p:tgtEl>
                                        <p:attrNameLst>
                                          <p:attrName>ppt_w</p:attrName>
                                        </p:attrNameLst>
                                      </p:cBhvr>
                                      <p:tavLst>
                                        <p:tav tm="0">
                                          <p:val>
                                            <p:fltVal val="0"/>
                                          </p:val>
                                        </p:tav>
                                        <p:tav tm="100000">
                                          <p:val>
                                            <p:strVal val="#ppt_w"/>
                                          </p:val>
                                        </p:tav>
                                      </p:tavLst>
                                    </p:anim>
                                    <p:anim calcmode="lin" valueType="num">
                                      <p:cBhvr>
                                        <p:cTn id="46" dur="500" fill="hold"/>
                                        <p:tgtEl>
                                          <p:spTgt spid="13">
                                            <p:txEl>
                                              <p:pRg st="2" end="2"/>
                                            </p:txEl>
                                          </p:spTgt>
                                        </p:tgtEl>
                                        <p:attrNameLst>
                                          <p:attrName>ppt_h</p:attrName>
                                        </p:attrNameLst>
                                      </p:cBhvr>
                                      <p:tavLst>
                                        <p:tav tm="0">
                                          <p:val>
                                            <p:fltVal val="0"/>
                                          </p:val>
                                        </p:tav>
                                        <p:tav tm="100000">
                                          <p:val>
                                            <p:strVal val="#ppt_h"/>
                                          </p:val>
                                        </p:tav>
                                      </p:tavLst>
                                    </p:anim>
                                    <p:animEffect transition="in" filter="fade">
                                      <p:cBhvr>
                                        <p:cTn id="47" dur="500"/>
                                        <p:tgtEl>
                                          <p:spTgt spid="13">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p:cTn id="52" dur="500" fill="hold"/>
                                        <p:tgtEl>
                                          <p:spTgt spid="14"/>
                                        </p:tgtEl>
                                        <p:attrNameLst>
                                          <p:attrName>ppt_w</p:attrName>
                                        </p:attrNameLst>
                                      </p:cBhvr>
                                      <p:tavLst>
                                        <p:tav tm="0">
                                          <p:val>
                                            <p:fltVal val="0"/>
                                          </p:val>
                                        </p:tav>
                                        <p:tav tm="100000">
                                          <p:val>
                                            <p:strVal val="#ppt_w"/>
                                          </p:val>
                                        </p:tav>
                                      </p:tavLst>
                                    </p:anim>
                                    <p:anim calcmode="lin" valueType="num">
                                      <p:cBhvr>
                                        <p:cTn id="53" dur="500" fill="hold"/>
                                        <p:tgtEl>
                                          <p:spTgt spid="14"/>
                                        </p:tgtEl>
                                        <p:attrNameLst>
                                          <p:attrName>ppt_h</p:attrName>
                                        </p:attrNameLst>
                                      </p:cBhvr>
                                      <p:tavLst>
                                        <p:tav tm="0">
                                          <p:val>
                                            <p:fltVal val="0"/>
                                          </p:val>
                                        </p:tav>
                                        <p:tav tm="100000">
                                          <p:val>
                                            <p:strVal val="#ppt_h"/>
                                          </p:val>
                                        </p:tav>
                                      </p:tavLst>
                                    </p:anim>
                                    <p:animEffect transition="in" filter="fade">
                                      <p:cBhvr>
                                        <p:cTn id="54" dur="500"/>
                                        <p:tgtEl>
                                          <p:spTgt spid="14"/>
                                        </p:tgtEl>
                                      </p:cBhvr>
                                    </p:animEffect>
                                  </p:childTnLst>
                                </p:cTn>
                              </p:par>
                            </p:childTnLst>
                          </p:cTn>
                        </p:par>
                      </p:childTnLst>
                    </p:cTn>
                  </p:par>
                  <p:par>
                    <p:cTn id="55" fill="hold">
                      <p:stCondLst>
                        <p:cond delay="indefinite"/>
                      </p:stCondLst>
                      <p:childTnLst>
                        <p:par>
                          <p:cTn id="56" fill="hold">
                            <p:stCondLst>
                              <p:cond delay="0"/>
                            </p:stCondLst>
                            <p:childTnLst>
                              <p:par>
                                <p:cTn id="57" presetID="53" presetClass="entr" presetSubtype="16" fill="hold" nodeType="clickEffect">
                                  <p:stCondLst>
                                    <p:cond delay="0"/>
                                  </p:stCondLst>
                                  <p:childTnLst>
                                    <p:set>
                                      <p:cBhvr>
                                        <p:cTn id="58" dur="1" fill="hold">
                                          <p:stCondLst>
                                            <p:cond delay="0"/>
                                          </p:stCondLst>
                                        </p:cTn>
                                        <p:tgtEl>
                                          <p:spTgt spid="15">
                                            <p:txEl>
                                              <p:pRg st="0" end="0"/>
                                            </p:txEl>
                                          </p:spTgt>
                                        </p:tgtEl>
                                        <p:attrNameLst>
                                          <p:attrName>style.visibility</p:attrName>
                                        </p:attrNameLst>
                                      </p:cBhvr>
                                      <p:to>
                                        <p:strVal val="visible"/>
                                      </p:to>
                                    </p:set>
                                    <p:anim calcmode="lin" valueType="num">
                                      <p:cBhvr>
                                        <p:cTn id="59" dur="500" fill="hold"/>
                                        <p:tgtEl>
                                          <p:spTgt spid="15">
                                            <p:txEl>
                                              <p:pRg st="0" end="0"/>
                                            </p:txEl>
                                          </p:spTgt>
                                        </p:tgtEl>
                                        <p:attrNameLst>
                                          <p:attrName>ppt_w</p:attrName>
                                        </p:attrNameLst>
                                      </p:cBhvr>
                                      <p:tavLst>
                                        <p:tav tm="0">
                                          <p:val>
                                            <p:fltVal val="0"/>
                                          </p:val>
                                        </p:tav>
                                        <p:tav tm="100000">
                                          <p:val>
                                            <p:strVal val="#ppt_w"/>
                                          </p:val>
                                        </p:tav>
                                      </p:tavLst>
                                    </p:anim>
                                    <p:anim calcmode="lin" valueType="num">
                                      <p:cBhvr>
                                        <p:cTn id="60" dur="500" fill="hold"/>
                                        <p:tgtEl>
                                          <p:spTgt spid="15">
                                            <p:txEl>
                                              <p:pRg st="0" end="0"/>
                                            </p:txEl>
                                          </p:spTgt>
                                        </p:tgtEl>
                                        <p:attrNameLst>
                                          <p:attrName>ppt_h</p:attrName>
                                        </p:attrNameLst>
                                      </p:cBhvr>
                                      <p:tavLst>
                                        <p:tav tm="0">
                                          <p:val>
                                            <p:fltVal val="0"/>
                                          </p:val>
                                        </p:tav>
                                        <p:tav tm="100000">
                                          <p:val>
                                            <p:strVal val="#ppt_h"/>
                                          </p:val>
                                        </p:tav>
                                      </p:tavLst>
                                    </p:anim>
                                    <p:animEffect transition="in" filter="fade">
                                      <p:cBhvr>
                                        <p:cTn id="61" dur="500"/>
                                        <p:tgtEl>
                                          <p:spTgt spid="15">
                                            <p:txEl>
                                              <p:pRg st="0" end="0"/>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53" presetClass="entr" presetSubtype="16" fill="hold" nodeType="clickEffect">
                                  <p:stCondLst>
                                    <p:cond delay="0"/>
                                  </p:stCondLst>
                                  <p:childTnLst>
                                    <p:set>
                                      <p:cBhvr>
                                        <p:cTn id="65" dur="1" fill="hold">
                                          <p:stCondLst>
                                            <p:cond delay="0"/>
                                          </p:stCondLst>
                                        </p:cTn>
                                        <p:tgtEl>
                                          <p:spTgt spid="16">
                                            <p:txEl>
                                              <p:pRg st="0" end="0"/>
                                            </p:txEl>
                                          </p:spTgt>
                                        </p:tgtEl>
                                        <p:attrNameLst>
                                          <p:attrName>style.visibility</p:attrName>
                                        </p:attrNameLst>
                                      </p:cBhvr>
                                      <p:to>
                                        <p:strVal val="visible"/>
                                      </p:to>
                                    </p:set>
                                    <p:anim calcmode="lin" valueType="num">
                                      <p:cBhvr>
                                        <p:cTn id="66" dur="500" fill="hold"/>
                                        <p:tgtEl>
                                          <p:spTgt spid="16">
                                            <p:txEl>
                                              <p:pRg st="0" end="0"/>
                                            </p:txEl>
                                          </p:spTgt>
                                        </p:tgtEl>
                                        <p:attrNameLst>
                                          <p:attrName>ppt_w</p:attrName>
                                        </p:attrNameLst>
                                      </p:cBhvr>
                                      <p:tavLst>
                                        <p:tav tm="0">
                                          <p:val>
                                            <p:fltVal val="0"/>
                                          </p:val>
                                        </p:tav>
                                        <p:tav tm="100000">
                                          <p:val>
                                            <p:strVal val="#ppt_w"/>
                                          </p:val>
                                        </p:tav>
                                      </p:tavLst>
                                    </p:anim>
                                    <p:anim calcmode="lin" valueType="num">
                                      <p:cBhvr>
                                        <p:cTn id="67" dur="500" fill="hold"/>
                                        <p:tgtEl>
                                          <p:spTgt spid="16">
                                            <p:txEl>
                                              <p:pRg st="0" end="0"/>
                                            </p:txEl>
                                          </p:spTgt>
                                        </p:tgtEl>
                                        <p:attrNameLst>
                                          <p:attrName>ppt_h</p:attrName>
                                        </p:attrNameLst>
                                      </p:cBhvr>
                                      <p:tavLst>
                                        <p:tav tm="0">
                                          <p:val>
                                            <p:fltVal val="0"/>
                                          </p:val>
                                        </p:tav>
                                        <p:tav tm="100000">
                                          <p:val>
                                            <p:strVal val="#ppt_h"/>
                                          </p:val>
                                        </p:tav>
                                      </p:tavLst>
                                    </p:anim>
                                    <p:animEffect transition="in" filter="fade">
                                      <p:cBhvr>
                                        <p:cTn id="68" dur="5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69025" y="755213"/>
            <a:ext cx="5493425" cy="686633"/>
          </a:xfrm>
          <a:prstGeom prst="rect">
            <a:avLst/>
          </a:prstGeom>
          <a:noFill/>
          <a:ln/>
        </p:spPr>
        <p:txBody>
          <a:bodyPr wrap="none" lIns="0" tIns="0" rIns="0" bIns="0" rtlCol="0" anchor="t"/>
          <a:lstStyle/>
          <a:p>
            <a:pPr marL="0" indent="0" algn="l">
              <a:lnSpc>
                <a:spcPts val="5400"/>
              </a:lnSpc>
              <a:buNone/>
            </a:pPr>
            <a:r>
              <a:rPr lang="en-US" sz="4300" b="1" dirty="0">
                <a:solidFill>
                  <a:srgbClr val="000000"/>
                </a:solidFill>
                <a:latin typeface="Inter Bold" pitchFamily="34" charset="0"/>
                <a:ea typeface="Inter Bold" pitchFamily="34" charset="-122"/>
                <a:cs typeface="Inter Bold" pitchFamily="34" charset="-120"/>
              </a:rPr>
              <a:t>How We Validated It</a:t>
            </a:r>
            <a:endParaRPr lang="en-US" sz="4300" dirty="0"/>
          </a:p>
        </p:txBody>
      </p:sp>
      <p:sp>
        <p:nvSpPr>
          <p:cNvPr id="3" name="Text 1"/>
          <p:cNvSpPr/>
          <p:nvPr/>
        </p:nvSpPr>
        <p:spPr>
          <a:xfrm>
            <a:off x="769025" y="1526977"/>
            <a:ext cx="9391888" cy="411956"/>
          </a:xfrm>
          <a:prstGeom prst="rect">
            <a:avLst/>
          </a:prstGeom>
          <a:noFill/>
          <a:ln/>
        </p:spPr>
        <p:txBody>
          <a:bodyPr wrap="none" lIns="0" tIns="0" rIns="0" bIns="0" rtlCol="0" anchor="t"/>
          <a:lstStyle/>
          <a:p>
            <a:pPr marL="0" indent="0" algn="l">
              <a:lnSpc>
                <a:spcPts val="3200"/>
              </a:lnSpc>
              <a:buNone/>
            </a:pPr>
            <a:r>
              <a:rPr lang="en-US" sz="2550" b="1" dirty="0">
                <a:solidFill>
                  <a:srgbClr val="000000"/>
                </a:solidFill>
                <a:latin typeface="Inter Bold" pitchFamily="34" charset="0"/>
                <a:ea typeface="Inter Bold" pitchFamily="34" charset="-122"/>
                <a:cs typeface="Inter Bold" pitchFamily="34" charset="-120"/>
              </a:rPr>
              <a:t>Systematic testing across chunking, retrieval, and filtering</a:t>
            </a:r>
            <a:endParaRPr lang="en-US" sz="2550" dirty="0"/>
          </a:p>
        </p:txBody>
      </p:sp>
      <p:sp>
        <p:nvSpPr>
          <p:cNvPr id="4" name="Shape 2"/>
          <p:cNvSpPr/>
          <p:nvPr/>
        </p:nvSpPr>
        <p:spPr>
          <a:xfrm>
            <a:off x="769025" y="2313027"/>
            <a:ext cx="13092351" cy="16431"/>
          </a:xfrm>
          <a:prstGeom prst="rect">
            <a:avLst/>
          </a:prstGeom>
          <a:solidFill>
            <a:srgbClr val="272525">
              <a:alpha val="50000"/>
            </a:srgbClr>
          </a:solidFill>
          <a:ln/>
        </p:spPr>
        <p:txBody>
          <a:bodyPr/>
          <a:lstStyle/>
          <a:p>
            <a:endParaRPr lang="en-US"/>
          </a:p>
        </p:txBody>
      </p:sp>
      <p:sp>
        <p:nvSpPr>
          <p:cNvPr id="5" name="Text 3"/>
          <p:cNvSpPr/>
          <p:nvPr/>
        </p:nvSpPr>
        <p:spPr>
          <a:xfrm>
            <a:off x="769025" y="2623780"/>
            <a:ext cx="13092351" cy="346115"/>
          </a:xfrm>
          <a:prstGeom prst="rect">
            <a:avLst/>
          </a:prstGeom>
          <a:noFill/>
          <a:ln/>
        </p:spPr>
        <p:txBody>
          <a:bodyPr wrap="non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We tested the system rigorously across three dimensions to make sure the results were reliable, repeatable, and cost-aware.</a:t>
            </a:r>
            <a:endParaRPr lang="en-US" sz="1700" dirty="0"/>
          </a:p>
        </p:txBody>
      </p:sp>
      <p:sp>
        <p:nvSpPr>
          <p:cNvPr id="6" name="Text 4"/>
          <p:cNvSpPr/>
          <p:nvPr/>
        </p:nvSpPr>
        <p:spPr>
          <a:xfrm>
            <a:off x="769025" y="3209330"/>
            <a:ext cx="13092351" cy="2225516"/>
          </a:xfrm>
          <a:prstGeom prst="rect">
            <a:avLst/>
          </a:prstGeom>
          <a:noFill/>
          <a:ln/>
        </p:spPr>
        <p:txBody>
          <a:bodyPr wrap="square" lIns="0" tIns="0" rIns="0" bIns="0" rtlCol="0" anchor="t"/>
          <a:lstStyle/>
          <a:p>
            <a:pPr marL="342900" indent="-342900" algn="l">
              <a:lnSpc>
                <a:spcPts val="2700"/>
              </a:lnSpc>
              <a:buSzPct val="100000"/>
              <a:buFont typeface="+mj-lt"/>
              <a:buAutoNum type="arabicPeriod"/>
            </a:pPr>
            <a:r>
              <a:rPr lang="en-US" sz="1700" b="1" dirty="0">
                <a:solidFill>
                  <a:srgbClr val="272525"/>
                </a:solidFill>
                <a:latin typeface="Inter" pitchFamily="34" charset="0"/>
                <a:ea typeface="Inter" pitchFamily="34" charset="-122"/>
                <a:cs typeface="Inter" pitchFamily="34" charset="-120"/>
              </a:rPr>
              <a:t>Chunking strategies</a:t>
            </a:r>
            <a:r>
              <a:rPr lang="en-US" sz="1700" dirty="0">
                <a:solidFill>
                  <a:srgbClr val="272525"/>
                </a:solidFill>
                <a:latin typeface="Inter" pitchFamily="34" charset="0"/>
                <a:ea typeface="Inter" pitchFamily="34" charset="-122"/>
                <a:cs typeface="Inter" pitchFamily="34" charset="-120"/>
              </a:rPr>
              <a:t> — 5 approaches × 4 token budgets × 4 retrieval depths = 80 configurations tested to find the best balance between quality and cost.</a:t>
            </a:r>
            <a:endParaRPr lang="en-US" sz="1700" dirty="0"/>
          </a:p>
          <a:p>
            <a:pPr marL="342900" indent="-342900" algn="l">
              <a:lnSpc>
                <a:spcPts val="2700"/>
              </a:lnSpc>
              <a:buSzPct val="100000"/>
              <a:buFont typeface="+mj-lt"/>
              <a:buAutoNum type="arabicPeriod" startAt="2"/>
            </a:pPr>
            <a:r>
              <a:rPr lang="en-US" sz="1700" b="1" dirty="0">
                <a:solidFill>
                  <a:srgbClr val="272525"/>
                </a:solidFill>
                <a:latin typeface="Inter" pitchFamily="34" charset="0"/>
                <a:ea typeface="Inter" pitchFamily="34" charset="-122"/>
                <a:cs typeface="Inter" pitchFamily="34" charset="-120"/>
              </a:rPr>
              <a:t>Retrieval models</a:t>
            </a:r>
            <a:r>
              <a:rPr lang="en-US" sz="1700" dirty="0">
                <a:solidFill>
                  <a:srgbClr val="272525"/>
                </a:solidFill>
                <a:latin typeface="Inter" pitchFamily="34" charset="0"/>
                <a:ea typeface="Inter" pitchFamily="34" charset="-122"/>
                <a:cs typeface="Inter" pitchFamily="34" charset="-120"/>
              </a:rPr>
              <a:t> — 7 embedding and search models, spanning dense neural and sparse lexical methods, to determine what performs best on clinical text.</a:t>
            </a:r>
            <a:endParaRPr lang="en-US" sz="1700" dirty="0"/>
          </a:p>
          <a:p>
            <a:pPr marL="342900" indent="-342900" algn="l">
              <a:lnSpc>
                <a:spcPts val="2700"/>
              </a:lnSpc>
              <a:buSzPct val="100000"/>
              <a:buFont typeface="+mj-lt"/>
              <a:buAutoNum type="arabicPeriod" startAt="3"/>
            </a:pPr>
            <a:r>
              <a:rPr lang="en-US" sz="1700" b="1" dirty="0">
                <a:solidFill>
                  <a:srgbClr val="272525"/>
                </a:solidFill>
                <a:latin typeface="Inter" pitchFamily="34" charset="0"/>
                <a:ea typeface="Inter" pitchFamily="34" charset="-122"/>
                <a:cs typeface="Inter" pitchFamily="34" charset="-120"/>
              </a:rPr>
              <a:t>Filtering approaches</a:t>
            </a:r>
            <a:r>
              <a:rPr lang="en-US" sz="1700" dirty="0">
                <a:solidFill>
                  <a:srgbClr val="272525"/>
                </a:solidFill>
                <a:latin typeface="Inter" pitchFamily="34" charset="0"/>
                <a:ea typeface="Inter" pitchFamily="34" charset="-122"/>
                <a:cs typeface="Inter" pitchFamily="34" charset="-120"/>
              </a:rPr>
              <a:t> — Topic-based vs. profession-based filtering to identify which metadata strategy improves retrieval accuracy.</a:t>
            </a:r>
            <a:endParaRPr lang="en-US" sz="1700" dirty="0"/>
          </a:p>
        </p:txBody>
      </p:sp>
      <p:sp>
        <p:nvSpPr>
          <p:cNvPr id="7" name="Shape 5"/>
          <p:cNvSpPr/>
          <p:nvPr/>
        </p:nvSpPr>
        <p:spPr>
          <a:xfrm>
            <a:off x="769025" y="5729168"/>
            <a:ext cx="13092351" cy="16431"/>
          </a:xfrm>
          <a:prstGeom prst="rect">
            <a:avLst/>
          </a:prstGeom>
          <a:solidFill>
            <a:srgbClr val="272525">
              <a:alpha val="50000"/>
            </a:srgbClr>
          </a:solidFill>
          <a:ln/>
        </p:spPr>
        <p:txBody>
          <a:bodyPr/>
          <a:lstStyle/>
          <a:p>
            <a:endParaRPr lang="en-US"/>
          </a:p>
        </p:txBody>
      </p:sp>
      <p:sp>
        <p:nvSpPr>
          <p:cNvPr id="8" name="Text 6"/>
          <p:cNvSpPr/>
          <p:nvPr/>
        </p:nvSpPr>
        <p:spPr>
          <a:xfrm>
            <a:off x="769025" y="6119693"/>
            <a:ext cx="2746653" cy="343257"/>
          </a:xfrm>
          <a:prstGeom prst="rect">
            <a:avLst/>
          </a:prstGeom>
          <a:noFill/>
          <a:ln/>
        </p:spPr>
        <p:txBody>
          <a:bodyPr wrap="none" lIns="0" tIns="0" rIns="0" bIns="0" rtlCol="0" anchor="t"/>
          <a:lstStyle/>
          <a:p>
            <a:pPr marL="0" indent="0" algn="l">
              <a:lnSpc>
                <a:spcPts val="2700"/>
              </a:lnSpc>
              <a:buNone/>
            </a:pPr>
            <a:r>
              <a:rPr lang="en-US" sz="2150" b="1" dirty="0">
                <a:solidFill>
                  <a:srgbClr val="000000"/>
                </a:solidFill>
                <a:latin typeface="Inter Bold" pitchFamily="34" charset="0"/>
                <a:ea typeface="Inter Bold" pitchFamily="34" charset="-122"/>
                <a:cs typeface="Inter Bold" pitchFamily="34" charset="-120"/>
              </a:rPr>
              <a:t>Result</a:t>
            </a:r>
            <a:endParaRPr lang="en-US" sz="2150" dirty="0"/>
          </a:p>
        </p:txBody>
      </p:sp>
      <p:sp>
        <p:nvSpPr>
          <p:cNvPr id="9" name="Text 7"/>
          <p:cNvSpPr/>
          <p:nvPr/>
        </p:nvSpPr>
        <p:spPr>
          <a:xfrm>
            <a:off x="769025" y="6782157"/>
            <a:ext cx="13092351" cy="692229"/>
          </a:xfrm>
          <a:prstGeom prst="rect">
            <a:avLst/>
          </a:prstGeom>
          <a:noFill/>
          <a:ln/>
        </p:spPr>
        <p:txBody>
          <a:bodyPr wrap="squar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Recursive chunking at 7000 tokens with k=7 retrieval depth, using BGE-M3 embeddings and profession-based filtering, delivered the best trade-off between response quality and computational cost.</a:t>
            </a:r>
            <a:endParaRPr lang="en-US" sz="1700" dirty="0"/>
          </a:p>
        </p:txBody>
      </p:sp>
      <p:sp>
        <p:nvSpPr>
          <p:cNvPr id="10" name="Rectangle 9">
            <a:extLst>
              <a:ext uri="{FF2B5EF4-FFF2-40B4-BE49-F238E27FC236}">
                <a16:creationId xmlns:a16="http://schemas.microsoft.com/office/drawing/2014/main" id="{98EB0665-FDEE-2F1E-505A-64749612FFE7}"/>
              </a:ext>
            </a:extLst>
          </p:cNvPr>
          <p:cNvSpPr/>
          <p:nvPr/>
        </p:nvSpPr>
        <p:spPr>
          <a:xfrm>
            <a:off x="12789074" y="7690981"/>
            <a:ext cx="1841326" cy="53861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p:cTn id="7"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6">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 calcmode="lin" valueType="num">
                                      <p:cBhvr>
                                        <p:cTn id="14" dur="500" fill="hold"/>
                                        <p:tgtEl>
                                          <p:spTgt spid="6">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6">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6">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 calcmode="lin" valueType="num">
                                      <p:cBhvr>
                                        <p:cTn id="21" dur="500" fill="hold"/>
                                        <p:tgtEl>
                                          <p:spTgt spid="6">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6">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6">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1" nodeType="click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p:cTn id="28" dur="500" fill="hold"/>
                                        <p:tgtEl>
                                          <p:spTgt spid="7"/>
                                        </p:tgtEl>
                                        <p:attrNameLst>
                                          <p:attrName>ppt_w</p:attrName>
                                        </p:attrNameLst>
                                      </p:cBhvr>
                                      <p:tavLst>
                                        <p:tav tm="0">
                                          <p:val>
                                            <p:fltVal val="0"/>
                                          </p:val>
                                        </p:tav>
                                        <p:tav tm="100000">
                                          <p:val>
                                            <p:strVal val="#ppt_w"/>
                                          </p:val>
                                        </p:tav>
                                      </p:tavLst>
                                    </p:anim>
                                    <p:anim calcmode="lin" valueType="num">
                                      <p:cBhvr>
                                        <p:cTn id="29" dur="500" fill="hold"/>
                                        <p:tgtEl>
                                          <p:spTgt spid="7"/>
                                        </p:tgtEl>
                                        <p:attrNameLst>
                                          <p:attrName>ppt_h</p:attrName>
                                        </p:attrNameLst>
                                      </p:cBhvr>
                                      <p:tavLst>
                                        <p:tav tm="0">
                                          <p:val>
                                            <p:fltVal val="0"/>
                                          </p:val>
                                        </p:tav>
                                        <p:tav tm="100000">
                                          <p:val>
                                            <p:strVal val="#ppt_h"/>
                                          </p:val>
                                        </p:tav>
                                      </p:tavLst>
                                    </p:anim>
                                    <p:animEffect transition="in" filter="fade">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8">
                                            <p:txEl>
                                              <p:pRg st="0" end="0"/>
                                            </p:txEl>
                                          </p:spTgt>
                                        </p:tgtEl>
                                        <p:attrNameLst>
                                          <p:attrName>style.visibility</p:attrName>
                                        </p:attrNameLst>
                                      </p:cBhvr>
                                      <p:to>
                                        <p:strVal val="visible"/>
                                      </p:to>
                                    </p:set>
                                    <p:anim calcmode="lin" valueType="num">
                                      <p:cBhvr>
                                        <p:cTn id="35" dur="500" fill="hold"/>
                                        <p:tgtEl>
                                          <p:spTgt spid="8">
                                            <p:txEl>
                                              <p:pRg st="0" end="0"/>
                                            </p:txEl>
                                          </p:spTgt>
                                        </p:tgtEl>
                                        <p:attrNameLst>
                                          <p:attrName>ppt_w</p:attrName>
                                        </p:attrNameLst>
                                      </p:cBhvr>
                                      <p:tavLst>
                                        <p:tav tm="0">
                                          <p:val>
                                            <p:fltVal val="0"/>
                                          </p:val>
                                        </p:tav>
                                        <p:tav tm="100000">
                                          <p:val>
                                            <p:strVal val="#ppt_w"/>
                                          </p:val>
                                        </p:tav>
                                      </p:tavLst>
                                    </p:anim>
                                    <p:anim calcmode="lin" valueType="num">
                                      <p:cBhvr>
                                        <p:cTn id="36" dur="500" fill="hold"/>
                                        <p:tgtEl>
                                          <p:spTgt spid="8">
                                            <p:txEl>
                                              <p:pRg st="0" end="0"/>
                                            </p:txEl>
                                          </p:spTgt>
                                        </p:tgtEl>
                                        <p:attrNameLst>
                                          <p:attrName>ppt_h</p:attrName>
                                        </p:attrNameLst>
                                      </p:cBhvr>
                                      <p:tavLst>
                                        <p:tav tm="0">
                                          <p:val>
                                            <p:fltVal val="0"/>
                                          </p:val>
                                        </p:tav>
                                        <p:tav tm="100000">
                                          <p:val>
                                            <p:strVal val="#ppt_h"/>
                                          </p:val>
                                        </p:tav>
                                      </p:tavLst>
                                    </p:anim>
                                    <p:animEffect transition="in" filter="fade">
                                      <p:cBhvr>
                                        <p:cTn id="37" dur="500"/>
                                        <p:tgtEl>
                                          <p:spTgt spid="8">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9">
                                            <p:txEl>
                                              <p:pRg st="0" end="0"/>
                                            </p:txEl>
                                          </p:spTgt>
                                        </p:tgtEl>
                                        <p:attrNameLst>
                                          <p:attrName>style.visibility</p:attrName>
                                        </p:attrNameLst>
                                      </p:cBhvr>
                                      <p:to>
                                        <p:strVal val="visible"/>
                                      </p:to>
                                    </p:set>
                                    <p:anim calcmode="lin" valueType="num">
                                      <p:cBhvr>
                                        <p:cTn id="42" dur="500" fill="hold"/>
                                        <p:tgtEl>
                                          <p:spTgt spid="9">
                                            <p:txEl>
                                              <p:pRg st="0" end="0"/>
                                            </p:txEl>
                                          </p:spTgt>
                                        </p:tgtEl>
                                        <p:attrNameLst>
                                          <p:attrName>ppt_w</p:attrName>
                                        </p:attrNameLst>
                                      </p:cBhvr>
                                      <p:tavLst>
                                        <p:tav tm="0">
                                          <p:val>
                                            <p:fltVal val="0"/>
                                          </p:val>
                                        </p:tav>
                                        <p:tav tm="100000">
                                          <p:val>
                                            <p:strVal val="#ppt_w"/>
                                          </p:val>
                                        </p:tav>
                                      </p:tavLst>
                                    </p:anim>
                                    <p:anim calcmode="lin" valueType="num">
                                      <p:cBhvr>
                                        <p:cTn id="43" dur="500" fill="hold"/>
                                        <p:tgtEl>
                                          <p:spTgt spid="9">
                                            <p:txEl>
                                              <p:pRg st="0" end="0"/>
                                            </p:txEl>
                                          </p:spTgt>
                                        </p:tgtEl>
                                        <p:attrNameLst>
                                          <p:attrName>ppt_h</p:attrName>
                                        </p:attrNameLst>
                                      </p:cBhvr>
                                      <p:tavLst>
                                        <p:tav tm="0">
                                          <p:val>
                                            <p:fltVal val="0"/>
                                          </p:val>
                                        </p:tav>
                                        <p:tav tm="100000">
                                          <p:val>
                                            <p:strVal val="#ppt_h"/>
                                          </p:val>
                                        </p:tav>
                                      </p:tavLst>
                                    </p:anim>
                                    <p:animEffect transition="in" filter="fade">
                                      <p:cBhvr>
                                        <p:cTn id="44"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935123" y="511493"/>
            <a:ext cx="4732258" cy="487204"/>
          </a:xfrm>
          <a:prstGeom prst="rect">
            <a:avLst/>
          </a:prstGeom>
          <a:noFill/>
          <a:ln/>
        </p:spPr>
        <p:txBody>
          <a:bodyPr wrap="none" lIns="0" tIns="0" rIns="0" bIns="0" rtlCol="0" anchor="t"/>
          <a:lstStyle/>
          <a:p>
            <a:pPr marL="0" indent="0" algn="l">
              <a:lnSpc>
                <a:spcPts val="3800"/>
              </a:lnSpc>
              <a:buNone/>
            </a:pPr>
            <a:r>
              <a:rPr lang="en-US" sz="3050" b="1" dirty="0">
                <a:solidFill>
                  <a:srgbClr val="000000"/>
                </a:solidFill>
                <a:latin typeface="Inter Bold" pitchFamily="34" charset="0"/>
                <a:ea typeface="Inter Bold" pitchFamily="34" charset="-122"/>
                <a:cs typeface="Inter Bold" pitchFamily="34" charset="-120"/>
              </a:rPr>
              <a:t>Personalization in Action</a:t>
            </a:r>
            <a:endParaRPr lang="en-US" sz="3050" dirty="0"/>
          </a:p>
        </p:txBody>
      </p:sp>
      <p:sp>
        <p:nvSpPr>
          <p:cNvPr id="3" name="Shape 1"/>
          <p:cNvSpPr/>
          <p:nvPr/>
        </p:nvSpPr>
        <p:spPr>
          <a:xfrm>
            <a:off x="1935123" y="1198364"/>
            <a:ext cx="10760035" cy="11668"/>
          </a:xfrm>
          <a:prstGeom prst="rect">
            <a:avLst/>
          </a:prstGeom>
          <a:solidFill>
            <a:srgbClr val="272525">
              <a:alpha val="50000"/>
            </a:srgbClr>
          </a:solidFill>
          <a:ln/>
        </p:spPr>
        <p:txBody>
          <a:bodyPr/>
          <a:lstStyle/>
          <a:p>
            <a:endParaRPr lang="en-US"/>
          </a:p>
        </p:txBody>
      </p:sp>
      <p:sp>
        <p:nvSpPr>
          <p:cNvPr id="4" name="Text 2"/>
          <p:cNvSpPr/>
          <p:nvPr/>
        </p:nvSpPr>
        <p:spPr>
          <a:xfrm>
            <a:off x="1935123" y="1369576"/>
            <a:ext cx="10760035" cy="210502"/>
          </a:xfrm>
          <a:prstGeom prst="rect">
            <a:avLst/>
          </a:prstGeom>
          <a:noFill/>
          <a:ln/>
        </p:spPr>
        <p:txBody>
          <a:bodyPr wrap="none" lIns="0" tIns="0" rIns="0" bIns="0" rtlCol="0" anchor="t"/>
          <a:lstStyle/>
          <a:p>
            <a:pPr marL="0" indent="0" algn="l">
              <a:lnSpc>
                <a:spcPts val="1650"/>
              </a:lnSpc>
              <a:buNone/>
            </a:pPr>
            <a:r>
              <a:rPr lang="en-US" sz="1200" b="1" dirty="0">
                <a:solidFill>
                  <a:srgbClr val="272525"/>
                </a:solidFill>
                <a:latin typeface="Inter" pitchFamily="34" charset="0"/>
                <a:ea typeface="Inter" pitchFamily="34" charset="-122"/>
                <a:cs typeface="Inter" pitchFamily="34" charset="-120"/>
              </a:rPr>
              <a:t>The same question gets different answers depending on who's asking and which agent responds.</a:t>
            </a:r>
            <a:endParaRPr lang="en-US" sz="1200" dirty="0"/>
          </a:p>
        </p:txBody>
      </p:sp>
      <p:sp>
        <p:nvSpPr>
          <p:cNvPr id="5" name="Text 3"/>
          <p:cNvSpPr/>
          <p:nvPr/>
        </p:nvSpPr>
        <p:spPr>
          <a:xfrm>
            <a:off x="1935123" y="1740813"/>
            <a:ext cx="3544610" cy="292418"/>
          </a:xfrm>
          <a:prstGeom prst="rect">
            <a:avLst/>
          </a:prstGeom>
          <a:noFill/>
          <a:ln/>
        </p:spPr>
        <p:txBody>
          <a:bodyPr wrap="none" lIns="0" tIns="0" rIns="0" bIns="0" rtlCol="0" anchor="t"/>
          <a:lstStyle/>
          <a:p>
            <a:pPr marL="0" indent="0" algn="l">
              <a:lnSpc>
                <a:spcPts val="2300"/>
              </a:lnSpc>
              <a:buNone/>
            </a:pPr>
            <a:r>
              <a:rPr lang="en-US" sz="1800" b="1" dirty="0">
                <a:solidFill>
                  <a:srgbClr val="000000"/>
                </a:solidFill>
                <a:latin typeface="Inter Bold" pitchFamily="34" charset="0"/>
                <a:ea typeface="Inter Bold" pitchFamily="34" charset="-122"/>
                <a:cs typeface="Inter Bold" pitchFamily="34" charset="-120"/>
              </a:rPr>
              <a:t>Example 1: User Profile Matters</a:t>
            </a:r>
            <a:endParaRPr lang="en-US" sz="1800" dirty="0"/>
          </a:p>
        </p:txBody>
      </p:sp>
      <p:sp>
        <p:nvSpPr>
          <p:cNvPr id="6" name="Text 4"/>
          <p:cNvSpPr/>
          <p:nvPr/>
        </p:nvSpPr>
        <p:spPr>
          <a:xfrm>
            <a:off x="1935123" y="2193965"/>
            <a:ext cx="10760035" cy="210502"/>
          </a:xfrm>
          <a:prstGeom prst="rect">
            <a:avLst/>
          </a:prstGeom>
          <a:noFill/>
          <a:ln/>
        </p:spPr>
        <p:txBody>
          <a:bodyPr wrap="none" lIns="0" tIns="0" rIns="0" bIns="0" rtlCol="0" anchor="t"/>
          <a:lstStyle/>
          <a:p>
            <a:pPr marL="0" indent="0" algn="l">
              <a:lnSpc>
                <a:spcPts val="1650"/>
              </a:lnSpc>
              <a:buNone/>
            </a:pPr>
            <a:r>
              <a:rPr lang="en-US" sz="1200" b="1" dirty="0">
                <a:latin typeface="Inter" pitchFamily="34" charset="0"/>
                <a:ea typeface="Inter" pitchFamily="34" charset="-122"/>
                <a:cs typeface="IrisUPC" panose="020B0604020202020204" pitchFamily="34" charset="0"/>
              </a:rPr>
              <a:t>Question: “How do you see your role as a nursing professional as it relates to the opioid crisis in this community”?</a:t>
            </a:r>
            <a:endParaRPr lang="en-US" sz="1200" dirty="0"/>
          </a:p>
        </p:txBody>
      </p:sp>
      <p:sp>
        <p:nvSpPr>
          <p:cNvPr id="7" name="Shape 5"/>
          <p:cNvSpPr/>
          <p:nvPr/>
        </p:nvSpPr>
        <p:spPr>
          <a:xfrm>
            <a:off x="1822847" y="2525078"/>
            <a:ext cx="5414367" cy="1396365"/>
          </a:xfrm>
          <a:prstGeom prst="roundRect">
            <a:avLst>
              <a:gd name="adj" fmla="val 8041"/>
            </a:avLst>
          </a:prstGeom>
          <a:solidFill>
            <a:srgbClr val="F3F7FF"/>
          </a:solidFill>
          <a:ln/>
        </p:spPr>
        <p:txBody>
          <a:bodyPr/>
          <a:lstStyle/>
          <a:p>
            <a:endParaRPr lang="en-US"/>
          </a:p>
        </p:txBody>
      </p:sp>
      <p:sp>
        <p:nvSpPr>
          <p:cNvPr id="8" name="Text 6"/>
          <p:cNvSpPr/>
          <p:nvPr/>
        </p:nvSpPr>
        <p:spPr>
          <a:xfrm>
            <a:off x="1978700" y="2632234"/>
            <a:ext cx="3023473" cy="243602"/>
          </a:xfrm>
          <a:prstGeom prst="rect">
            <a:avLst/>
          </a:prstGeom>
          <a:noFill/>
          <a:ln/>
        </p:spPr>
        <p:txBody>
          <a:bodyPr wrap="none" lIns="0" tIns="0" rIns="0" bIns="0" rtlCol="0" anchor="t"/>
          <a:lstStyle/>
          <a:p>
            <a:pPr marL="0" indent="0" algn="l">
              <a:lnSpc>
                <a:spcPts val="1900"/>
              </a:lnSpc>
              <a:buNone/>
            </a:pPr>
            <a:r>
              <a:rPr lang="en-US" sz="1500" b="1" dirty="0">
                <a:solidFill>
                  <a:srgbClr val="000000"/>
                </a:solidFill>
                <a:latin typeface="Inter Bold" pitchFamily="34" charset="0"/>
                <a:ea typeface="Inter Bold" pitchFamily="34" charset="-122"/>
                <a:cs typeface="Inter Bold" pitchFamily="34" charset="-120"/>
              </a:rPr>
              <a:t>First-year nursing student gets:</a:t>
            </a:r>
            <a:endParaRPr lang="en-US" sz="1500" dirty="0"/>
          </a:p>
        </p:txBody>
      </p:sp>
      <p:sp>
        <p:nvSpPr>
          <p:cNvPr id="9" name="Text 7"/>
          <p:cNvSpPr/>
          <p:nvPr/>
        </p:nvSpPr>
        <p:spPr>
          <a:xfrm>
            <a:off x="1978700" y="2982992"/>
            <a:ext cx="5102662" cy="842010"/>
          </a:xfrm>
          <a:prstGeom prst="rect">
            <a:avLst/>
          </a:prstGeom>
          <a:noFill/>
          <a:ln/>
        </p:spPr>
        <p:txBody>
          <a:bodyPr wrap="square" lIns="0" tIns="0" rIns="0" bIns="0" rtlCol="0" anchor="t"/>
          <a:lstStyle/>
          <a:p>
            <a:pPr>
              <a:lnSpc>
                <a:spcPts val="1650"/>
              </a:lnSpc>
            </a:pPr>
            <a:r>
              <a:rPr lang="en-US" sz="1200" dirty="0">
                <a:solidFill>
                  <a:srgbClr val="272525"/>
                </a:solidFill>
                <a:latin typeface="Inter" pitchFamily="34" charset="0"/>
                <a:ea typeface="Inter" pitchFamily="34" charset="-122"/>
                <a:cs typeface="Inter" pitchFamily="34" charset="-120"/>
              </a:rPr>
              <a:t>"benzodiazepines plus opioids greatly raise overdose risk."</a:t>
            </a:r>
            <a:endParaRPr lang="en-US" sz="1200" dirty="0"/>
          </a:p>
          <a:p>
            <a:pPr marL="0" indent="0" algn="l">
              <a:lnSpc>
                <a:spcPts val="1650"/>
              </a:lnSpc>
              <a:buNone/>
            </a:pPr>
            <a:endParaRPr lang="en-US" sz="1200" dirty="0"/>
          </a:p>
        </p:txBody>
      </p:sp>
      <p:sp>
        <p:nvSpPr>
          <p:cNvPr id="10" name="Shape 8"/>
          <p:cNvSpPr/>
          <p:nvPr/>
        </p:nvSpPr>
        <p:spPr>
          <a:xfrm>
            <a:off x="7400568" y="2525078"/>
            <a:ext cx="5414367" cy="1396365"/>
          </a:xfrm>
          <a:prstGeom prst="roundRect">
            <a:avLst>
              <a:gd name="adj" fmla="val 8041"/>
            </a:avLst>
          </a:prstGeom>
          <a:solidFill>
            <a:srgbClr val="F5FBF6"/>
          </a:solidFill>
          <a:ln/>
        </p:spPr>
        <p:txBody>
          <a:bodyPr/>
          <a:lstStyle/>
          <a:p>
            <a:endParaRPr lang="en-US"/>
          </a:p>
        </p:txBody>
      </p:sp>
      <p:sp>
        <p:nvSpPr>
          <p:cNvPr id="11" name="Text 9"/>
          <p:cNvSpPr/>
          <p:nvPr/>
        </p:nvSpPr>
        <p:spPr>
          <a:xfrm>
            <a:off x="7556421" y="2632234"/>
            <a:ext cx="4452580" cy="243602"/>
          </a:xfrm>
          <a:prstGeom prst="rect">
            <a:avLst/>
          </a:prstGeom>
          <a:noFill/>
          <a:ln/>
        </p:spPr>
        <p:txBody>
          <a:bodyPr wrap="none" lIns="0" tIns="0" rIns="0" bIns="0" rtlCol="0" anchor="t"/>
          <a:lstStyle/>
          <a:p>
            <a:pPr marL="0" indent="0" algn="l">
              <a:lnSpc>
                <a:spcPts val="1900"/>
              </a:lnSpc>
              <a:buNone/>
            </a:pPr>
            <a:r>
              <a:rPr lang="en-US" sz="1500" b="1" dirty="0">
                <a:solidFill>
                  <a:srgbClr val="000000"/>
                </a:solidFill>
                <a:latin typeface="Inter Bold" pitchFamily="34" charset="0"/>
                <a:ea typeface="Inter Bold" pitchFamily="34" charset="-122"/>
                <a:cs typeface="Inter Bold" pitchFamily="34" charset="-120"/>
              </a:rPr>
              <a:t>Practicing Nurse with 5 years of experience gets:</a:t>
            </a:r>
            <a:endParaRPr lang="en-US" sz="1500" dirty="0"/>
          </a:p>
        </p:txBody>
      </p:sp>
      <p:sp>
        <p:nvSpPr>
          <p:cNvPr id="12" name="Text 10"/>
          <p:cNvSpPr/>
          <p:nvPr/>
        </p:nvSpPr>
        <p:spPr>
          <a:xfrm>
            <a:off x="7556421" y="2982992"/>
            <a:ext cx="5102662" cy="842010"/>
          </a:xfrm>
          <a:prstGeom prst="rect">
            <a:avLst/>
          </a:prstGeom>
          <a:noFill/>
          <a:ln/>
        </p:spPr>
        <p:txBody>
          <a:bodyPr wrap="squar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”watching for recurrent hypoventilation, aspiration, and polysubstance effects given the benzodiazepine screen.”</a:t>
            </a:r>
            <a:endParaRPr lang="en-US" sz="1200" dirty="0"/>
          </a:p>
        </p:txBody>
      </p:sp>
      <p:sp>
        <p:nvSpPr>
          <p:cNvPr id="13" name="Shape 11"/>
          <p:cNvSpPr/>
          <p:nvPr/>
        </p:nvSpPr>
        <p:spPr>
          <a:xfrm>
            <a:off x="1935123" y="4080986"/>
            <a:ext cx="10760035" cy="11668"/>
          </a:xfrm>
          <a:prstGeom prst="rect">
            <a:avLst/>
          </a:prstGeom>
          <a:solidFill>
            <a:srgbClr val="272525">
              <a:alpha val="50000"/>
            </a:srgbClr>
          </a:solidFill>
          <a:ln/>
        </p:spPr>
        <p:txBody>
          <a:bodyPr/>
          <a:lstStyle/>
          <a:p>
            <a:endParaRPr lang="en-US"/>
          </a:p>
        </p:txBody>
      </p:sp>
      <p:sp>
        <p:nvSpPr>
          <p:cNvPr id="14" name="Text 12"/>
          <p:cNvSpPr/>
          <p:nvPr/>
        </p:nvSpPr>
        <p:spPr>
          <a:xfrm>
            <a:off x="1935123" y="4292322"/>
            <a:ext cx="3493294" cy="292418"/>
          </a:xfrm>
          <a:prstGeom prst="rect">
            <a:avLst/>
          </a:prstGeom>
          <a:noFill/>
          <a:ln/>
        </p:spPr>
        <p:txBody>
          <a:bodyPr wrap="none" lIns="0" tIns="0" rIns="0" bIns="0" rtlCol="0" anchor="t"/>
          <a:lstStyle/>
          <a:p>
            <a:pPr marL="0" indent="0" algn="l">
              <a:lnSpc>
                <a:spcPts val="2300"/>
              </a:lnSpc>
              <a:buNone/>
            </a:pPr>
            <a:r>
              <a:rPr lang="en-US" sz="1800" b="1" dirty="0">
                <a:solidFill>
                  <a:srgbClr val="000000"/>
                </a:solidFill>
                <a:latin typeface="Inter Bold" pitchFamily="34" charset="0"/>
                <a:ea typeface="Inter Bold" pitchFamily="34" charset="-122"/>
                <a:cs typeface="Inter Bold" pitchFamily="34" charset="-120"/>
              </a:rPr>
              <a:t>Example 2: Agent Role Matters</a:t>
            </a:r>
            <a:endParaRPr lang="en-US" sz="1800" dirty="0"/>
          </a:p>
        </p:txBody>
      </p:sp>
      <p:sp>
        <p:nvSpPr>
          <p:cNvPr id="15" name="Text 13"/>
          <p:cNvSpPr/>
          <p:nvPr/>
        </p:nvSpPr>
        <p:spPr>
          <a:xfrm>
            <a:off x="1935123" y="4745474"/>
            <a:ext cx="10760035" cy="210502"/>
          </a:xfrm>
          <a:prstGeom prst="rect">
            <a:avLst/>
          </a:prstGeom>
          <a:noFill/>
          <a:ln/>
        </p:spPr>
        <p:txBody>
          <a:bodyPr wrap="none" lIns="0" tIns="0" rIns="0" bIns="0" rtlCol="0" anchor="t"/>
          <a:lstStyle/>
          <a:p>
            <a:pPr marL="0" indent="0" algn="l">
              <a:lnSpc>
                <a:spcPts val="1650"/>
              </a:lnSpc>
              <a:buNone/>
            </a:pPr>
            <a:r>
              <a:rPr lang="en-US" sz="1200" b="1" dirty="0">
                <a:solidFill>
                  <a:srgbClr val="272525"/>
                </a:solidFill>
                <a:latin typeface="Inter" pitchFamily="34" charset="0"/>
                <a:ea typeface="Inter" pitchFamily="34" charset="-122"/>
                <a:cs typeface="Inter" pitchFamily="34" charset="-120"/>
              </a:rPr>
              <a:t>Same overdose scenario, different professional lenses:</a:t>
            </a:r>
            <a:endParaRPr lang="en-US" sz="1200" dirty="0"/>
          </a:p>
        </p:txBody>
      </p:sp>
      <p:sp>
        <p:nvSpPr>
          <p:cNvPr id="16" name="Shape 14"/>
          <p:cNvSpPr/>
          <p:nvPr/>
        </p:nvSpPr>
        <p:spPr>
          <a:xfrm>
            <a:off x="1822847" y="5076587"/>
            <a:ext cx="3520559" cy="1396365"/>
          </a:xfrm>
          <a:prstGeom prst="roundRect">
            <a:avLst>
              <a:gd name="adj" fmla="val 8041"/>
            </a:avLst>
          </a:prstGeom>
          <a:solidFill>
            <a:srgbClr val="FFF7ED"/>
          </a:solidFill>
          <a:ln/>
        </p:spPr>
        <p:txBody>
          <a:bodyPr/>
          <a:lstStyle/>
          <a:p>
            <a:endParaRPr lang="en-US"/>
          </a:p>
        </p:txBody>
      </p:sp>
      <p:sp>
        <p:nvSpPr>
          <p:cNvPr id="17" name="Text 15"/>
          <p:cNvSpPr/>
          <p:nvPr/>
        </p:nvSpPr>
        <p:spPr>
          <a:xfrm>
            <a:off x="1978700" y="5183743"/>
            <a:ext cx="1949291" cy="243602"/>
          </a:xfrm>
          <a:prstGeom prst="rect">
            <a:avLst/>
          </a:prstGeom>
          <a:noFill/>
          <a:ln/>
        </p:spPr>
        <p:txBody>
          <a:bodyPr wrap="none" lIns="0" tIns="0" rIns="0" bIns="0" rtlCol="0" anchor="t"/>
          <a:lstStyle/>
          <a:p>
            <a:pPr marL="0" indent="0" algn="l">
              <a:lnSpc>
                <a:spcPts val="1900"/>
              </a:lnSpc>
              <a:buNone/>
            </a:pPr>
            <a:r>
              <a:rPr lang="en-US" sz="1500" b="1" dirty="0">
                <a:solidFill>
                  <a:srgbClr val="000000"/>
                </a:solidFill>
                <a:latin typeface="Inter Bold" pitchFamily="34" charset="0"/>
                <a:ea typeface="Inter Bold" pitchFamily="34" charset="-122"/>
                <a:cs typeface="Inter Bold" pitchFamily="34" charset="-120"/>
              </a:rPr>
              <a:t>Nurse response</a:t>
            </a:r>
            <a:endParaRPr lang="en-US" sz="1500" dirty="0"/>
          </a:p>
        </p:txBody>
      </p:sp>
      <p:sp>
        <p:nvSpPr>
          <p:cNvPr id="18" name="Text 16"/>
          <p:cNvSpPr/>
          <p:nvPr/>
        </p:nvSpPr>
        <p:spPr>
          <a:xfrm>
            <a:off x="1978700" y="5534501"/>
            <a:ext cx="3208853" cy="631507"/>
          </a:xfrm>
          <a:prstGeom prst="rect">
            <a:avLst/>
          </a:prstGeom>
          <a:noFill/>
          <a:ln/>
        </p:spPr>
        <p:txBody>
          <a:bodyPr wrap="squar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"Check airway, breathing, circulation. Administer naloxone IM or IV. Monitor for re-sedation."</a:t>
            </a:r>
            <a:endParaRPr lang="en-US" sz="1200" dirty="0"/>
          </a:p>
        </p:txBody>
      </p:sp>
      <p:sp>
        <p:nvSpPr>
          <p:cNvPr id="19" name="Shape 17"/>
          <p:cNvSpPr/>
          <p:nvPr/>
        </p:nvSpPr>
        <p:spPr>
          <a:xfrm>
            <a:off x="5506760" y="5076587"/>
            <a:ext cx="3631883" cy="1396365"/>
          </a:xfrm>
          <a:prstGeom prst="roundRect">
            <a:avLst>
              <a:gd name="adj" fmla="val 8041"/>
            </a:avLst>
          </a:prstGeom>
          <a:solidFill>
            <a:srgbClr val="F7F3FF"/>
          </a:solidFill>
          <a:ln/>
        </p:spPr>
        <p:txBody>
          <a:bodyPr/>
          <a:lstStyle/>
          <a:p>
            <a:endParaRPr lang="en-US"/>
          </a:p>
        </p:txBody>
      </p:sp>
      <p:sp>
        <p:nvSpPr>
          <p:cNvPr id="20" name="Text 18"/>
          <p:cNvSpPr/>
          <p:nvPr/>
        </p:nvSpPr>
        <p:spPr>
          <a:xfrm>
            <a:off x="5662613" y="5183743"/>
            <a:ext cx="2260521" cy="243602"/>
          </a:xfrm>
          <a:prstGeom prst="rect">
            <a:avLst/>
          </a:prstGeom>
          <a:noFill/>
          <a:ln/>
        </p:spPr>
        <p:txBody>
          <a:bodyPr wrap="none" lIns="0" tIns="0" rIns="0" bIns="0" rtlCol="0" anchor="t"/>
          <a:lstStyle/>
          <a:p>
            <a:pPr marL="0" indent="0" algn="l">
              <a:lnSpc>
                <a:spcPts val="1900"/>
              </a:lnSpc>
              <a:buNone/>
            </a:pPr>
            <a:r>
              <a:rPr lang="en-US" sz="1500" b="1" dirty="0">
                <a:solidFill>
                  <a:srgbClr val="000000"/>
                </a:solidFill>
                <a:latin typeface="Inter Bold" pitchFamily="34" charset="0"/>
                <a:ea typeface="Inter Bold" pitchFamily="34" charset="-122"/>
                <a:cs typeface="Inter Bold" pitchFamily="34" charset="-120"/>
              </a:rPr>
              <a:t>Social Worker response</a:t>
            </a:r>
            <a:endParaRPr lang="en-US" sz="1500" dirty="0"/>
          </a:p>
        </p:txBody>
      </p:sp>
      <p:sp>
        <p:nvSpPr>
          <p:cNvPr id="21" name="Text 19"/>
          <p:cNvSpPr/>
          <p:nvPr/>
        </p:nvSpPr>
        <p:spPr>
          <a:xfrm>
            <a:off x="5662613" y="5534501"/>
            <a:ext cx="3320177" cy="842010"/>
          </a:xfrm>
          <a:prstGeom prst="rect">
            <a:avLst/>
          </a:prstGeom>
          <a:noFill/>
          <a:ln/>
        </p:spPr>
        <p:txBody>
          <a:bodyPr wrap="squar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"Connect patient with harm reduction services, housing support, and community recovery programs. Assess for trauma and mental health needs."</a:t>
            </a:r>
            <a:endParaRPr lang="en-US" sz="1200" dirty="0"/>
          </a:p>
        </p:txBody>
      </p:sp>
      <p:sp>
        <p:nvSpPr>
          <p:cNvPr id="22" name="Shape 20"/>
          <p:cNvSpPr/>
          <p:nvPr/>
        </p:nvSpPr>
        <p:spPr>
          <a:xfrm>
            <a:off x="9301996" y="5076587"/>
            <a:ext cx="3520559" cy="1396365"/>
          </a:xfrm>
          <a:prstGeom prst="roundRect">
            <a:avLst>
              <a:gd name="adj" fmla="val 8041"/>
            </a:avLst>
          </a:prstGeom>
          <a:solidFill>
            <a:srgbClr val="EEF7FF"/>
          </a:solidFill>
          <a:ln/>
        </p:spPr>
        <p:txBody>
          <a:bodyPr/>
          <a:lstStyle/>
          <a:p>
            <a:endParaRPr lang="en-US"/>
          </a:p>
        </p:txBody>
      </p:sp>
      <p:sp>
        <p:nvSpPr>
          <p:cNvPr id="23" name="Text 21"/>
          <p:cNvSpPr/>
          <p:nvPr/>
        </p:nvSpPr>
        <p:spPr>
          <a:xfrm>
            <a:off x="9457849" y="5183743"/>
            <a:ext cx="1949291" cy="243602"/>
          </a:xfrm>
          <a:prstGeom prst="rect">
            <a:avLst/>
          </a:prstGeom>
          <a:noFill/>
          <a:ln/>
        </p:spPr>
        <p:txBody>
          <a:bodyPr wrap="none" lIns="0" tIns="0" rIns="0" bIns="0" rtlCol="0" anchor="t"/>
          <a:lstStyle/>
          <a:p>
            <a:pPr marL="0" indent="0" algn="l">
              <a:lnSpc>
                <a:spcPts val="1900"/>
              </a:lnSpc>
              <a:buNone/>
            </a:pPr>
            <a:r>
              <a:rPr lang="en-US" sz="1500" b="1" dirty="0">
                <a:solidFill>
                  <a:srgbClr val="000000"/>
                </a:solidFill>
                <a:latin typeface="Inter Bold" pitchFamily="34" charset="0"/>
                <a:ea typeface="Inter Bold" pitchFamily="34" charset="-122"/>
                <a:cs typeface="Inter Bold" pitchFamily="34" charset="-120"/>
              </a:rPr>
              <a:t>Physician response</a:t>
            </a:r>
            <a:endParaRPr lang="en-US" sz="1500" dirty="0"/>
          </a:p>
        </p:txBody>
      </p:sp>
      <p:sp>
        <p:nvSpPr>
          <p:cNvPr id="24" name="Text 22"/>
          <p:cNvSpPr/>
          <p:nvPr/>
        </p:nvSpPr>
        <p:spPr>
          <a:xfrm>
            <a:off x="9457849" y="5534501"/>
            <a:ext cx="3208853" cy="842010"/>
          </a:xfrm>
          <a:prstGeom prst="rect">
            <a:avLst/>
          </a:prstGeom>
          <a:noFill/>
          <a:ln/>
        </p:spPr>
        <p:txBody>
          <a:bodyPr wrap="squar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"Assess for other drug involvement. Consider ICU admission if respiratory depression severe. Plan medication-assisted treatment."</a:t>
            </a:r>
            <a:endParaRPr lang="en-US" sz="1200" dirty="0"/>
          </a:p>
        </p:txBody>
      </p:sp>
      <p:sp>
        <p:nvSpPr>
          <p:cNvPr id="25" name="Shape 23"/>
          <p:cNvSpPr/>
          <p:nvPr/>
        </p:nvSpPr>
        <p:spPr>
          <a:xfrm>
            <a:off x="1935123" y="6632496"/>
            <a:ext cx="10760035" cy="11668"/>
          </a:xfrm>
          <a:prstGeom prst="rect">
            <a:avLst/>
          </a:prstGeom>
          <a:solidFill>
            <a:srgbClr val="272525">
              <a:alpha val="50000"/>
            </a:srgbClr>
          </a:solidFill>
          <a:ln/>
        </p:spPr>
        <p:txBody>
          <a:bodyPr/>
          <a:lstStyle/>
          <a:p>
            <a:endParaRPr lang="en-US"/>
          </a:p>
        </p:txBody>
      </p:sp>
      <p:sp>
        <p:nvSpPr>
          <p:cNvPr id="26" name="Text 24"/>
          <p:cNvSpPr/>
          <p:nvPr/>
        </p:nvSpPr>
        <p:spPr>
          <a:xfrm>
            <a:off x="1935123" y="6843832"/>
            <a:ext cx="2339102" cy="292418"/>
          </a:xfrm>
          <a:prstGeom prst="rect">
            <a:avLst/>
          </a:prstGeom>
          <a:noFill/>
          <a:ln/>
        </p:spPr>
        <p:txBody>
          <a:bodyPr wrap="none" lIns="0" tIns="0" rIns="0" bIns="0" rtlCol="0" anchor="t"/>
          <a:lstStyle/>
          <a:p>
            <a:pPr marL="0" indent="0" algn="l">
              <a:lnSpc>
                <a:spcPts val="2300"/>
              </a:lnSpc>
              <a:buNone/>
            </a:pPr>
            <a:r>
              <a:rPr lang="en-US" sz="1800" b="1" dirty="0">
                <a:solidFill>
                  <a:srgbClr val="000000"/>
                </a:solidFill>
                <a:latin typeface="Inter Bold" pitchFamily="34" charset="0"/>
                <a:ea typeface="Inter Bold" pitchFamily="34" charset="-122"/>
                <a:cs typeface="Inter Bold" pitchFamily="34" charset="-120"/>
              </a:rPr>
              <a:t>Why It Works</a:t>
            </a:r>
            <a:endParaRPr lang="en-US" sz="1800" dirty="0"/>
          </a:p>
        </p:txBody>
      </p:sp>
      <p:sp>
        <p:nvSpPr>
          <p:cNvPr id="27" name="Text 25"/>
          <p:cNvSpPr/>
          <p:nvPr/>
        </p:nvSpPr>
        <p:spPr>
          <a:xfrm>
            <a:off x="1935123" y="7296983"/>
            <a:ext cx="10760035" cy="421005"/>
          </a:xfrm>
          <a:prstGeom prst="rect">
            <a:avLst/>
          </a:prstGeom>
          <a:noFill/>
          <a:ln/>
        </p:spPr>
        <p:txBody>
          <a:bodyPr wrap="square" lIns="0" tIns="0" rIns="0" bIns="0" rtlCol="0" anchor="t"/>
          <a:lstStyle/>
          <a:p>
            <a:pPr marL="0" indent="0" algn="l">
              <a:lnSpc>
                <a:spcPts val="1650"/>
              </a:lnSpc>
              <a:buNone/>
            </a:pPr>
            <a:r>
              <a:rPr lang="en-US" sz="1200" dirty="0">
                <a:solidFill>
                  <a:srgbClr val="272525"/>
                </a:solidFill>
                <a:latin typeface="Inter" pitchFamily="34" charset="0"/>
                <a:ea typeface="Inter" pitchFamily="34" charset="-122"/>
                <a:cs typeface="Inter" pitchFamily="34" charset="-120"/>
              </a:rPr>
              <a:t>Each agent draws from its own profession's evidence base. Students see how different healthcare roles approach the same clinical situation and that's interprofessional education.</a:t>
            </a:r>
            <a:endParaRPr lang="en-US" sz="1200" dirty="0"/>
          </a:p>
        </p:txBody>
      </p:sp>
      <p:sp>
        <p:nvSpPr>
          <p:cNvPr id="28" name="Rectangle 27">
            <a:extLst>
              <a:ext uri="{FF2B5EF4-FFF2-40B4-BE49-F238E27FC236}">
                <a16:creationId xmlns:a16="http://schemas.microsoft.com/office/drawing/2014/main" id="{5886A4C6-2A2D-E308-0C90-92381CA468BA}"/>
              </a:ext>
            </a:extLst>
          </p:cNvPr>
          <p:cNvSpPr/>
          <p:nvPr/>
        </p:nvSpPr>
        <p:spPr>
          <a:xfrm>
            <a:off x="12814935" y="7628351"/>
            <a:ext cx="1815465" cy="60124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82228" y="570190"/>
            <a:ext cx="6165056" cy="609124"/>
          </a:xfrm>
          <a:prstGeom prst="rect">
            <a:avLst/>
          </a:prstGeom>
          <a:noFill/>
          <a:ln/>
        </p:spPr>
        <p:txBody>
          <a:bodyPr wrap="none" lIns="0" tIns="0" rIns="0" bIns="0" rtlCol="0" anchor="t"/>
          <a:lstStyle/>
          <a:p>
            <a:pPr marL="0" indent="0" algn="l">
              <a:lnSpc>
                <a:spcPts val="4750"/>
              </a:lnSpc>
              <a:buNone/>
            </a:pPr>
            <a:r>
              <a:rPr lang="en-US" sz="3800" b="1" dirty="0">
                <a:solidFill>
                  <a:srgbClr val="000000"/>
                </a:solidFill>
                <a:latin typeface="Inter Bold" pitchFamily="34" charset="0"/>
                <a:ea typeface="Inter Bold" pitchFamily="34" charset="-122"/>
                <a:cs typeface="Inter Bold" pitchFamily="34" charset="-120"/>
              </a:rPr>
              <a:t>Conclusion &amp; Future Work</a:t>
            </a:r>
            <a:endParaRPr lang="en-US" sz="3800" dirty="0"/>
          </a:p>
        </p:txBody>
      </p:sp>
      <p:sp>
        <p:nvSpPr>
          <p:cNvPr id="3" name="Text 1"/>
          <p:cNvSpPr/>
          <p:nvPr/>
        </p:nvSpPr>
        <p:spPr>
          <a:xfrm>
            <a:off x="682228" y="1246227"/>
            <a:ext cx="3146465" cy="365522"/>
          </a:xfrm>
          <a:prstGeom prst="rect">
            <a:avLst/>
          </a:prstGeom>
          <a:noFill/>
          <a:ln/>
        </p:spPr>
        <p:txBody>
          <a:bodyPr wrap="none" lIns="0" tIns="0" rIns="0" bIns="0" rtlCol="0" anchor="t"/>
          <a:lstStyle/>
          <a:p>
            <a:pPr marL="0" indent="0" algn="l">
              <a:lnSpc>
                <a:spcPts val="2850"/>
              </a:lnSpc>
              <a:buNone/>
            </a:pPr>
            <a:r>
              <a:rPr lang="en-US" sz="2300" b="1" dirty="0">
                <a:solidFill>
                  <a:srgbClr val="000000"/>
                </a:solidFill>
                <a:latin typeface="Inter Bold" pitchFamily="34" charset="0"/>
                <a:ea typeface="Inter Bold" pitchFamily="34" charset="-122"/>
                <a:cs typeface="Inter Bold" pitchFamily="34" charset="-120"/>
              </a:rPr>
              <a:t>What BRIDGE Delivers</a:t>
            </a:r>
            <a:endParaRPr lang="en-US" sz="2300" dirty="0"/>
          </a:p>
        </p:txBody>
      </p:sp>
      <p:sp>
        <p:nvSpPr>
          <p:cNvPr id="4" name="Text 2"/>
          <p:cNvSpPr/>
          <p:nvPr/>
        </p:nvSpPr>
        <p:spPr>
          <a:xfrm>
            <a:off x="682228" y="1862971"/>
            <a:ext cx="13265944" cy="579834"/>
          </a:xfrm>
          <a:prstGeom prst="rect">
            <a:avLst/>
          </a:prstGeom>
          <a:noFill/>
          <a:ln/>
        </p:spPr>
        <p:txBody>
          <a:bodyPr wrap="square" lIns="0" tIns="0" rIns="0" bIns="0" rtlCol="0" anchor="t"/>
          <a:lstStyle/>
          <a:p>
            <a:pPr marL="0" indent="0" algn="l">
              <a:lnSpc>
                <a:spcPts val="2250"/>
              </a:lnSpc>
              <a:buNone/>
            </a:pPr>
            <a:r>
              <a:rPr lang="en-US" sz="1500" dirty="0">
                <a:solidFill>
                  <a:srgbClr val="272525"/>
                </a:solidFill>
                <a:latin typeface="Inter" pitchFamily="34" charset="0"/>
                <a:ea typeface="Inter" pitchFamily="34" charset="-122"/>
                <a:cs typeface="Inter" pitchFamily="34" charset="-120"/>
              </a:rPr>
              <a:t>BRIDGE gives every healthcare student access to a full interprofessional team — available 24/7, grounded in real clinical guidelines, and personalized to their experience level.</a:t>
            </a:r>
            <a:endParaRPr lang="en-US" sz="1500" dirty="0"/>
          </a:p>
        </p:txBody>
      </p:sp>
      <p:sp>
        <p:nvSpPr>
          <p:cNvPr id="5" name="Text 3"/>
          <p:cNvSpPr/>
          <p:nvPr/>
        </p:nvSpPr>
        <p:spPr>
          <a:xfrm>
            <a:off x="682228" y="2631162"/>
            <a:ext cx="13265944" cy="579834"/>
          </a:xfrm>
          <a:prstGeom prst="rect">
            <a:avLst/>
          </a:prstGeom>
          <a:noFill/>
          <a:ln/>
        </p:spPr>
        <p:txBody>
          <a:bodyPr wrap="square" lIns="0" tIns="0" rIns="0" bIns="0" rtlCol="0" anchor="t"/>
          <a:lstStyle/>
          <a:p>
            <a:pPr marL="0" indent="0" algn="l">
              <a:lnSpc>
                <a:spcPts val="2250"/>
              </a:lnSpc>
              <a:buNone/>
            </a:pPr>
            <a:r>
              <a:rPr lang="en-US" sz="1500" dirty="0">
                <a:solidFill>
                  <a:srgbClr val="272525"/>
                </a:solidFill>
                <a:latin typeface="Inter" pitchFamily="34" charset="0"/>
                <a:ea typeface="Inter" pitchFamily="34" charset="-122"/>
                <a:cs typeface="Inter" pitchFamily="34" charset="-120"/>
              </a:rPr>
              <a:t>It solves the IPE coordination problem: no need to schedule across schools, no need to hire standardized patients, and no need to coordinate facilitators. The result is a training experience that scales infinitely, while cost per student approaches zero.</a:t>
            </a:r>
            <a:endParaRPr lang="en-US" sz="1500" dirty="0"/>
          </a:p>
        </p:txBody>
      </p:sp>
      <p:sp>
        <p:nvSpPr>
          <p:cNvPr id="6" name="Text 4"/>
          <p:cNvSpPr/>
          <p:nvPr/>
        </p:nvSpPr>
        <p:spPr>
          <a:xfrm>
            <a:off x="682228" y="3462218"/>
            <a:ext cx="2923937" cy="365522"/>
          </a:xfrm>
          <a:prstGeom prst="rect">
            <a:avLst/>
          </a:prstGeom>
          <a:noFill/>
          <a:ln/>
        </p:spPr>
        <p:txBody>
          <a:bodyPr wrap="none" lIns="0" tIns="0" rIns="0" bIns="0" rtlCol="0" anchor="t"/>
          <a:lstStyle/>
          <a:p>
            <a:pPr marL="0" indent="0" algn="l">
              <a:lnSpc>
                <a:spcPts val="2850"/>
              </a:lnSpc>
              <a:buNone/>
            </a:pPr>
            <a:r>
              <a:rPr lang="en-US" sz="2300" b="1" dirty="0">
                <a:solidFill>
                  <a:srgbClr val="000000"/>
                </a:solidFill>
                <a:latin typeface="Inter Bold" pitchFamily="34" charset="0"/>
                <a:ea typeface="Inter Bold" pitchFamily="34" charset="-122"/>
                <a:cs typeface="Inter Bold" pitchFamily="34" charset="-120"/>
              </a:rPr>
              <a:t>What's Next</a:t>
            </a:r>
            <a:endParaRPr lang="en-US" sz="2300" dirty="0"/>
          </a:p>
        </p:txBody>
      </p:sp>
      <p:sp>
        <p:nvSpPr>
          <p:cNvPr id="7" name="Text 5"/>
          <p:cNvSpPr/>
          <p:nvPr/>
        </p:nvSpPr>
        <p:spPr>
          <a:xfrm>
            <a:off x="682228" y="4078962"/>
            <a:ext cx="389811" cy="243602"/>
          </a:xfrm>
          <a:prstGeom prst="rect">
            <a:avLst/>
          </a:prstGeom>
          <a:noFill/>
          <a:ln/>
        </p:spPr>
        <p:txBody>
          <a:bodyPr wrap="none" lIns="0" tIns="0" rIns="0" bIns="0" rtlCol="0" anchor="t"/>
          <a:lstStyle/>
          <a:p>
            <a:pPr marL="0" indent="0" algn="l">
              <a:lnSpc>
                <a:spcPts val="2250"/>
              </a:lnSpc>
              <a:buNone/>
            </a:pPr>
            <a:r>
              <a:rPr lang="en-US" sz="1500" dirty="0">
                <a:solidFill>
                  <a:srgbClr val="272525"/>
                </a:solidFill>
                <a:latin typeface="Inter Light" pitchFamily="34" charset="0"/>
                <a:ea typeface="Inter Light" pitchFamily="34" charset="-122"/>
                <a:cs typeface="Inter Light" pitchFamily="34" charset="-120"/>
              </a:rPr>
              <a:t>01</a:t>
            </a:r>
            <a:endParaRPr lang="en-US" sz="1500" dirty="0"/>
          </a:p>
        </p:txBody>
      </p:sp>
      <p:sp>
        <p:nvSpPr>
          <p:cNvPr id="8" name="Shape 6"/>
          <p:cNvSpPr/>
          <p:nvPr/>
        </p:nvSpPr>
        <p:spPr>
          <a:xfrm>
            <a:off x="682228" y="4387334"/>
            <a:ext cx="6549271" cy="22860"/>
          </a:xfrm>
          <a:prstGeom prst="rect">
            <a:avLst/>
          </a:prstGeom>
          <a:solidFill>
            <a:srgbClr val="4950BC"/>
          </a:solidFill>
          <a:ln/>
        </p:spPr>
        <p:txBody>
          <a:bodyPr/>
          <a:lstStyle/>
          <a:p>
            <a:endParaRPr lang="en-US"/>
          </a:p>
        </p:txBody>
      </p:sp>
      <p:sp>
        <p:nvSpPr>
          <p:cNvPr id="9" name="Text 7"/>
          <p:cNvSpPr/>
          <p:nvPr/>
        </p:nvSpPr>
        <p:spPr>
          <a:xfrm>
            <a:off x="682228" y="4530447"/>
            <a:ext cx="6549271" cy="869752"/>
          </a:xfrm>
          <a:prstGeom prst="rect">
            <a:avLst/>
          </a:prstGeom>
          <a:noFill/>
          <a:ln/>
        </p:spPr>
        <p:txBody>
          <a:bodyPr wrap="square" lIns="0" tIns="0" rIns="0" bIns="0" rtlCol="0" anchor="t"/>
          <a:lstStyle/>
          <a:p>
            <a:pPr marL="0" indent="0" algn="l">
              <a:lnSpc>
                <a:spcPts val="2250"/>
              </a:lnSpc>
              <a:buNone/>
            </a:pPr>
            <a:r>
              <a:rPr lang="en-US" sz="1500" b="1" dirty="0">
                <a:solidFill>
                  <a:srgbClr val="272525"/>
                </a:solidFill>
                <a:latin typeface="Inter" pitchFamily="34" charset="0"/>
                <a:ea typeface="Inter" pitchFamily="34" charset="-122"/>
                <a:cs typeface="Inter" pitchFamily="34" charset="-120"/>
              </a:rPr>
              <a:t>Clinical validation</a:t>
            </a:r>
            <a:r>
              <a:rPr lang="en-US" sz="1500" dirty="0">
                <a:solidFill>
                  <a:srgbClr val="272525"/>
                </a:solidFill>
                <a:latin typeface="Inter" pitchFamily="34" charset="0"/>
                <a:ea typeface="Inter" pitchFamily="34" charset="-122"/>
                <a:cs typeface="Inter" pitchFamily="34" charset="-120"/>
              </a:rPr>
              <a:t> — User study with healthcare students measuring outcomes vs. traditional IPE formats. This is the credibility milestone.</a:t>
            </a:r>
            <a:endParaRPr lang="en-US" sz="1500" dirty="0"/>
          </a:p>
        </p:txBody>
      </p:sp>
      <p:sp>
        <p:nvSpPr>
          <p:cNvPr id="10" name="Text 8"/>
          <p:cNvSpPr/>
          <p:nvPr/>
        </p:nvSpPr>
        <p:spPr>
          <a:xfrm>
            <a:off x="7398901" y="4078962"/>
            <a:ext cx="389811" cy="243602"/>
          </a:xfrm>
          <a:prstGeom prst="rect">
            <a:avLst/>
          </a:prstGeom>
          <a:noFill/>
          <a:ln/>
        </p:spPr>
        <p:txBody>
          <a:bodyPr wrap="none" lIns="0" tIns="0" rIns="0" bIns="0" rtlCol="0" anchor="t"/>
          <a:lstStyle/>
          <a:p>
            <a:pPr marL="0" indent="0" algn="l">
              <a:lnSpc>
                <a:spcPts val="2250"/>
              </a:lnSpc>
              <a:buNone/>
            </a:pPr>
            <a:r>
              <a:rPr lang="en-US" sz="1500" dirty="0">
                <a:solidFill>
                  <a:srgbClr val="272525"/>
                </a:solidFill>
                <a:latin typeface="Inter Light" pitchFamily="34" charset="0"/>
                <a:ea typeface="Inter Light" pitchFamily="34" charset="-122"/>
                <a:cs typeface="Inter Light" pitchFamily="34" charset="-120"/>
              </a:rPr>
              <a:t>02</a:t>
            </a:r>
            <a:endParaRPr lang="en-US" sz="1500" dirty="0"/>
          </a:p>
        </p:txBody>
      </p:sp>
      <p:sp>
        <p:nvSpPr>
          <p:cNvPr id="11" name="Shape 9"/>
          <p:cNvSpPr/>
          <p:nvPr/>
        </p:nvSpPr>
        <p:spPr>
          <a:xfrm>
            <a:off x="7398901" y="4387334"/>
            <a:ext cx="6549271" cy="22860"/>
          </a:xfrm>
          <a:prstGeom prst="rect">
            <a:avLst/>
          </a:prstGeom>
          <a:solidFill>
            <a:srgbClr val="4950BC"/>
          </a:solidFill>
          <a:ln/>
        </p:spPr>
        <p:txBody>
          <a:bodyPr/>
          <a:lstStyle/>
          <a:p>
            <a:endParaRPr lang="en-US"/>
          </a:p>
        </p:txBody>
      </p:sp>
      <p:sp>
        <p:nvSpPr>
          <p:cNvPr id="12" name="Text 10"/>
          <p:cNvSpPr/>
          <p:nvPr/>
        </p:nvSpPr>
        <p:spPr>
          <a:xfrm>
            <a:off x="7398901" y="4530447"/>
            <a:ext cx="6549271" cy="1159669"/>
          </a:xfrm>
          <a:prstGeom prst="rect">
            <a:avLst/>
          </a:prstGeom>
          <a:noFill/>
          <a:ln/>
        </p:spPr>
        <p:txBody>
          <a:bodyPr wrap="square" lIns="0" tIns="0" rIns="0" bIns="0" rtlCol="0" anchor="t"/>
          <a:lstStyle/>
          <a:p>
            <a:pPr marL="0" indent="0" algn="l">
              <a:lnSpc>
                <a:spcPts val="2250"/>
              </a:lnSpc>
              <a:buNone/>
            </a:pPr>
            <a:r>
              <a:rPr lang="en-US" sz="1500" b="1" dirty="0">
                <a:solidFill>
                  <a:srgbClr val="272525"/>
                </a:solidFill>
                <a:latin typeface="Inter" pitchFamily="34" charset="0"/>
                <a:ea typeface="Inter" pitchFamily="34" charset="-122"/>
                <a:cs typeface="Inter" pitchFamily="34" charset="-120"/>
              </a:rPr>
              <a:t>Domain expansion</a:t>
            </a:r>
            <a:r>
              <a:rPr lang="en-US" sz="1500" dirty="0">
                <a:solidFill>
                  <a:srgbClr val="272525"/>
                </a:solidFill>
                <a:latin typeface="Inter" pitchFamily="34" charset="0"/>
                <a:ea typeface="Inter" pitchFamily="34" charset="-122"/>
                <a:cs typeface="Inter" pitchFamily="34" charset="-120"/>
              </a:rPr>
              <a:t> — Extend beyond opioid education to diabetes management and other high-priority clinical domains.</a:t>
            </a:r>
            <a:endParaRPr lang="en-US" sz="1500" dirty="0"/>
          </a:p>
        </p:txBody>
      </p:sp>
      <p:sp>
        <p:nvSpPr>
          <p:cNvPr id="13" name="Text 11"/>
          <p:cNvSpPr/>
          <p:nvPr/>
        </p:nvSpPr>
        <p:spPr>
          <a:xfrm>
            <a:off x="682228" y="6003608"/>
            <a:ext cx="389811" cy="243602"/>
          </a:xfrm>
          <a:prstGeom prst="rect">
            <a:avLst/>
          </a:prstGeom>
          <a:noFill/>
          <a:ln/>
        </p:spPr>
        <p:txBody>
          <a:bodyPr wrap="none" lIns="0" tIns="0" rIns="0" bIns="0" rtlCol="0" anchor="t"/>
          <a:lstStyle/>
          <a:p>
            <a:pPr marL="0" indent="0" algn="l">
              <a:lnSpc>
                <a:spcPts val="2250"/>
              </a:lnSpc>
              <a:buNone/>
            </a:pPr>
            <a:r>
              <a:rPr lang="en-US" sz="1500" dirty="0">
                <a:solidFill>
                  <a:srgbClr val="272525"/>
                </a:solidFill>
                <a:latin typeface="Inter Light" pitchFamily="34" charset="0"/>
                <a:ea typeface="Inter Light" pitchFamily="34" charset="-122"/>
                <a:cs typeface="Inter Light" pitchFamily="34" charset="-120"/>
              </a:rPr>
              <a:t>03</a:t>
            </a:r>
            <a:endParaRPr lang="en-US" sz="1500" dirty="0"/>
          </a:p>
        </p:txBody>
      </p:sp>
      <p:sp>
        <p:nvSpPr>
          <p:cNvPr id="14" name="Shape 12"/>
          <p:cNvSpPr/>
          <p:nvPr/>
        </p:nvSpPr>
        <p:spPr>
          <a:xfrm>
            <a:off x="682228" y="6311979"/>
            <a:ext cx="13265944" cy="22860"/>
          </a:xfrm>
          <a:prstGeom prst="rect">
            <a:avLst/>
          </a:prstGeom>
          <a:solidFill>
            <a:srgbClr val="4950BC"/>
          </a:solidFill>
          <a:ln/>
        </p:spPr>
        <p:txBody>
          <a:bodyPr/>
          <a:lstStyle/>
          <a:p>
            <a:endParaRPr lang="en-US"/>
          </a:p>
        </p:txBody>
      </p:sp>
      <p:sp>
        <p:nvSpPr>
          <p:cNvPr id="15" name="Text 13"/>
          <p:cNvSpPr/>
          <p:nvPr/>
        </p:nvSpPr>
        <p:spPr>
          <a:xfrm>
            <a:off x="682228" y="6455093"/>
            <a:ext cx="13265944" cy="579834"/>
          </a:xfrm>
          <a:prstGeom prst="rect">
            <a:avLst/>
          </a:prstGeom>
          <a:noFill/>
          <a:ln/>
        </p:spPr>
        <p:txBody>
          <a:bodyPr wrap="square" lIns="0" tIns="0" rIns="0" bIns="0" rtlCol="0" anchor="t"/>
          <a:lstStyle/>
          <a:p>
            <a:pPr marL="0" indent="0" algn="l">
              <a:lnSpc>
                <a:spcPts val="2250"/>
              </a:lnSpc>
              <a:buNone/>
            </a:pPr>
            <a:r>
              <a:rPr lang="en-US" sz="1500" b="1" dirty="0">
                <a:solidFill>
                  <a:srgbClr val="272525"/>
                </a:solidFill>
                <a:latin typeface="Inter" pitchFamily="34" charset="0"/>
                <a:ea typeface="Inter" pitchFamily="34" charset="-122"/>
                <a:cs typeface="Inter" pitchFamily="34" charset="-120"/>
              </a:rPr>
              <a:t>Adaptive learning</a:t>
            </a:r>
            <a:r>
              <a:rPr lang="en-US" sz="1500" dirty="0">
                <a:solidFill>
                  <a:srgbClr val="272525"/>
                </a:solidFill>
                <a:latin typeface="Inter" pitchFamily="34" charset="0"/>
                <a:ea typeface="Inter" pitchFamily="34" charset="-122"/>
                <a:cs typeface="Inter" pitchFamily="34" charset="-120"/>
              </a:rPr>
              <a:t> — System prompts that respond to student performance in real time, not just static intake data. Personalization gets smarter as students progress.</a:t>
            </a:r>
            <a:endParaRPr lang="en-US" sz="1500" dirty="0"/>
          </a:p>
        </p:txBody>
      </p:sp>
      <p:sp>
        <p:nvSpPr>
          <p:cNvPr id="16" name="Text 14"/>
          <p:cNvSpPr/>
          <p:nvPr/>
        </p:nvSpPr>
        <p:spPr>
          <a:xfrm>
            <a:off x="682228" y="7369373"/>
            <a:ext cx="13265944" cy="289917"/>
          </a:xfrm>
          <a:prstGeom prst="rect">
            <a:avLst/>
          </a:prstGeom>
          <a:noFill/>
          <a:ln/>
        </p:spPr>
        <p:txBody>
          <a:bodyPr wrap="none" lIns="0" tIns="0" rIns="0" bIns="0" rtlCol="0" anchor="t"/>
          <a:lstStyle/>
          <a:p>
            <a:pPr marL="0" indent="0" algn="l">
              <a:lnSpc>
                <a:spcPts val="2250"/>
              </a:lnSpc>
              <a:buNone/>
            </a:pPr>
            <a:r>
              <a:rPr lang="en-US" sz="1500" dirty="0">
                <a:solidFill>
                  <a:srgbClr val="272525"/>
                </a:solidFill>
                <a:latin typeface="Inter" pitchFamily="34" charset="0"/>
                <a:ea typeface="Inter" pitchFamily="34" charset="-122"/>
                <a:cs typeface="Inter" pitchFamily="34" charset="-120"/>
              </a:rPr>
              <a:t>In short, BRIDGE turns interprofessional education from a logistics challenge into a scalable, always-available learning platform.</a:t>
            </a:r>
            <a:endParaRPr lang="en-US" sz="1500" dirty="0"/>
          </a:p>
        </p:txBody>
      </p:sp>
      <p:sp>
        <p:nvSpPr>
          <p:cNvPr id="17" name="Rectangle 16">
            <a:extLst>
              <a:ext uri="{FF2B5EF4-FFF2-40B4-BE49-F238E27FC236}">
                <a16:creationId xmlns:a16="http://schemas.microsoft.com/office/drawing/2014/main" id="{F6676222-DC3F-414D-199C-C4BE9A72ACC0}"/>
              </a:ext>
            </a:extLst>
          </p:cNvPr>
          <p:cNvSpPr/>
          <p:nvPr/>
        </p:nvSpPr>
        <p:spPr>
          <a:xfrm>
            <a:off x="12826652" y="7659290"/>
            <a:ext cx="1716066" cy="57031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 calcmode="lin" valueType="num">
                                      <p:cBhvr>
                                        <p:cTn id="14" dur="500" fill="hold"/>
                                        <p:tgtEl>
                                          <p:spTgt spid="9">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9">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9">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p:cTn id="21" dur="500" fill="hold"/>
                                        <p:tgtEl>
                                          <p:spTgt spid="11"/>
                                        </p:tgtEl>
                                        <p:attrNameLst>
                                          <p:attrName>ppt_w</p:attrName>
                                        </p:attrNameLst>
                                      </p:cBhvr>
                                      <p:tavLst>
                                        <p:tav tm="0">
                                          <p:val>
                                            <p:fltVal val="0"/>
                                          </p:val>
                                        </p:tav>
                                        <p:tav tm="100000">
                                          <p:val>
                                            <p:strVal val="#ppt_w"/>
                                          </p:val>
                                        </p:tav>
                                      </p:tavLst>
                                    </p:anim>
                                    <p:anim calcmode="lin" valueType="num">
                                      <p:cBhvr>
                                        <p:cTn id="22" dur="500" fill="hold"/>
                                        <p:tgtEl>
                                          <p:spTgt spid="11"/>
                                        </p:tgtEl>
                                        <p:attrNameLst>
                                          <p:attrName>ppt_h</p:attrName>
                                        </p:attrNameLst>
                                      </p:cBhvr>
                                      <p:tavLst>
                                        <p:tav tm="0">
                                          <p:val>
                                            <p:fltVal val="0"/>
                                          </p:val>
                                        </p:tav>
                                        <p:tav tm="100000">
                                          <p:val>
                                            <p:strVal val="#ppt_h"/>
                                          </p:val>
                                        </p:tav>
                                      </p:tavLst>
                                    </p:anim>
                                    <p:animEffect transition="in" filter="fade">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2">
                                            <p:txEl>
                                              <p:pRg st="0" end="0"/>
                                            </p:txEl>
                                          </p:spTgt>
                                        </p:tgtEl>
                                        <p:attrNameLst>
                                          <p:attrName>style.visibility</p:attrName>
                                        </p:attrNameLst>
                                      </p:cBhvr>
                                      <p:to>
                                        <p:strVal val="visible"/>
                                      </p:to>
                                    </p:set>
                                    <p:anim calcmode="lin" valueType="num">
                                      <p:cBhvr>
                                        <p:cTn id="28" dur="500" fill="hold"/>
                                        <p:tgtEl>
                                          <p:spTgt spid="12">
                                            <p:txEl>
                                              <p:pRg st="0" end="0"/>
                                            </p:txEl>
                                          </p:spTgt>
                                        </p:tgtEl>
                                        <p:attrNameLst>
                                          <p:attrName>ppt_w</p:attrName>
                                        </p:attrNameLst>
                                      </p:cBhvr>
                                      <p:tavLst>
                                        <p:tav tm="0">
                                          <p:val>
                                            <p:fltVal val="0"/>
                                          </p:val>
                                        </p:tav>
                                        <p:tav tm="100000">
                                          <p:val>
                                            <p:strVal val="#ppt_w"/>
                                          </p:val>
                                        </p:tav>
                                      </p:tavLst>
                                    </p:anim>
                                    <p:anim calcmode="lin" valueType="num">
                                      <p:cBhvr>
                                        <p:cTn id="29" dur="500" fill="hold"/>
                                        <p:tgtEl>
                                          <p:spTgt spid="12">
                                            <p:txEl>
                                              <p:pRg st="0" end="0"/>
                                            </p:txEl>
                                          </p:spTgt>
                                        </p:tgtEl>
                                        <p:attrNameLst>
                                          <p:attrName>ppt_h</p:attrName>
                                        </p:attrNameLst>
                                      </p:cBhvr>
                                      <p:tavLst>
                                        <p:tav tm="0">
                                          <p:val>
                                            <p:fltVal val="0"/>
                                          </p:val>
                                        </p:tav>
                                        <p:tav tm="100000">
                                          <p:val>
                                            <p:strVal val="#ppt_h"/>
                                          </p:val>
                                        </p:tav>
                                      </p:tavLst>
                                    </p:anim>
                                    <p:animEffect transition="in" filter="fade">
                                      <p:cBhvr>
                                        <p:cTn id="30" dur="500"/>
                                        <p:tgtEl>
                                          <p:spTgt spid="12">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p:cTn id="35" dur="500" fill="hold"/>
                                        <p:tgtEl>
                                          <p:spTgt spid="14"/>
                                        </p:tgtEl>
                                        <p:attrNameLst>
                                          <p:attrName>ppt_w</p:attrName>
                                        </p:attrNameLst>
                                      </p:cBhvr>
                                      <p:tavLst>
                                        <p:tav tm="0">
                                          <p:val>
                                            <p:fltVal val="0"/>
                                          </p:val>
                                        </p:tav>
                                        <p:tav tm="100000">
                                          <p:val>
                                            <p:strVal val="#ppt_w"/>
                                          </p:val>
                                        </p:tav>
                                      </p:tavLst>
                                    </p:anim>
                                    <p:anim calcmode="lin" valueType="num">
                                      <p:cBhvr>
                                        <p:cTn id="36" dur="500" fill="hold"/>
                                        <p:tgtEl>
                                          <p:spTgt spid="14"/>
                                        </p:tgtEl>
                                        <p:attrNameLst>
                                          <p:attrName>ppt_h</p:attrName>
                                        </p:attrNameLst>
                                      </p:cBhvr>
                                      <p:tavLst>
                                        <p:tav tm="0">
                                          <p:val>
                                            <p:fltVal val="0"/>
                                          </p:val>
                                        </p:tav>
                                        <p:tav tm="100000">
                                          <p:val>
                                            <p:strVal val="#ppt_h"/>
                                          </p:val>
                                        </p:tav>
                                      </p:tavLst>
                                    </p:anim>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15">
                                            <p:txEl>
                                              <p:pRg st="0" end="0"/>
                                            </p:txEl>
                                          </p:spTgt>
                                        </p:tgtEl>
                                        <p:attrNameLst>
                                          <p:attrName>style.visibility</p:attrName>
                                        </p:attrNameLst>
                                      </p:cBhvr>
                                      <p:to>
                                        <p:strVal val="visible"/>
                                      </p:to>
                                    </p:set>
                                    <p:anim calcmode="lin" valueType="num">
                                      <p:cBhvr>
                                        <p:cTn id="42" dur="500" fill="hold"/>
                                        <p:tgtEl>
                                          <p:spTgt spid="15">
                                            <p:txEl>
                                              <p:pRg st="0" end="0"/>
                                            </p:txEl>
                                          </p:spTgt>
                                        </p:tgtEl>
                                        <p:attrNameLst>
                                          <p:attrName>ppt_w</p:attrName>
                                        </p:attrNameLst>
                                      </p:cBhvr>
                                      <p:tavLst>
                                        <p:tav tm="0">
                                          <p:val>
                                            <p:fltVal val="0"/>
                                          </p:val>
                                        </p:tav>
                                        <p:tav tm="100000">
                                          <p:val>
                                            <p:strVal val="#ppt_w"/>
                                          </p:val>
                                        </p:tav>
                                      </p:tavLst>
                                    </p:anim>
                                    <p:anim calcmode="lin" valueType="num">
                                      <p:cBhvr>
                                        <p:cTn id="43" dur="500" fill="hold"/>
                                        <p:tgtEl>
                                          <p:spTgt spid="15">
                                            <p:txEl>
                                              <p:pRg st="0" end="0"/>
                                            </p:txEl>
                                          </p:spTgt>
                                        </p:tgtEl>
                                        <p:attrNameLst>
                                          <p:attrName>ppt_h</p:attrName>
                                        </p:attrNameLst>
                                      </p:cBhvr>
                                      <p:tavLst>
                                        <p:tav tm="0">
                                          <p:val>
                                            <p:fltVal val="0"/>
                                          </p:val>
                                        </p:tav>
                                        <p:tav tm="100000">
                                          <p:val>
                                            <p:strVal val="#ppt_h"/>
                                          </p:val>
                                        </p:tav>
                                      </p:tavLst>
                                    </p:anim>
                                    <p:animEffect transition="in" filter="fade">
                                      <p:cBhvr>
                                        <p:cTn id="44" dur="500"/>
                                        <p:tgtEl>
                                          <p:spTgt spid="15">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16">
                                            <p:txEl>
                                              <p:pRg st="0" end="0"/>
                                            </p:txEl>
                                          </p:spTgt>
                                        </p:tgtEl>
                                        <p:attrNameLst>
                                          <p:attrName>style.visibility</p:attrName>
                                        </p:attrNameLst>
                                      </p:cBhvr>
                                      <p:to>
                                        <p:strVal val="visible"/>
                                      </p:to>
                                    </p:set>
                                    <p:anim calcmode="lin" valueType="num">
                                      <p:cBhvr>
                                        <p:cTn id="49" dur="500" fill="hold"/>
                                        <p:tgtEl>
                                          <p:spTgt spid="16">
                                            <p:txEl>
                                              <p:pRg st="0" end="0"/>
                                            </p:txEl>
                                          </p:spTgt>
                                        </p:tgtEl>
                                        <p:attrNameLst>
                                          <p:attrName>ppt_w</p:attrName>
                                        </p:attrNameLst>
                                      </p:cBhvr>
                                      <p:tavLst>
                                        <p:tav tm="0">
                                          <p:val>
                                            <p:fltVal val="0"/>
                                          </p:val>
                                        </p:tav>
                                        <p:tav tm="100000">
                                          <p:val>
                                            <p:strVal val="#ppt_w"/>
                                          </p:val>
                                        </p:tav>
                                      </p:tavLst>
                                    </p:anim>
                                    <p:anim calcmode="lin" valueType="num">
                                      <p:cBhvr>
                                        <p:cTn id="50" dur="500" fill="hold"/>
                                        <p:tgtEl>
                                          <p:spTgt spid="16">
                                            <p:txEl>
                                              <p:pRg st="0" end="0"/>
                                            </p:txEl>
                                          </p:spTgt>
                                        </p:tgtEl>
                                        <p:attrNameLst>
                                          <p:attrName>ppt_h</p:attrName>
                                        </p:attrNameLst>
                                      </p:cBhvr>
                                      <p:tavLst>
                                        <p:tav tm="0">
                                          <p:val>
                                            <p:fltVal val="0"/>
                                          </p:val>
                                        </p:tav>
                                        <p:tav tm="100000">
                                          <p:val>
                                            <p:strVal val="#ppt_h"/>
                                          </p:val>
                                        </p:tav>
                                      </p:tavLst>
                                    </p:anim>
                                    <p:animEffect transition="in" filter="fade">
                                      <p:cBhvr>
                                        <p:cTn id="51" dur="5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56642" y="663178"/>
            <a:ext cx="5404842" cy="675680"/>
          </a:xfrm>
          <a:prstGeom prst="rect">
            <a:avLst/>
          </a:prstGeom>
          <a:noFill/>
          <a:ln/>
        </p:spPr>
        <p:txBody>
          <a:bodyPr wrap="none" lIns="0" tIns="0" rIns="0" bIns="0" rtlCol="0" anchor="t"/>
          <a:lstStyle/>
          <a:p>
            <a:pPr marL="0" indent="0" algn="l">
              <a:lnSpc>
                <a:spcPts val="5300"/>
              </a:lnSpc>
              <a:buNone/>
            </a:pPr>
            <a:r>
              <a:rPr lang="en-US" sz="4250" b="1" dirty="0">
                <a:solidFill>
                  <a:srgbClr val="000000"/>
                </a:solidFill>
                <a:latin typeface="Inter Bold" pitchFamily="34" charset="0"/>
                <a:ea typeface="Inter Bold" pitchFamily="34" charset="-122"/>
                <a:cs typeface="Inter Bold" pitchFamily="34" charset="-120"/>
              </a:rPr>
              <a:t>Experience BRIDGE</a:t>
            </a:r>
            <a:endParaRPr lang="en-US" sz="4250" dirty="0"/>
          </a:p>
        </p:txBody>
      </p:sp>
      <p:sp>
        <p:nvSpPr>
          <p:cNvPr id="3" name="Text 1"/>
          <p:cNvSpPr/>
          <p:nvPr/>
        </p:nvSpPr>
        <p:spPr>
          <a:xfrm>
            <a:off x="756642" y="1421249"/>
            <a:ext cx="6275070" cy="405408"/>
          </a:xfrm>
          <a:prstGeom prst="rect">
            <a:avLst/>
          </a:prstGeom>
          <a:noFill/>
          <a:ln/>
        </p:spPr>
        <p:txBody>
          <a:bodyPr wrap="none" lIns="0" tIns="0" rIns="0" bIns="0" rtlCol="0" anchor="t"/>
          <a:lstStyle/>
          <a:p>
            <a:pPr marL="0" indent="0" algn="l">
              <a:lnSpc>
                <a:spcPts val="3150"/>
              </a:lnSpc>
              <a:buNone/>
            </a:pPr>
            <a:r>
              <a:rPr lang="en-US" sz="2550" b="1" dirty="0">
                <a:solidFill>
                  <a:srgbClr val="000000"/>
                </a:solidFill>
                <a:latin typeface="Inter Bold" pitchFamily="34" charset="0"/>
                <a:ea typeface="Inter Bold" pitchFamily="34" charset="-122"/>
                <a:cs typeface="Inter Bold" pitchFamily="34" charset="-120"/>
              </a:rPr>
              <a:t>See the Interprofessional team in action</a:t>
            </a:r>
            <a:endParaRPr lang="en-US" sz="2550" dirty="0"/>
          </a:p>
        </p:txBody>
      </p:sp>
      <p:sp>
        <p:nvSpPr>
          <p:cNvPr id="4" name="Shape 2"/>
          <p:cNvSpPr/>
          <p:nvPr/>
        </p:nvSpPr>
        <p:spPr>
          <a:xfrm>
            <a:off x="756642" y="2189678"/>
            <a:ext cx="13117116" cy="16193"/>
          </a:xfrm>
          <a:prstGeom prst="rect">
            <a:avLst/>
          </a:prstGeom>
          <a:solidFill>
            <a:srgbClr val="272525">
              <a:alpha val="50000"/>
            </a:srgbClr>
          </a:solidFill>
          <a:ln/>
        </p:spPr>
        <p:txBody>
          <a:bodyPr/>
          <a:lstStyle/>
          <a:p>
            <a:endParaRPr lang="en-US"/>
          </a:p>
        </p:txBody>
      </p:sp>
      <p:sp>
        <p:nvSpPr>
          <p:cNvPr id="5" name="Text 3"/>
          <p:cNvSpPr/>
          <p:nvPr/>
        </p:nvSpPr>
        <p:spPr>
          <a:xfrm>
            <a:off x="756642" y="2491621"/>
            <a:ext cx="13117116" cy="675561"/>
          </a:xfrm>
          <a:prstGeom prst="rect">
            <a:avLst/>
          </a:prstGeom>
          <a:noFill/>
          <a:ln/>
        </p:spPr>
        <p:txBody>
          <a:bodyPr wrap="square" lIns="0" tIns="0" rIns="0" bIns="0" rtlCol="0" anchor="t"/>
          <a:lstStyle/>
          <a:p>
            <a:pPr marL="0" indent="0" algn="l">
              <a:lnSpc>
                <a:spcPts val="2650"/>
              </a:lnSpc>
              <a:buNone/>
            </a:pPr>
            <a:r>
              <a:rPr lang="en-US" sz="1700" dirty="0">
                <a:solidFill>
                  <a:srgbClr val="272525"/>
                </a:solidFill>
                <a:latin typeface="Inter" pitchFamily="34" charset="0"/>
                <a:ea typeface="Inter" pitchFamily="34" charset="-122"/>
                <a:cs typeface="Inter" pitchFamily="34" charset="-120"/>
              </a:rPr>
              <a:t>BRIDGE is live and ready to use. Ask a clinical question and watch six healthcare professionals respond from their unique perspectives: all grounded in real evidence, all personalized to your experience level.</a:t>
            </a:r>
            <a:endParaRPr lang="en-US" sz="1700" dirty="0"/>
          </a:p>
        </p:txBody>
      </p:sp>
      <p:sp>
        <p:nvSpPr>
          <p:cNvPr id="6" name="Shape 4"/>
          <p:cNvSpPr/>
          <p:nvPr/>
        </p:nvSpPr>
        <p:spPr>
          <a:xfrm>
            <a:off x="756642" y="3452932"/>
            <a:ext cx="13117116" cy="16193"/>
          </a:xfrm>
          <a:prstGeom prst="rect">
            <a:avLst/>
          </a:prstGeom>
          <a:solidFill>
            <a:srgbClr val="272525">
              <a:alpha val="50000"/>
            </a:srgbClr>
          </a:solidFill>
          <a:ln/>
        </p:spPr>
        <p:txBody>
          <a:bodyPr/>
          <a:lstStyle/>
          <a:p>
            <a:endParaRPr lang="en-US"/>
          </a:p>
        </p:txBody>
      </p:sp>
      <p:sp>
        <p:nvSpPr>
          <p:cNvPr id="7" name="Text 5"/>
          <p:cNvSpPr/>
          <p:nvPr/>
        </p:nvSpPr>
        <p:spPr>
          <a:xfrm>
            <a:off x="756642" y="3754874"/>
            <a:ext cx="13117116" cy="337780"/>
          </a:xfrm>
          <a:prstGeom prst="rect">
            <a:avLst/>
          </a:prstGeom>
          <a:noFill/>
          <a:ln/>
        </p:spPr>
        <p:txBody>
          <a:bodyPr wrap="none" lIns="0" tIns="0" rIns="0" bIns="0" rtlCol="0" anchor="t"/>
          <a:lstStyle/>
          <a:p>
            <a:pPr marL="0" indent="0" algn="ctr">
              <a:lnSpc>
                <a:spcPts val="2650"/>
              </a:lnSpc>
              <a:buNone/>
            </a:pPr>
            <a:r>
              <a:rPr lang="en-US" sz="1700" dirty="0">
                <a:solidFill>
                  <a:srgbClr val="272525"/>
                </a:solidFill>
                <a:latin typeface="Inter" pitchFamily="34" charset="0"/>
                <a:ea typeface="Inter" pitchFamily="34" charset="-122"/>
                <a:cs typeface="Inter" pitchFamily="34" charset="-120"/>
              </a:rPr>
              <a:t>Visit the live demo:</a:t>
            </a:r>
            <a:endParaRPr lang="en-US" sz="1700" dirty="0"/>
          </a:p>
        </p:txBody>
      </p:sp>
      <p:sp>
        <p:nvSpPr>
          <p:cNvPr id="8" name="Text 6"/>
          <p:cNvSpPr/>
          <p:nvPr/>
        </p:nvSpPr>
        <p:spPr>
          <a:xfrm>
            <a:off x="2145863" y="4401741"/>
            <a:ext cx="10338673" cy="932378"/>
          </a:xfrm>
          <a:prstGeom prst="rect">
            <a:avLst/>
          </a:prstGeom>
          <a:noFill/>
          <a:ln/>
        </p:spPr>
        <p:txBody>
          <a:bodyPr wrap="none" lIns="0" tIns="0" rIns="0" bIns="0" rtlCol="0" anchor="t"/>
          <a:lstStyle/>
          <a:p>
            <a:pPr marL="0" indent="0" algn="ctr">
              <a:lnSpc>
                <a:spcPts val="7300"/>
              </a:lnSpc>
              <a:buNone/>
            </a:pPr>
            <a:r>
              <a:rPr lang="en-US" sz="5850" b="1" dirty="0">
                <a:solidFill>
                  <a:srgbClr val="000000"/>
                </a:solidFill>
                <a:latin typeface="Inter Bold" pitchFamily="34" charset="0"/>
                <a:ea typeface="Inter Bold" pitchFamily="34" charset="-122"/>
                <a:cs typeface="Inter Bold" pitchFamily="34" charset="-120"/>
                <a:hlinkClick r:id="rId3"/>
              </a:rPr>
              <a:t>http://35.169.252.108:8080/</a:t>
            </a:r>
            <a:endParaRPr lang="en-US" sz="5850" dirty="0"/>
          </a:p>
        </p:txBody>
      </p:sp>
      <p:sp>
        <p:nvSpPr>
          <p:cNvPr id="9" name="Shape 7"/>
          <p:cNvSpPr/>
          <p:nvPr/>
        </p:nvSpPr>
        <p:spPr>
          <a:xfrm>
            <a:off x="756642" y="5697141"/>
            <a:ext cx="13117116" cy="16193"/>
          </a:xfrm>
          <a:prstGeom prst="rect">
            <a:avLst/>
          </a:prstGeom>
          <a:solidFill>
            <a:srgbClr val="272525">
              <a:alpha val="50000"/>
            </a:srgbClr>
          </a:solidFill>
          <a:ln/>
        </p:spPr>
        <p:txBody>
          <a:bodyPr/>
          <a:lstStyle/>
          <a:p>
            <a:endParaRPr lang="en-US"/>
          </a:p>
        </p:txBody>
      </p:sp>
      <p:sp>
        <p:nvSpPr>
          <p:cNvPr id="10" name="Text 8"/>
          <p:cNvSpPr/>
          <p:nvPr/>
        </p:nvSpPr>
        <p:spPr>
          <a:xfrm>
            <a:off x="756642" y="5999083"/>
            <a:ext cx="13117116" cy="1567220"/>
          </a:xfrm>
          <a:prstGeom prst="rect">
            <a:avLst/>
          </a:prstGeom>
          <a:noFill/>
          <a:ln/>
        </p:spPr>
        <p:txBody>
          <a:bodyPr wrap="square" lIns="0" tIns="0" rIns="0" bIns="0" rtlCol="0" anchor="t"/>
          <a:lstStyle/>
          <a:p>
            <a:pPr marL="342900" indent="-342900" algn="l">
              <a:lnSpc>
                <a:spcPts val="2650"/>
              </a:lnSpc>
              <a:buSzPct val="100000"/>
              <a:buChar char="•"/>
            </a:pPr>
            <a:r>
              <a:rPr lang="en-US" sz="1700" dirty="0">
                <a:solidFill>
                  <a:srgbClr val="272525"/>
                </a:solidFill>
                <a:latin typeface="Inter" pitchFamily="34" charset="0"/>
                <a:ea typeface="Inter" pitchFamily="34" charset="-122"/>
                <a:cs typeface="Inter" pitchFamily="34" charset="-120"/>
              </a:rPr>
              <a:t>Ask any clinical question</a:t>
            </a:r>
            <a:endParaRPr lang="en-US" sz="1700" dirty="0"/>
          </a:p>
          <a:p>
            <a:pPr marL="342900" indent="-342900" algn="l">
              <a:lnSpc>
                <a:spcPts val="2650"/>
              </a:lnSpc>
              <a:buSzPct val="100000"/>
              <a:buChar char="•"/>
            </a:pPr>
            <a:r>
              <a:rPr lang="en-US" sz="1700" dirty="0">
                <a:solidFill>
                  <a:srgbClr val="272525"/>
                </a:solidFill>
                <a:latin typeface="Inter" pitchFamily="34" charset="0"/>
                <a:ea typeface="Inter" pitchFamily="34" charset="-122"/>
                <a:cs typeface="Inter" pitchFamily="34" charset="-120"/>
              </a:rPr>
              <a:t>See how different professionals approach the same case</a:t>
            </a:r>
            <a:endParaRPr lang="en-US" sz="1700" dirty="0"/>
          </a:p>
          <a:p>
            <a:pPr marL="342900" indent="-342900" algn="l">
              <a:lnSpc>
                <a:spcPts val="2650"/>
              </a:lnSpc>
              <a:buSzPct val="100000"/>
              <a:buChar char="•"/>
            </a:pPr>
            <a:r>
              <a:rPr lang="en-US" sz="1700" dirty="0">
                <a:solidFill>
                  <a:srgbClr val="272525"/>
                </a:solidFill>
                <a:latin typeface="Inter" pitchFamily="34" charset="0"/>
                <a:ea typeface="Inter" pitchFamily="34" charset="-122"/>
                <a:cs typeface="Inter" pitchFamily="34" charset="-120"/>
              </a:rPr>
              <a:t>Experience personalized explanations based on your role</a:t>
            </a:r>
            <a:endParaRPr lang="en-US" sz="1700" dirty="0"/>
          </a:p>
        </p:txBody>
      </p:sp>
      <p:sp>
        <p:nvSpPr>
          <p:cNvPr id="11" name="Rectangle 10">
            <a:extLst>
              <a:ext uri="{FF2B5EF4-FFF2-40B4-BE49-F238E27FC236}">
                <a16:creationId xmlns:a16="http://schemas.microsoft.com/office/drawing/2014/main" id="{6E275F84-86EA-9BEB-14B3-610BE72966BB}"/>
              </a:ext>
            </a:extLst>
          </p:cNvPr>
          <p:cNvSpPr/>
          <p:nvPr/>
        </p:nvSpPr>
        <p:spPr>
          <a:xfrm>
            <a:off x="12738970" y="7566303"/>
            <a:ext cx="1803748" cy="575615"/>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904286"/>
            <a:ext cx="4536519"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Status Chart</a:t>
            </a:r>
            <a:endParaRPr lang="en-US" sz="3550" dirty="0"/>
          </a:p>
        </p:txBody>
      </p:sp>
      <p:pic>
        <p:nvPicPr>
          <p:cNvPr id="3" name="Image 0" descr="preencoded.png"/>
          <p:cNvPicPr>
            <a:picLocks noChangeAspect="1"/>
          </p:cNvPicPr>
          <p:nvPr/>
        </p:nvPicPr>
        <p:blipFill>
          <a:blip r:embed="rId3"/>
          <a:stretch>
            <a:fillRect/>
          </a:stretch>
        </p:blipFill>
        <p:spPr>
          <a:xfrm>
            <a:off x="793790" y="2726412"/>
            <a:ext cx="6788468" cy="3570565"/>
          </a:xfrm>
          <a:prstGeom prst="rect">
            <a:avLst/>
          </a:prstGeom>
        </p:spPr>
      </p:pic>
      <p:sp>
        <p:nvSpPr>
          <p:cNvPr id="4" name="Text 1"/>
          <p:cNvSpPr/>
          <p:nvPr/>
        </p:nvSpPr>
        <p:spPr>
          <a:xfrm>
            <a:off x="8143280" y="1904286"/>
            <a:ext cx="4536519"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Contributions Chart</a:t>
            </a:r>
            <a:endParaRPr lang="en-US" sz="3550" dirty="0"/>
          </a:p>
        </p:txBody>
      </p:sp>
      <p:pic>
        <p:nvPicPr>
          <p:cNvPr id="5" name="Image 1" descr="preencoded.png"/>
          <p:cNvPicPr>
            <a:picLocks noChangeAspect="1"/>
          </p:cNvPicPr>
          <p:nvPr/>
        </p:nvPicPr>
        <p:blipFill>
          <a:blip r:embed="rId4"/>
          <a:stretch>
            <a:fillRect/>
          </a:stretch>
        </p:blipFill>
        <p:spPr>
          <a:xfrm>
            <a:off x="8150900" y="2913221"/>
            <a:ext cx="5685592" cy="3402330"/>
          </a:xfrm>
          <a:prstGeom prst="rect">
            <a:avLst/>
          </a:prstGeom>
        </p:spPr>
      </p:pic>
      <p:sp>
        <p:nvSpPr>
          <p:cNvPr id="6" name="Rectangle 5">
            <a:extLst>
              <a:ext uri="{FF2B5EF4-FFF2-40B4-BE49-F238E27FC236}">
                <a16:creationId xmlns:a16="http://schemas.microsoft.com/office/drawing/2014/main" id="{AAB2213F-BB4B-5BA0-FC52-4CCF24DAF22E}"/>
              </a:ext>
            </a:extLst>
          </p:cNvPr>
          <p:cNvSpPr/>
          <p:nvPr/>
        </p:nvSpPr>
        <p:spPr>
          <a:xfrm>
            <a:off x="12814126" y="7503090"/>
            <a:ext cx="1816274" cy="72651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2008227"/>
            <a:ext cx="13042821" cy="2126456"/>
          </a:xfrm>
          <a:prstGeom prst="rect">
            <a:avLst/>
          </a:prstGeom>
          <a:noFill/>
          <a:ln/>
        </p:spPr>
        <p:txBody>
          <a:bodyPr wrap="none" lIns="0" tIns="0" rIns="0" bIns="0" rtlCol="0" anchor="t"/>
          <a:lstStyle/>
          <a:p>
            <a:pPr marL="0" indent="0" algn="ctr">
              <a:lnSpc>
                <a:spcPts val="16700"/>
              </a:lnSpc>
              <a:buNone/>
            </a:pPr>
            <a:r>
              <a:rPr lang="en-US" sz="13350" b="1" dirty="0">
                <a:solidFill>
                  <a:srgbClr val="000000"/>
                </a:solidFill>
                <a:latin typeface="Inter Bold" pitchFamily="34" charset="0"/>
                <a:ea typeface="Inter Bold" pitchFamily="34" charset="-122"/>
                <a:cs typeface="Inter Bold" pitchFamily="34" charset="-120"/>
              </a:rPr>
              <a:t>Thank You!</a:t>
            </a:r>
            <a:endParaRPr lang="en-US" sz="13350" dirty="0"/>
          </a:p>
        </p:txBody>
      </p:sp>
      <p:sp>
        <p:nvSpPr>
          <p:cNvPr id="3" name="Text 1"/>
          <p:cNvSpPr/>
          <p:nvPr/>
        </p:nvSpPr>
        <p:spPr>
          <a:xfrm>
            <a:off x="5027652" y="4474845"/>
            <a:ext cx="4575096" cy="425291"/>
          </a:xfrm>
          <a:prstGeom prst="rect">
            <a:avLst/>
          </a:prstGeom>
          <a:noFill/>
          <a:ln/>
        </p:spPr>
        <p:txBody>
          <a:bodyPr wrap="none" lIns="0" tIns="0" rIns="0" bIns="0" rtlCol="0" anchor="t"/>
          <a:lstStyle/>
          <a:p>
            <a:pPr marL="0" indent="0" algn="ctr">
              <a:lnSpc>
                <a:spcPts val="3300"/>
              </a:lnSpc>
              <a:buNone/>
            </a:pPr>
            <a:r>
              <a:rPr lang="en-US" sz="2650" b="1" dirty="0">
                <a:solidFill>
                  <a:srgbClr val="000000"/>
                </a:solidFill>
                <a:latin typeface="Inter Bold" pitchFamily="34" charset="0"/>
                <a:ea typeface="Inter Bold" pitchFamily="34" charset="-122"/>
                <a:cs typeface="Inter Bold" pitchFamily="34" charset="-120"/>
              </a:rPr>
              <a:t>For your time and attention.</a:t>
            </a:r>
            <a:endParaRPr lang="en-US" sz="2650" dirty="0"/>
          </a:p>
        </p:txBody>
      </p:sp>
      <p:sp>
        <p:nvSpPr>
          <p:cNvPr id="4" name="Text 2"/>
          <p:cNvSpPr/>
          <p:nvPr/>
        </p:nvSpPr>
        <p:spPr>
          <a:xfrm>
            <a:off x="793790" y="5240298"/>
            <a:ext cx="13042821" cy="362903"/>
          </a:xfrm>
          <a:prstGeom prst="rect">
            <a:avLst/>
          </a:prstGeom>
          <a:noFill/>
          <a:ln/>
        </p:spPr>
        <p:txBody>
          <a:bodyPr wrap="none" lIns="0" tIns="0" rIns="0" bIns="0" rtlCol="0" anchor="t"/>
          <a:lstStyle/>
          <a:p>
            <a:pPr marL="0" indent="0" algn="ctr">
              <a:lnSpc>
                <a:spcPts val="2850"/>
              </a:lnSpc>
              <a:buNone/>
            </a:pPr>
            <a:r>
              <a:rPr lang="en-US" sz="1750" dirty="0">
                <a:solidFill>
                  <a:srgbClr val="272525"/>
                </a:solidFill>
                <a:latin typeface="Inter" pitchFamily="34" charset="0"/>
                <a:ea typeface="Inter" pitchFamily="34" charset="-122"/>
                <a:cs typeface="Inter" pitchFamily="34" charset="-120"/>
              </a:rPr>
              <a:t>We are excited about the future of interprofessional education with BRIDGE.</a:t>
            </a:r>
            <a:endParaRPr lang="en-US" sz="1750" dirty="0"/>
          </a:p>
        </p:txBody>
      </p:sp>
      <p:sp>
        <p:nvSpPr>
          <p:cNvPr id="5" name="Text 3"/>
          <p:cNvSpPr/>
          <p:nvPr/>
        </p:nvSpPr>
        <p:spPr>
          <a:xfrm>
            <a:off x="793790" y="5858351"/>
            <a:ext cx="13042821" cy="362903"/>
          </a:xfrm>
          <a:prstGeom prst="rect">
            <a:avLst/>
          </a:prstGeom>
          <a:noFill/>
          <a:ln/>
        </p:spPr>
        <p:txBody>
          <a:bodyPr wrap="none" lIns="0" tIns="0" rIns="0" bIns="0" rtlCol="0" anchor="t"/>
          <a:lstStyle/>
          <a:p>
            <a:pPr marL="0" indent="0" algn="ctr">
              <a:lnSpc>
                <a:spcPts val="2850"/>
              </a:lnSpc>
              <a:buNone/>
            </a:pPr>
            <a:r>
              <a:rPr lang="en-US" sz="1750" dirty="0">
                <a:solidFill>
                  <a:srgbClr val="272525"/>
                </a:solidFill>
                <a:latin typeface="Inter" pitchFamily="34" charset="0"/>
                <a:ea typeface="Inter" pitchFamily="34" charset="-122"/>
                <a:cs typeface="Inter" pitchFamily="34" charset="-120"/>
              </a:rPr>
              <a:t>Feel free to reach out with any questions.</a:t>
            </a:r>
            <a:endParaRPr lang="en-US" sz="1750" dirty="0"/>
          </a:p>
        </p:txBody>
      </p:sp>
      <p:sp>
        <p:nvSpPr>
          <p:cNvPr id="6" name="Rectangle 5">
            <a:extLst>
              <a:ext uri="{FF2B5EF4-FFF2-40B4-BE49-F238E27FC236}">
                <a16:creationId xmlns:a16="http://schemas.microsoft.com/office/drawing/2014/main" id="{ABFB977D-00F3-5308-ADB9-D78467E7BF4B}"/>
              </a:ext>
            </a:extLst>
          </p:cNvPr>
          <p:cNvSpPr/>
          <p:nvPr/>
        </p:nvSpPr>
        <p:spPr>
          <a:xfrm>
            <a:off x="12764022" y="7628351"/>
            <a:ext cx="1766170" cy="60124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258</TotalTime>
  <Words>1411</Words>
  <Application>Microsoft Macintosh PowerPoint</Application>
  <PresentationFormat>Custom</PresentationFormat>
  <Paragraphs>150</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Helvetica Neue</vt:lpstr>
      <vt:lpstr>Inter Light</vt:lpstr>
      <vt:lpstr>Inter</vt:lpstr>
      <vt:lpstr>Arial</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HARI PRASANNAA T R</cp:lastModifiedBy>
  <cp:revision>8</cp:revision>
  <dcterms:created xsi:type="dcterms:W3CDTF">2026-04-21T19:19:51Z</dcterms:created>
  <dcterms:modified xsi:type="dcterms:W3CDTF">2026-04-28T20:37:29Z</dcterms:modified>
</cp:coreProperties>
</file>